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73574"/>
  </p:normalViewPr>
  <p:slideViewPr>
    <p:cSldViewPr snapToGrid="0" snapToObjects="1">
      <p:cViewPr varScale="1">
        <p:scale>
          <a:sx n="90" d="100"/>
          <a:sy n="90" d="100"/>
        </p:scale>
        <p:origin x="1560" y="192"/>
      </p:cViewPr>
      <p:guideLst>
        <p:guide orient="horz" pos="2160"/>
        <p:guide pos="2880"/>
      </p:guideLst>
    </p:cSldViewPr>
  </p:slideViewPr>
  <p:notesTextViewPr>
    <p:cViewPr>
      <p:scale>
        <a:sx n="85" d="100"/>
        <a:sy n="8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6680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Bonjour à </a:t>
            </a:r>
            <a:r>
              <a:rPr dirty="0" err="1"/>
              <a:t>toutes</a:t>
            </a:r>
            <a:r>
              <a:rPr dirty="0"/>
              <a:t> et à </a:t>
            </a:r>
            <a:r>
              <a:rPr dirty="0" err="1"/>
              <a:t>tous</a:t>
            </a:r>
            <a:r>
              <a:rPr dirty="0"/>
              <a:t>, merci d'être </a:t>
            </a:r>
            <a:r>
              <a:rPr dirty="0" err="1"/>
              <a:t>présents</a:t>
            </a:r>
            <a:r>
              <a:rPr dirty="0"/>
              <a:t>.</a:t>
            </a:r>
          </a:p>
          <a:p>
            <a:endParaRPr dirty="0"/>
          </a:p>
          <a:p>
            <a:r>
              <a:rPr dirty="0" err="1"/>
              <a:t>Aujourd'hui</a:t>
            </a:r>
            <a:r>
              <a:rPr dirty="0"/>
              <a:t>, je </a:t>
            </a:r>
            <a:r>
              <a:rPr dirty="0" err="1"/>
              <a:t>vais</a:t>
            </a:r>
            <a:r>
              <a:rPr dirty="0"/>
              <a:t> vous </a:t>
            </a:r>
            <a:r>
              <a:rPr dirty="0" err="1"/>
              <a:t>présenter</a:t>
            </a:r>
            <a:r>
              <a:rPr dirty="0"/>
              <a:t> CHAPCHAP, </a:t>
            </a:r>
            <a:r>
              <a:rPr dirty="0" err="1"/>
              <a:t>l'application</a:t>
            </a:r>
            <a:r>
              <a:rPr dirty="0"/>
              <a:t> de gestion </a:t>
            </a:r>
            <a:r>
              <a:rPr dirty="0" err="1"/>
              <a:t>intégrée</a:t>
            </a:r>
            <a:r>
              <a:rPr dirty="0"/>
              <a:t> </a:t>
            </a:r>
            <a:r>
              <a:rPr dirty="0" err="1"/>
              <a:t>que</a:t>
            </a:r>
            <a:r>
              <a:rPr dirty="0"/>
              <a:t> </a:t>
            </a:r>
            <a:r>
              <a:rPr dirty="0" err="1"/>
              <a:t>j'ai</a:t>
            </a:r>
            <a:r>
              <a:rPr dirty="0"/>
              <a:t> </a:t>
            </a:r>
            <a:r>
              <a:rPr dirty="0" err="1"/>
              <a:t>conçue</a:t>
            </a:r>
            <a:r>
              <a:rPr dirty="0"/>
              <a:t> et </a:t>
            </a:r>
            <a:r>
              <a:rPr dirty="0" err="1"/>
              <a:t>développée</a:t>
            </a:r>
            <a:r>
              <a:rPr dirty="0"/>
              <a:t> </a:t>
            </a:r>
            <a:r>
              <a:rPr lang="fr-FR" dirty="0"/>
              <a:t>afin d'</a:t>
            </a:r>
            <a:r>
              <a:rPr lang="fr-FR" dirty="0" err="1"/>
              <a:t>ameliorer</a:t>
            </a:r>
            <a:r>
              <a:rPr lang="fr-FR" dirty="0"/>
              <a:t> et de booster </a:t>
            </a:r>
            <a:r>
              <a:rPr dirty="0" err="1"/>
              <a:t>activité</a:t>
            </a:r>
            <a:r>
              <a:rPr dirty="0"/>
              <a:t>.</a:t>
            </a:r>
          </a:p>
          <a:p>
            <a:endParaRPr dirty="0"/>
          </a:p>
          <a:p>
            <a:r>
              <a:rPr dirty="0"/>
              <a:t>CHAPCHAP, </a:t>
            </a:r>
            <a:r>
              <a:rPr dirty="0" err="1"/>
              <a:t>c'est</a:t>
            </a:r>
            <a:r>
              <a:rPr dirty="0"/>
              <a:t> un </a:t>
            </a:r>
            <a:r>
              <a:rPr dirty="0" err="1"/>
              <a:t>outil</a:t>
            </a:r>
            <a:r>
              <a:rPr dirty="0"/>
              <a:t> sur </a:t>
            </a:r>
            <a:r>
              <a:rPr dirty="0" err="1"/>
              <a:t>mesure</a:t>
            </a:r>
            <a:r>
              <a:rPr dirty="0"/>
              <a:t>, </a:t>
            </a:r>
            <a:r>
              <a:rPr dirty="0" err="1"/>
              <a:t>pensé</a:t>
            </a:r>
            <a:r>
              <a:rPr dirty="0"/>
              <a:t> </a:t>
            </a:r>
            <a:r>
              <a:rPr dirty="0" err="1"/>
              <a:t>spécifiquement</a:t>
            </a:r>
            <a:r>
              <a:rPr dirty="0"/>
              <a:t> pour</a:t>
            </a:r>
            <a:r>
              <a:rPr lang="fr-FR" dirty="0"/>
              <a:t> le</a:t>
            </a:r>
            <a:r>
              <a:rPr dirty="0"/>
              <a:t> métier — de la </a:t>
            </a:r>
            <a:r>
              <a:rPr dirty="0" err="1"/>
              <a:t>réception</a:t>
            </a:r>
            <a:r>
              <a:rPr dirty="0"/>
              <a:t> des </a:t>
            </a:r>
            <a:r>
              <a:rPr dirty="0" err="1"/>
              <a:t>poulets</a:t>
            </a:r>
            <a:r>
              <a:rPr dirty="0"/>
              <a:t> </a:t>
            </a:r>
            <a:r>
              <a:rPr dirty="0" err="1"/>
              <a:t>vivants</a:t>
            </a:r>
            <a:r>
              <a:rPr dirty="0"/>
              <a:t> </a:t>
            </a:r>
            <a:r>
              <a:rPr dirty="0" err="1"/>
              <a:t>jusqu'à</a:t>
            </a:r>
            <a:r>
              <a:rPr dirty="0"/>
              <a:t> </a:t>
            </a:r>
            <a:r>
              <a:rPr dirty="0" err="1"/>
              <a:t>l'encaissement</a:t>
            </a:r>
            <a:r>
              <a:rPr dirty="0"/>
              <a:t> </a:t>
            </a:r>
            <a:r>
              <a:rPr lang="fr-FR" dirty="0"/>
              <a:t>des fonds</a:t>
            </a:r>
            <a:r>
              <a:rPr dirty="0"/>
              <a:t> — et qui </a:t>
            </a:r>
            <a:r>
              <a:rPr dirty="0" err="1"/>
              <a:t>va</a:t>
            </a:r>
            <a:r>
              <a:rPr dirty="0"/>
              <a:t> transformer </a:t>
            </a:r>
            <a:r>
              <a:rPr lang="fr-FR" dirty="0"/>
              <a:t>la </a:t>
            </a:r>
            <a:r>
              <a:rPr dirty="0"/>
              <a:t>façon de </a:t>
            </a:r>
            <a:r>
              <a:rPr dirty="0" err="1"/>
              <a:t>travailler</a:t>
            </a:r>
            <a:r>
              <a:rPr dirty="0"/>
              <a:t> au </a:t>
            </a:r>
            <a:r>
              <a:rPr dirty="0" err="1"/>
              <a:t>quotidien</a:t>
            </a:r>
            <a:r>
              <a:rPr dirty="0"/>
              <a:t>.</a:t>
            </a:r>
          </a:p>
          <a:p>
            <a:endParaRPr dirty="0"/>
          </a:p>
          <a:p>
            <a:r>
              <a:rPr dirty="0"/>
              <a:t>Je </a:t>
            </a:r>
            <a:r>
              <a:rPr dirty="0" err="1"/>
              <a:t>vais</a:t>
            </a:r>
            <a:r>
              <a:rPr dirty="0"/>
              <a:t> vous </a:t>
            </a:r>
            <a:r>
              <a:rPr dirty="0" err="1"/>
              <a:t>montrer</a:t>
            </a:r>
            <a:r>
              <a:rPr dirty="0"/>
              <a:t> </a:t>
            </a:r>
            <a:r>
              <a:rPr dirty="0" err="1"/>
              <a:t>en</a:t>
            </a:r>
            <a:r>
              <a:rPr dirty="0"/>
              <a:t> </a:t>
            </a:r>
            <a:r>
              <a:rPr dirty="0" err="1"/>
              <a:t>détail</a:t>
            </a:r>
            <a:r>
              <a:rPr dirty="0"/>
              <a:t> </a:t>
            </a:r>
            <a:r>
              <a:rPr dirty="0" err="1"/>
              <a:t>ce</a:t>
            </a:r>
            <a:r>
              <a:rPr dirty="0"/>
              <a:t> </a:t>
            </a:r>
            <a:r>
              <a:rPr dirty="0" err="1"/>
              <a:t>que</a:t>
            </a:r>
            <a:r>
              <a:rPr dirty="0"/>
              <a:t> </a:t>
            </a:r>
            <a:r>
              <a:rPr dirty="0" err="1"/>
              <a:t>l'application</a:t>
            </a:r>
            <a:r>
              <a:rPr dirty="0"/>
              <a:t> fait, comment </a:t>
            </a:r>
            <a:r>
              <a:rPr dirty="0" err="1"/>
              <a:t>elle</a:t>
            </a:r>
            <a:r>
              <a:rPr dirty="0"/>
              <a:t> </a:t>
            </a:r>
            <a:r>
              <a:rPr dirty="0" err="1"/>
              <a:t>fonctionne</a:t>
            </a:r>
            <a:r>
              <a:rPr dirty="0"/>
              <a:t>, et </a:t>
            </a:r>
            <a:r>
              <a:rPr dirty="0" err="1"/>
              <a:t>où</a:t>
            </a:r>
            <a:r>
              <a:rPr dirty="0"/>
              <a:t> nous </a:t>
            </a:r>
            <a:r>
              <a:rPr dirty="0" err="1"/>
              <a:t>en</a:t>
            </a:r>
            <a:r>
              <a:rPr dirty="0"/>
              <a:t> </a:t>
            </a:r>
            <a:r>
              <a:rPr dirty="0" err="1"/>
              <a:t>sommes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Avant de </a:t>
            </a:r>
            <a:r>
              <a:rPr dirty="0" err="1"/>
              <a:t>montrer</a:t>
            </a:r>
            <a:r>
              <a:rPr dirty="0"/>
              <a:t> la solution, </a:t>
            </a:r>
            <a:r>
              <a:rPr dirty="0" err="1"/>
              <a:t>revenons</a:t>
            </a:r>
            <a:r>
              <a:rPr dirty="0"/>
              <a:t> sur la situation </a:t>
            </a:r>
            <a:r>
              <a:rPr dirty="0" err="1"/>
              <a:t>actuelle</a:t>
            </a:r>
            <a:r>
              <a:rPr dirty="0"/>
              <a:t>.</a:t>
            </a:r>
          </a:p>
          <a:p>
            <a:endParaRPr dirty="0"/>
          </a:p>
          <a:p>
            <a:r>
              <a:rPr dirty="0" err="1"/>
              <a:t>Aujourd'hui</a:t>
            </a:r>
            <a:r>
              <a:rPr dirty="0"/>
              <a:t>, on </a:t>
            </a:r>
            <a:r>
              <a:rPr dirty="0" err="1"/>
              <a:t>fonctionne</a:t>
            </a:r>
            <a:r>
              <a:rPr dirty="0"/>
              <a:t> avec des cahiers, des fiches </a:t>
            </a:r>
            <a:r>
              <a:rPr lang="fr-FR" dirty="0" err="1"/>
              <a:t>excel</a:t>
            </a:r>
            <a:r>
              <a:rPr dirty="0"/>
              <a:t>, et beaucoup de </a:t>
            </a:r>
            <a:r>
              <a:rPr dirty="0" err="1"/>
              <a:t>mémoire</a:t>
            </a:r>
            <a:r>
              <a:rPr dirty="0"/>
              <a:t> humaine. Le </a:t>
            </a:r>
            <a:r>
              <a:rPr dirty="0" err="1"/>
              <a:t>problème</a:t>
            </a:r>
            <a:r>
              <a:rPr dirty="0"/>
              <a:t>, </a:t>
            </a:r>
            <a:r>
              <a:rPr dirty="0" err="1"/>
              <a:t>c'est</a:t>
            </a:r>
            <a:r>
              <a:rPr dirty="0"/>
              <a:t> </a:t>
            </a:r>
            <a:r>
              <a:rPr dirty="0" err="1"/>
              <a:t>que</a:t>
            </a:r>
            <a:r>
              <a:rPr dirty="0"/>
              <a:t> </a:t>
            </a:r>
            <a:r>
              <a:rPr dirty="0" err="1"/>
              <a:t>ça</a:t>
            </a:r>
            <a:r>
              <a:rPr dirty="0"/>
              <a:t> ne nous </a:t>
            </a:r>
            <a:r>
              <a:rPr dirty="0" err="1"/>
              <a:t>donne</a:t>
            </a:r>
            <a:r>
              <a:rPr dirty="0"/>
              <a:t> </a:t>
            </a:r>
            <a:r>
              <a:rPr dirty="0" err="1"/>
              <a:t>aucune</a:t>
            </a:r>
            <a:r>
              <a:rPr dirty="0"/>
              <a:t> </a:t>
            </a:r>
            <a:r>
              <a:rPr dirty="0" err="1"/>
              <a:t>visibilité</a:t>
            </a:r>
            <a:r>
              <a:rPr dirty="0"/>
              <a:t> </a:t>
            </a:r>
            <a:r>
              <a:rPr dirty="0" err="1"/>
              <a:t>en</a:t>
            </a:r>
            <a:r>
              <a:rPr dirty="0"/>
              <a:t> temps </a:t>
            </a:r>
            <a:r>
              <a:rPr dirty="0" err="1"/>
              <a:t>réel</a:t>
            </a:r>
            <a:r>
              <a:rPr dirty="0"/>
              <a:t>. On ne </a:t>
            </a:r>
            <a:r>
              <a:rPr dirty="0" err="1"/>
              <a:t>sait</a:t>
            </a:r>
            <a:r>
              <a:rPr dirty="0"/>
              <a:t> pas </a:t>
            </a:r>
            <a:r>
              <a:rPr dirty="0" err="1"/>
              <a:t>exactement</a:t>
            </a:r>
            <a:r>
              <a:rPr dirty="0"/>
              <a:t> </a:t>
            </a:r>
            <a:r>
              <a:rPr dirty="0" err="1"/>
              <a:t>ce</a:t>
            </a:r>
            <a:r>
              <a:rPr dirty="0"/>
              <a:t> </a:t>
            </a:r>
            <a:r>
              <a:rPr dirty="0" err="1"/>
              <a:t>qu'on</a:t>
            </a:r>
            <a:r>
              <a:rPr dirty="0"/>
              <a:t> a </a:t>
            </a:r>
            <a:r>
              <a:rPr dirty="0" err="1"/>
              <a:t>en</a:t>
            </a:r>
            <a:r>
              <a:rPr dirty="0"/>
              <a:t> stock, on </a:t>
            </a:r>
            <a:r>
              <a:rPr dirty="0" err="1"/>
              <a:t>perd</a:t>
            </a:r>
            <a:r>
              <a:rPr dirty="0"/>
              <a:t> le fil des </a:t>
            </a:r>
            <a:r>
              <a:rPr dirty="0" err="1"/>
              <a:t>impayés</a:t>
            </a:r>
            <a:r>
              <a:rPr dirty="0"/>
              <a:t>, et </a:t>
            </a:r>
            <a:r>
              <a:rPr dirty="0" err="1"/>
              <a:t>quand</a:t>
            </a:r>
            <a:r>
              <a:rPr dirty="0"/>
              <a:t> il y a un </a:t>
            </a:r>
            <a:r>
              <a:rPr dirty="0" err="1"/>
              <a:t>écart</a:t>
            </a:r>
            <a:r>
              <a:rPr dirty="0"/>
              <a:t> de </a:t>
            </a:r>
            <a:r>
              <a:rPr dirty="0" err="1"/>
              <a:t>caisse</a:t>
            </a:r>
            <a:r>
              <a:rPr dirty="0"/>
              <a:t>, </a:t>
            </a:r>
            <a:r>
              <a:rPr dirty="0" err="1"/>
              <a:t>c'est</a:t>
            </a:r>
            <a:r>
              <a:rPr dirty="0"/>
              <a:t> difficile à tracer.</a:t>
            </a:r>
          </a:p>
          <a:p>
            <a:endParaRPr dirty="0"/>
          </a:p>
          <a:p>
            <a:r>
              <a:rPr dirty="0" err="1"/>
              <a:t>J'ai</a:t>
            </a:r>
            <a:r>
              <a:rPr dirty="0"/>
              <a:t> </a:t>
            </a:r>
            <a:r>
              <a:rPr dirty="0" err="1"/>
              <a:t>commencé</a:t>
            </a:r>
            <a:r>
              <a:rPr dirty="0"/>
              <a:t> par faire un audit </a:t>
            </a:r>
            <a:r>
              <a:rPr dirty="0" err="1"/>
              <a:t>complet</a:t>
            </a:r>
            <a:r>
              <a:rPr dirty="0"/>
              <a:t> de </a:t>
            </a:r>
            <a:r>
              <a:rPr dirty="0" err="1"/>
              <a:t>nos</a:t>
            </a:r>
            <a:r>
              <a:rPr dirty="0"/>
              <a:t> processus — </a:t>
            </a:r>
            <a:r>
              <a:rPr dirty="0" err="1"/>
              <a:t>j'ai</a:t>
            </a:r>
            <a:r>
              <a:rPr dirty="0"/>
              <a:t> passé du temps </a:t>
            </a:r>
            <a:r>
              <a:rPr lang="fr-FR" dirty="0"/>
              <a:t>a analyser les </a:t>
            </a:r>
            <a:r>
              <a:rPr dirty="0"/>
              <a:t>équipe : production, </a:t>
            </a:r>
            <a:r>
              <a:rPr dirty="0" err="1"/>
              <a:t>commerciaux</a:t>
            </a:r>
            <a:r>
              <a:rPr dirty="0"/>
              <a:t>, </a:t>
            </a:r>
            <a:r>
              <a:rPr dirty="0" err="1"/>
              <a:t>caisse</a:t>
            </a:r>
            <a:r>
              <a:rPr dirty="0"/>
              <a:t>, stock — pour bien </a:t>
            </a:r>
            <a:r>
              <a:rPr dirty="0" err="1"/>
              <a:t>comprendre</a:t>
            </a:r>
            <a:r>
              <a:rPr dirty="0"/>
              <a:t> les </a:t>
            </a:r>
            <a:r>
              <a:rPr dirty="0" err="1"/>
              <a:t>besoins</a:t>
            </a:r>
            <a:r>
              <a:rPr dirty="0"/>
              <a:t> </a:t>
            </a:r>
            <a:r>
              <a:rPr dirty="0" err="1"/>
              <a:t>réels</a:t>
            </a:r>
            <a:r>
              <a:rPr dirty="0"/>
              <a:t> avant </a:t>
            </a:r>
            <a:r>
              <a:rPr dirty="0" err="1"/>
              <a:t>d'écrire</a:t>
            </a:r>
            <a:r>
              <a:rPr dirty="0"/>
              <a:t> </a:t>
            </a:r>
            <a:r>
              <a:rPr dirty="0" err="1"/>
              <a:t>une</a:t>
            </a:r>
            <a:r>
              <a:rPr dirty="0"/>
              <a:t> </a:t>
            </a:r>
            <a:r>
              <a:rPr dirty="0" err="1"/>
              <a:t>seule</a:t>
            </a:r>
            <a:r>
              <a:rPr dirty="0"/>
              <a:t> </a:t>
            </a:r>
            <a:r>
              <a:rPr dirty="0" err="1"/>
              <a:t>ligne</a:t>
            </a:r>
            <a:r>
              <a:rPr dirty="0"/>
              <a:t> de code.</a:t>
            </a:r>
          </a:p>
          <a:p>
            <a:endParaRPr dirty="0"/>
          </a:p>
          <a:p>
            <a:r>
              <a:rPr dirty="0" err="1"/>
              <a:t>L'objectif</a:t>
            </a:r>
            <a:r>
              <a:rPr dirty="0"/>
              <a:t> </a:t>
            </a:r>
            <a:r>
              <a:rPr dirty="0" err="1"/>
              <a:t>que</a:t>
            </a:r>
            <a:r>
              <a:rPr dirty="0"/>
              <a:t> </a:t>
            </a:r>
            <a:r>
              <a:rPr dirty="0" err="1"/>
              <a:t>j'ai</a:t>
            </a:r>
            <a:r>
              <a:rPr dirty="0"/>
              <a:t> </a:t>
            </a:r>
            <a:r>
              <a:rPr dirty="0" err="1"/>
              <a:t>défini</a:t>
            </a:r>
            <a:r>
              <a:rPr dirty="0"/>
              <a:t> est </a:t>
            </a:r>
            <a:r>
              <a:rPr dirty="0" err="1"/>
              <a:t>clair</a:t>
            </a:r>
            <a:r>
              <a:rPr dirty="0"/>
              <a:t> : </a:t>
            </a:r>
            <a:r>
              <a:rPr dirty="0" err="1"/>
              <a:t>une</a:t>
            </a:r>
            <a:r>
              <a:rPr dirty="0"/>
              <a:t> </a:t>
            </a:r>
            <a:r>
              <a:rPr dirty="0" err="1"/>
              <a:t>seule</a:t>
            </a:r>
            <a:r>
              <a:rPr dirty="0"/>
              <a:t> application qui </a:t>
            </a:r>
            <a:r>
              <a:rPr dirty="0" err="1"/>
              <a:t>connecte</a:t>
            </a:r>
            <a:r>
              <a:rPr dirty="0"/>
              <a:t> toute la </a:t>
            </a:r>
            <a:r>
              <a:rPr dirty="0" err="1"/>
              <a:t>chaîne</a:t>
            </a:r>
            <a:r>
              <a:rPr dirty="0"/>
              <a:t>, de </a:t>
            </a:r>
            <a:r>
              <a:rPr dirty="0" err="1"/>
              <a:t>l'achat</a:t>
            </a:r>
            <a:r>
              <a:rPr dirty="0"/>
              <a:t> du poulet vivant </a:t>
            </a:r>
            <a:r>
              <a:rPr dirty="0" err="1"/>
              <a:t>jusqu'à</a:t>
            </a:r>
            <a:r>
              <a:rPr dirty="0"/>
              <a:t> </a:t>
            </a:r>
            <a:r>
              <a:rPr dirty="0" err="1"/>
              <a:t>l'encaissement</a:t>
            </a:r>
            <a:r>
              <a:rPr dirty="0"/>
              <a:t> </a:t>
            </a:r>
            <a:r>
              <a:rPr dirty="0" err="1"/>
              <a:t>en</a:t>
            </a:r>
            <a:r>
              <a:rPr dirty="0"/>
              <a:t> </a:t>
            </a:r>
            <a:r>
              <a:rPr lang="fr-FR" dirty="0"/>
              <a:t>fonds</a:t>
            </a:r>
            <a:r>
              <a:rPr dirty="0"/>
              <a:t>. </a:t>
            </a:r>
            <a:endParaRPr lang="fr-FR" dirty="0"/>
          </a:p>
          <a:p>
            <a:r>
              <a:rPr lang="fr-CI" dirty="0"/>
              <a:t>Nous avons donc </a:t>
            </a:r>
            <a:r>
              <a:rPr dirty="0"/>
              <a:t>Plus de </a:t>
            </a:r>
            <a:r>
              <a:rPr dirty="0" err="1"/>
              <a:t>ressaisie</a:t>
            </a:r>
            <a:r>
              <a:rPr dirty="0"/>
              <a:t>, plus de </a:t>
            </a:r>
            <a:r>
              <a:rPr dirty="0" err="1"/>
              <a:t>doublons</a:t>
            </a:r>
            <a:r>
              <a:rPr dirty="0"/>
              <a:t>, plus </a:t>
            </a:r>
            <a:r>
              <a:rPr dirty="0" err="1"/>
              <a:t>d'oublis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Voici</a:t>
            </a:r>
            <a:r>
              <a:rPr dirty="0"/>
              <a:t> CHAPCHAP </a:t>
            </a:r>
            <a:r>
              <a:rPr dirty="0" err="1"/>
              <a:t>en</a:t>
            </a:r>
            <a:r>
              <a:rPr dirty="0"/>
              <a:t> </a:t>
            </a:r>
            <a:r>
              <a:rPr dirty="0" err="1"/>
              <a:t>quelques</a:t>
            </a:r>
            <a:r>
              <a:rPr dirty="0"/>
              <a:t> chiffres.</a:t>
            </a:r>
          </a:p>
          <a:p>
            <a:endParaRPr dirty="0"/>
          </a:p>
          <a:p>
            <a:r>
              <a:rPr dirty="0" err="1"/>
              <a:t>L'application</a:t>
            </a:r>
            <a:r>
              <a:rPr dirty="0"/>
              <a:t> </a:t>
            </a:r>
            <a:r>
              <a:rPr dirty="0" err="1"/>
              <a:t>comprend</a:t>
            </a:r>
            <a:r>
              <a:rPr dirty="0"/>
              <a:t> 9 modules métier </a:t>
            </a:r>
            <a:r>
              <a:rPr dirty="0" err="1"/>
              <a:t>complets</a:t>
            </a:r>
            <a:r>
              <a:rPr dirty="0"/>
              <a:t>, </a:t>
            </a:r>
            <a:r>
              <a:rPr dirty="0" err="1"/>
              <a:t>couvrant</a:t>
            </a:r>
            <a:r>
              <a:rPr dirty="0"/>
              <a:t> </a:t>
            </a:r>
            <a:r>
              <a:rPr dirty="0" err="1"/>
              <a:t>l'intégralité</a:t>
            </a:r>
            <a:r>
              <a:rPr dirty="0"/>
              <a:t> de </a:t>
            </a:r>
            <a:r>
              <a:rPr lang="fr-FR" dirty="0"/>
              <a:t>l'</a:t>
            </a:r>
            <a:r>
              <a:rPr dirty="0" err="1"/>
              <a:t>activité</a:t>
            </a:r>
            <a:r>
              <a:rPr dirty="0"/>
              <a:t>. Derrière, </a:t>
            </a:r>
            <a:r>
              <a:rPr dirty="0" err="1"/>
              <a:t>c'est</a:t>
            </a:r>
            <a:r>
              <a:rPr dirty="0"/>
              <a:t> 23 tables </a:t>
            </a:r>
            <a:r>
              <a:rPr dirty="0" err="1"/>
              <a:t>en</a:t>
            </a:r>
            <a:r>
              <a:rPr dirty="0"/>
              <a:t> base de données, </a:t>
            </a:r>
            <a:r>
              <a:rPr dirty="0" err="1"/>
              <a:t>chacune</a:t>
            </a:r>
            <a:r>
              <a:rPr dirty="0"/>
              <a:t> pensée pour </a:t>
            </a:r>
            <a:r>
              <a:rPr dirty="0" err="1"/>
              <a:t>refléter</a:t>
            </a:r>
            <a:r>
              <a:rPr dirty="0"/>
              <a:t> </a:t>
            </a:r>
            <a:r>
              <a:rPr dirty="0" err="1"/>
              <a:t>exactement</a:t>
            </a:r>
            <a:r>
              <a:rPr dirty="0"/>
              <a:t> </a:t>
            </a:r>
            <a:r>
              <a:rPr dirty="0" err="1"/>
              <a:t>notre</a:t>
            </a:r>
            <a:r>
              <a:rPr dirty="0"/>
              <a:t> façon de </a:t>
            </a:r>
            <a:r>
              <a:rPr dirty="0" err="1"/>
              <a:t>travailler</a:t>
            </a:r>
            <a:r>
              <a:rPr dirty="0"/>
              <a:t>.</a:t>
            </a:r>
          </a:p>
          <a:p>
            <a:endParaRPr dirty="0"/>
          </a:p>
          <a:p>
            <a:r>
              <a:rPr dirty="0"/>
              <a:t>Le tableau de bord affiche 10 widgets </a:t>
            </a:r>
            <a:r>
              <a:rPr dirty="0" err="1"/>
              <a:t>différents</a:t>
            </a:r>
            <a:r>
              <a:rPr dirty="0"/>
              <a:t>, </a:t>
            </a:r>
            <a:r>
              <a:rPr dirty="0" err="1"/>
              <a:t>adaptés</a:t>
            </a:r>
            <a:r>
              <a:rPr dirty="0"/>
              <a:t> à </a:t>
            </a:r>
            <a:r>
              <a:rPr dirty="0" err="1"/>
              <a:t>chaque</a:t>
            </a:r>
            <a:r>
              <a:rPr dirty="0"/>
              <a:t> </a:t>
            </a:r>
            <a:r>
              <a:rPr dirty="0" err="1"/>
              <a:t>profil</a:t>
            </a:r>
            <a:r>
              <a:rPr dirty="0"/>
              <a:t> — le </a:t>
            </a:r>
            <a:r>
              <a:rPr dirty="0" err="1"/>
              <a:t>gérant</a:t>
            </a:r>
            <a:r>
              <a:rPr dirty="0"/>
              <a:t> ne </a:t>
            </a:r>
            <a:r>
              <a:rPr dirty="0" err="1"/>
              <a:t>voit</a:t>
            </a:r>
            <a:r>
              <a:rPr dirty="0"/>
              <a:t> pas la </a:t>
            </a:r>
            <a:r>
              <a:rPr dirty="0" err="1"/>
              <a:t>même</a:t>
            </a:r>
            <a:r>
              <a:rPr dirty="0"/>
              <a:t> chose </a:t>
            </a:r>
            <a:r>
              <a:rPr dirty="0" err="1"/>
              <a:t>que</a:t>
            </a:r>
            <a:r>
              <a:rPr dirty="0"/>
              <a:t> le commercial </a:t>
            </a:r>
            <a:r>
              <a:rPr dirty="0" err="1"/>
              <a:t>ou</a:t>
            </a:r>
            <a:r>
              <a:rPr dirty="0"/>
              <a:t> </a:t>
            </a:r>
            <a:r>
              <a:rPr dirty="0" err="1"/>
              <a:t>l'agent</a:t>
            </a:r>
            <a:r>
              <a:rPr dirty="0"/>
              <a:t> de production. Chacun a les </a:t>
            </a:r>
            <a:r>
              <a:rPr dirty="0" err="1"/>
              <a:t>informations</a:t>
            </a:r>
            <a:r>
              <a:rPr dirty="0"/>
              <a:t> </a:t>
            </a:r>
            <a:r>
              <a:rPr dirty="0" err="1"/>
              <a:t>dont</a:t>
            </a:r>
            <a:r>
              <a:rPr dirty="0"/>
              <a:t> il a </a:t>
            </a:r>
            <a:r>
              <a:rPr dirty="0" err="1"/>
              <a:t>besoin</a:t>
            </a:r>
            <a:r>
              <a:rPr dirty="0"/>
              <a:t>.</a:t>
            </a:r>
          </a:p>
          <a:p>
            <a:endParaRPr dirty="0"/>
          </a:p>
          <a:p>
            <a:r>
              <a:rPr dirty="0"/>
              <a:t>Un point important : </a:t>
            </a:r>
            <a:r>
              <a:rPr dirty="0" err="1"/>
              <a:t>j'ai</a:t>
            </a:r>
            <a:r>
              <a:rPr dirty="0"/>
              <a:t> mis </a:t>
            </a:r>
            <a:r>
              <a:rPr dirty="0" err="1"/>
              <a:t>en</a:t>
            </a:r>
            <a:r>
              <a:rPr dirty="0"/>
              <a:t> place 27 tests </a:t>
            </a:r>
            <a:r>
              <a:rPr dirty="0" err="1"/>
              <a:t>automatisés</a:t>
            </a:r>
            <a:r>
              <a:rPr dirty="0"/>
              <a:t> qui </a:t>
            </a:r>
            <a:r>
              <a:rPr dirty="0" err="1"/>
              <a:t>vérifient</a:t>
            </a:r>
            <a:r>
              <a:rPr dirty="0"/>
              <a:t> </a:t>
            </a:r>
            <a:r>
              <a:rPr dirty="0" err="1"/>
              <a:t>en</a:t>
            </a:r>
            <a:r>
              <a:rPr dirty="0"/>
              <a:t> </a:t>
            </a:r>
            <a:r>
              <a:rPr dirty="0" err="1"/>
              <a:t>continu</a:t>
            </a:r>
            <a:r>
              <a:rPr dirty="0"/>
              <a:t> </a:t>
            </a:r>
            <a:r>
              <a:rPr dirty="0" err="1"/>
              <a:t>que</a:t>
            </a:r>
            <a:r>
              <a:rPr dirty="0"/>
              <a:t> les </a:t>
            </a:r>
            <a:r>
              <a:rPr dirty="0" err="1"/>
              <a:t>calculs</a:t>
            </a:r>
            <a:r>
              <a:rPr dirty="0"/>
              <a:t> critiques </a:t>
            </a:r>
            <a:r>
              <a:rPr dirty="0" err="1"/>
              <a:t>sont</a:t>
            </a:r>
            <a:r>
              <a:rPr dirty="0"/>
              <a:t> </a:t>
            </a:r>
            <a:r>
              <a:rPr dirty="0" err="1"/>
              <a:t>justes</a:t>
            </a:r>
            <a:r>
              <a:rPr dirty="0"/>
              <a:t> — le stock, les </a:t>
            </a:r>
            <a:r>
              <a:rPr dirty="0" err="1"/>
              <a:t>marges</a:t>
            </a:r>
            <a:r>
              <a:rPr dirty="0"/>
              <a:t>, les </a:t>
            </a:r>
            <a:r>
              <a:rPr dirty="0" err="1"/>
              <a:t>paiements</a:t>
            </a:r>
            <a:r>
              <a:rPr dirty="0"/>
              <a:t>. 100% de </a:t>
            </a:r>
            <a:r>
              <a:rPr dirty="0" err="1"/>
              <a:t>réussite</a:t>
            </a:r>
            <a:r>
              <a:rPr dirty="0"/>
              <a:t>. </a:t>
            </a:r>
            <a:r>
              <a:rPr dirty="0" err="1"/>
              <a:t>C'est</a:t>
            </a:r>
            <a:r>
              <a:rPr dirty="0"/>
              <a:t> </a:t>
            </a:r>
            <a:r>
              <a:rPr dirty="0" err="1"/>
              <a:t>ce</a:t>
            </a:r>
            <a:r>
              <a:rPr dirty="0"/>
              <a:t> qui </a:t>
            </a:r>
            <a:r>
              <a:rPr dirty="0" err="1"/>
              <a:t>garantit</a:t>
            </a:r>
            <a:r>
              <a:rPr dirty="0"/>
              <a:t> la </a:t>
            </a:r>
            <a:r>
              <a:rPr dirty="0" err="1"/>
              <a:t>fiabilité</a:t>
            </a:r>
            <a:r>
              <a:rPr dirty="0"/>
              <a:t> des données.</a:t>
            </a:r>
          </a:p>
          <a:p>
            <a:endParaRPr dirty="0"/>
          </a:p>
          <a:p>
            <a:r>
              <a:rPr dirty="0"/>
              <a:t>Et tout </a:t>
            </a:r>
            <a:r>
              <a:rPr dirty="0" err="1"/>
              <a:t>ça</a:t>
            </a:r>
            <a:r>
              <a:rPr dirty="0"/>
              <a:t> </a:t>
            </a:r>
            <a:r>
              <a:rPr dirty="0" err="1"/>
              <a:t>fonctionne</a:t>
            </a:r>
            <a:r>
              <a:rPr dirty="0"/>
              <a:t> dans un simple </a:t>
            </a:r>
            <a:r>
              <a:rPr dirty="0" err="1"/>
              <a:t>navigateur</a:t>
            </a:r>
            <a:r>
              <a:rPr dirty="0"/>
              <a:t> web, </a:t>
            </a:r>
            <a:r>
              <a:rPr dirty="0" err="1"/>
              <a:t>même</a:t>
            </a:r>
            <a:r>
              <a:rPr dirty="0"/>
              <a:t> sur </a:t>
            </a:r>
            <a:r>
              <a:rPr dirty="0" err="1"/>
              <a:t>téléphone</a:t>
            </a:r>
            <a:r>
              <a:rPr dirty="0"/>
              <a:t>. Pas </a:t>
            </a:r>
            <a:r>
              <a:rPr dirty="0" err="1"/>
              <a:t>besoin</a:t>
            </a:r>
            <a:r>
              <a:rPr dirty="0"/>
              <a:t> </a:t>
            </a:r>
            <a:r>
              <a:rPr dirty="0" err="1"/>
              <a:t>d'installer</a:t>
            </a:r>
            <a:r>
              <a:rPr dirty="0"/>
              <a:t> quoi </a:t>
            </a:r>
            <a:r>
              <a:rPr dirty="0" err="1"/>
              <a:t>que</a:t>
            </a:r>
            <a:r>
              <a:rPr dirty="0"/>
              <a:t> </a:t>
            </a:r>
            <a:r>
              <a:rPr dirty="0" err="1"/>
              <a:t>ce</a:t>
            </a:r>
            <a:r>
              <a:rPr dirty="0"/>
              <a:t> </a:t>
            </a:r>
            <a:r>
              <a:rPr dirty="0" err="1"/>
              <a:t>soit</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C'est</a:t>
            </a:r>
            <a:r>
              <a:rPr dirty="0"/>
              <a:t> le </a:t>
            </a:r>
            <a:r>
              <a:rPr dirty="0" err="1"/>
              <a:t>cœur</a:t>
            </a:r>
            <a:r>
              <a:rPr dirty="0"/>
              <a:t> de </a:t>
            </a:r>
            <a:r>
              <a:rPr dirty="0" err="1"/>
              <a:t>l'application</a:t>
            </a:r>
            <a:r>
              <a:rPr dirty="0"/>
              <a:t> : le flux métier </a:t>
            </a:r>
            <a:r>
              <a:rPr dirty="0" err="1"/>
              <a:t>complet</a:t>
            </a:r>
            <a:r>
              <a:rPr dirty="0"/>
              <a:t>.</a:t>
            </a:r>
          </a:p>
          <a:p>
            <a:endParaRPr dirty="0"/>
          </a:p>
          <a:p>
            <a:r>
              <a:rPr dirty="0" err="1"/>
              <a:t>J'ai</a:t>
            </a:r>
            <a:r>
              <a:rPr dirty="0"/>
              <a:t> </a:t>
            </a:r>
            <a:r>
              <a:rPr dirty="0" err="1"/>
              <a:t>conçu</a:t>
            </a:r>
            <a:r>
              <a:rPr dirty="0"/>
              <a:t> </a:t>
            </a:r>
            <a:r>
              <a:rPr dirty="0" err="1"/>
              <a:t>l'architecture</a:t>
            </a:r>
            <a:r>
              <a:rPr dirty="0"/>
              <a:t> pour </a:t>
            </a:r>
            <a:r>
              <a:rPr dirty="0" err="1"/>
              <a:t>que</a:t>
            </a:r>
            <a:r>
              <a:rPr dirty="0"/>
              <a:t> tout </a:t>
            </a:r>
            <a:r>
              <a:rPr dirty="0" err="1"/>
              <a:t>soit</a:t>
            </a:r>
            <a:r>
              <a:rPr dirty="0"/>
              <a:t> </a:t>
            </a:r>
            <a:r>
              <a:rPr dirty="0" err="1"/>
              <a:t>connecté</a:t>
            </a:r>
            <a:r>
              <a:rPr dirty="0"/>
              <a:t> de bout </a:t>
            </a:r>
            <a:r>
              <a:rPr dirty="0" err="1"/>
              <a:t>en</a:t>
            </a:r>
            <a:r>
              <a:rPr dirty="0"/>
              <a:t> bout. Quand on </a:t>
            </a:r>
            <a:r>
              <a:rPr dirty="0" err="1"/>
              <a:t>réceptionne</a:t>
            </a:r>
            <a:r>
              <a:rPr dirty="0"/>
              <a:t> un lot de </a:t>
            </a:r>
            <a:r>
              <a:rPr dirty="0" err="1"/>
              <a:t>poulets</a:t>
            </a:r>
            <a:r>
              <a:rPr dirty="0"/>
              <a:t>, le </a:t>
            </a:r>
            <a:r>
              <a:rPr dirty="0" err="1"/>
              <a:t>système</a:t>
            </a:r>
            <a:r>
              <a:rPr dirty="0"/>
              <a:t> </a:t>
            </a:r>
            <a:r>
              <a:rPr dirty="0" err="1"/>
              <a:t>enregistre</a:t>
            </a:r>
            <a:r>
              <a:rPr dirty="0"/>
              <a:t> le </a:t>
            </a:r>
            <a:r>
              <a:rPr dirty="0" err="1"/>
              <a:t>coût</a:t>
            </a:r>
            <a:r>
              <a:rPr dirty="0"/>
              <a:t>. Quand la production </a:t>
            </a:r>
            <a:r>
              <a:rPr dirty="0" err="1"/>
              <a:t>découpe</a:t>
            </a:r>
            <a:r>
              <a:rPr dirty="0"/>
              <a:t>, les </a:t>
            </a:r>
            <a:r>
              <a:rPr dirty="0" err="1"/>
              <a:t>produits</a:t>
            </a:r>
            <a:r>
              <a:rPr dirty="0"/>
              <a:t> </a:t>
            </a:r>
            <a:r>
              <a:rPr dirty="0" err="1"/>
              <a:t>obtenus</a:t>
            </a:r>
            <a:r>
              <a:rPr dirty="0"/>
              <a:t> </a:t>
            </a:r>
            <a:r>
              <a:rPr dirty="0" err="1"/>
              <a:t>entrent</a:t>
            </a:r>
            <a:r>
              <a:rPr dirty="0"/>
              <a:t> </a:t>
            </a:r>
            <a:r>
              <a:rPr dirty="0" err="1"/>
              <a:t>automatiquement</a:t>
            </a:r>
            <a:r>
              <a:rPr dirty="0"/>
              <a:t> </a:t>
            </a:r>
            <a:r>
              <a:rPr dirty="0" err="1"/>
              <a:t>en</a:t>
            </a:r>
            <a:r>
              <a:rPr dirty="0"/>
              <a:t> stock. Quand on vend, le stock sort </a:t>
            </a:r>
            <a:r>
              <a:rPr dirty="0" err="1"/>
              <a:t>automatiquement</a:t>
            </a:r>
            <a:r>
              <a:rPr dirty="0"/>
              <a:t> et la marge se </a:t>
            </a:r>
            <a:r>
              <a:rPr dirty="0" err="1"/>
              <a:t>calcule</a:t>
            </a:r>
            <a:r>
              <a:rPr dirty="0"/>
              <a:t> toute </a:t>
            </a:r>
            <a:r>
              <a:rPr dirty="0" err="1"/>
              <a:t>seule</a:t>
            </a:r>
            <a:r>
              <a:rPr dirty="0"/>
              <a:t>. Et </a:t>
            </a:r>
            <a:r>
              <a:rPr dirty="0" err="1"/>
              <a:t>en</a:t>
            </a:r>
            <a:r>
              <a:rPr dirty="0"/>
              <a:t> fin de </a:t>
            </a:r>
            <a:r>
              <a:rPr dirty="0" err="1"/>
              <a:t>journée</a:t>
            </a:r>
            <a:r>
              <a:rPr dirty="0"/>
              <a:t>, la </a:t>
            </a:r>
            <a:r>
              <a:rPr dirty="0" err="1"/>
              <a:t>caisse</a:t>
            </a:r>
            <a:r>
              <a:rPr dirty="0"/>
              <a:t> </a:t>
            </a:r>
            <a:r>
              <a:rPr dirty="0" err="1"/>
              <a:t>reflète</a:t>
            </a:r>
            <a:r>
              <a:rPr dirty="0"/>
              <a:t> </a:t>
            </a:r>
            <a:r>
              <a:rPr dirty="0" err="1"/>
              <a:t>exactement</a:t>
            </a:r>
            <a:r>
              <a:rPr dirty="0"/>
              <a:t> </a:t>
            </a:r>
            <a:r>
              <a:rPr dirty="0" err="1"/>
              <a:t>ce</a:t>
            </a:r>
            <a:r>
              <a:rPr dirty="0"/>
              <a:t> qui </a:t>
            </a:r>
            <a:r>
              <a:rPr dirty="0" err="1"/>
              <a:t>s'est</a:t>
            </a:r>
            <a:r>
              <a:rPr dirty="0"/>
              <a:t> passé.</a:t>
            </a:r>
          </a:p>
          <a:p>
            <a:endParaRPr dirty="0"/>
          </a:p>
          <a:p>
            <a:r>
              <a:rPr dirty="0"/>
              <a:t>Les 5 </a:t>
            </a:r>
            <a:r>
              <a:rPr dirty="0" err="1"/>
              <a:t>automatisations</a:t>
            </a:r>
            <a:r>
              <a:rPr dirty="0"/>
              <a:t> </a:t>
            </a:r>
            <a:r>
              <a:rPr dirty="0" err="1"/>
              <a:t>que</a:t>
            </a:r>
            <a:r>
              <a:rPr dirty="0"/>
              <a:t> vous </a:t>
            </a:r>
            <a:r>
              <a:rPr dirty="0" err="1"/>
              <a:t>voyez</a:t>
            </a:r>
            <a:r>
              <a:rPr dirty="0"/>
              <a:t> </a:t>
            </a:r>
            <a:r>
              <a:rPr dirty="0" err="1"/>
              <a:t>ici</a:t>
            </a:r>
            <a:r>
              <a:rPr dirty="0"/>
              <a:t>, </a:t>
            </a:r>
            <a:r>
              <a:rPr dirty="0" err="1"/>
              <a:t>c'est</a:t>
            </a:r>
            <a:r>
              <a:rPr dirty="0"/>
              <a:t> </a:t>
            </a:r>
            <a:r>
              <a:rPr dirty="0" err="1"/>
              <a:t>ce</a:t>
            </a:r>
            <a:r>
              <a:rPr dirty="0"/>
              <a:t> qui fait toute la </a:t>
            </a:r>
            <a:r>
              <a:rPr dirty="0" err="1"/>
              <a:t>différence</a:t>
            </a:r>
            <a:r>
              <a:rPr dirty="0"/>
              <a:t> avec le</a:t>
            </a:r>
            <a:r>
              <a:rPr lang="fr-FR" dirty="0"/>
              <a:t>s</a:t>
            </a:r>
            <a:r>
              <a:rPr dirty="0"/>
              <a:t> </a:t>
            </a:r>
            <a:r>
              <a:rPr lang="fr-FR" dirty="0"/>
              <a:t>fichiers </a:t>
            </a:r>
            <a:r>
              <a:rPr lang="fr-FR" dirty="0" err="1"/>
              <a:t>excel</a:t>
            </a:r>
            <a:r>
              <a:rPr lang="fr-FR" dirty="0"/>
              <a:t> et le papier</a:t>
            </a:r>
            <a:r>
              <a:rPr dirty="0"/>
              <a:t>. Le CMP — le </a:t>
            </a:r>
            <a:r>
              <a:rPr dirty="0" err="1"/>
              <a:t>coût</a:t>
            </a:r>
            <a:r>
              <a:rPr dirty="0"/>
              <a:t> moyen </a:t>
            </a:r>
            <a:r>
              <a:rPr dirty="0" err="1"/>
              <a:t>pondéré</a:t>
            </a:r>
            <a:r>
              <a:rPr dirty="0"/>
              <a:t> — </a:t>
            </a:r>
            <a:r>
              <a:rPr dirty="0" err="1"/>
              <a:t>c'est</a:t>
            </a:r>
            <a:r>
              <a:rPr dirty="0"/>
              <a:t> un </a:t>
            </a:r>
            <a:r>
              <a:rPr dirty="0" err="1"/>
              <a:t>calcul</a:t>
            </a:r>
            <a:r>
              <a:rPr dirty="0"/>
              <a:t> </a:t>
            </a:r>
            <a:r>
              <a:rPr dirty="0" err="1"/>
              <a:t>complexe</a:t>
            </a:r>
            <a:r>
              <a:rPr dirty="0"/>
              <a:t> </a:t>
            </a:r>
            <a:r>
              <a:rPr dirty="0" err="1"/>
              <a:t>que</a:t>
            </a:r>
            <a:r>
              <a:rPr dirty="0"/>
              <a:t> </a:t>
            </a:r>
            <a:r>
              <a:rPr dirty="0" err="1"/>
              <a:t>j'ai</a:t>
            </a:r>
            <a:r>
              <a:rPr dirty="0"/>
              <a:t> </a:t>
            </a:r>
            <a:r>
              <a:rPr dirty="0" err="1"/>
              <a:t>implémenté</a:t>
            </a:r>
            <a:r>
              <a:rPr dirty="0"/>
              <a:t> pour </a:t>
            </a:r>
            <a:r>
              <a:rPr dirty="0" err="1"/>
              <a:t>qu'on</a:t>
            </a:r>
            <a:r>
              <a:rPr dirty="0"/>
              <a:t> </a:t>
            </a:r>
            <a:r>
              <a:rPr dirty="0" err="1"/>
              <a:t>connaisse</a:t>
            </a:r>
            <a:r>
              <a:rPr dirty="0"/>
              <a:t> </a:t>
            </a:r>
            <a:r>
              <a:rPr dirty="0" err="1"/>
              <a:t>en</a:t>
            </a:r>
            <a:r>
              <a:rPr dirty="0"/>
              <a:t> permanence le </a:t>
            </a:r>
            <a:r>
              <a:rPr dirty="0" err="1"/>
              <a:t>vrai</a:t>
            </a:r>
            <a:r>
              <a:rPr dirty="0"/>
              <a:t> </a:t>
            </a:r>
            <a:r>
              <a:rPr dirty="0" err="1"/>
              <a:t>coût</a:t>
            </a:r>
            <a:r>
              <a:rPr dirty="0"/>
              <a:t> de </a:t>
            </a:r>
            <a:r>
              <a:rPr dirty="0" err="1"/>
              <a:t>revient</a:t>
            </a:r>
            <a:r>
              <a:rPr dirty="0"/>
              <a:t> de </a:t>
            </a:r>
            <a:r>
              <a:rPr dirty="0" err="1"/>
              <a:t>chaque</a:t>
            </a:r>
            <a:r>
              <a:rPr dirty="0"/>
              <a:t> </a:t>
            </a:r>
            <a:r>
              <a:rPr dirty="0" err="1"/>
              <a:t>produit</a:t>
            </a:r>
            <a:r>
              <a:rPr dirty="0"/>
              <a:t>. </a:t>
            </a:r>
            <a:r>
              <a:rPr dirty="0" err="1"/>
              <a:t>C'est</a:t>
            </a:r>
            <a:r>
              <a:rPr dirty="0"/>
              <a:t> grâce à </a:t>
            </a:r>
            <a:r>
              <a:rPr dirty="0" err="1"/>
              <a:t>ça</a:t>
            </a:r>
            <a:r>
              <a:rPr dirty="0"/>
              <a:t> </a:t>
            </a:r>
            <a:r>
              <a:rPr dirty="0" err="1"/>
              <a:t>qu'on</a:t>
            </a:r>
            <a:r>
              <a:rPr dirty="0"/>
              <a:t> </a:t>
            </a:r>
            <a:r>
              <a:rPr dirty="0" err="1"/>
              <a:t>peut</a:t>
            </a:r>
            <a:r>
              <a:rPr dirty="0"/>
              <a:t> </a:t>
            </a:r>
            <a:r>
              <a:rPr dirty="0" err="1"/>
              <a:t>calculer</a:t>
            </a:r>
            <a:r>
              <a:rPr dirty="0"/>
              <a:t> les </a:t>
            </a:r>
            <a:r>
              <a:rPr dirty="0" err="1"/>
              <a:t>marges</a:t>
            </a:r>
            <a:r>
              <a:rPr dirty="0"/>
              <a:t> </a:t>
            </a:r>
            <a:r>
              <a:rPr dirty="0" err="1"/>
              <a:t>réelles</a:t>
            </a:r>
            <a:r>
              <a:rPr dirty="0"/>
              <a:t>.</a:t>
            </a:r>
          </a:p>
          <a:p>
            <a:endParaRPr dirty="0"/>
          </a:p>
          <a:p>
            <a:r>
              <a:rPr dirty="0" err="1"/>
              <a:t>J'ai</a:t>
            </a:r>
            <a:r>
              <a:rPr dirty="0"/>
              <a:t> </a:t>
            </a:r>
            <a:r>
              <a:rPr dirty="0" err="1"/>
              <a:t>aussi</a:t>
            </a:r>
            <a:r>
              <a:rPr dirty="0"/>
              <a:t> </a:t>
            </a:r>
            <a:r>
              <a:rPr dirty="0" err="1"/>
              <a:t>prévu</a:t>
            </a:r>
            <a:r>
              <a:rPr dirty="0"/>
              <a:t> les </a:t>
            </a:r>
            <a:r>
              <a:rPr dirty="0" err="1"/>
              <a:t>transferts</a:t>
            </a:r>
            <a:r>
              <a:rPr dirty="0"/>
              <a:t> entre </a:t>
            </a:r>
            <a:r>
              <a:rPr dirty="0" err="1"/>
              <a:t>nos</a:t>
            </a:r>
            <a:r>
              <a:rPr dirty="0"/>
              <a:t> deux sites — Site principal et Belleville — avec un </a:t>
            </a:r>
            <a:r>
              <a:rPr dirty="0" err="1"/>
              <a:t>suivi</a:t>
            </a:r>
            <a:r>
              <a:rPr dirty="0"/>
              <a:t> des </a:t>
            </a:r>
            <a:r>
              <a:rPr dirty="0" err="1"/>
              <a:t>quantités</a:t>
            </a:r>
            <a:r>
              <a:rPr dirty="0"/>
              <a:t> </a:t>
            </a:r>
            <a:r>
              <a:rPr dirty="0" err="1"/>
              <a:t>envoyées</a:t>
            </a:r>
            <a:r>
              <a:rPr dirty="0"/>
              <a:t> versus reçues, pour </a:t>
            </a:r>
            <a:r>
              <a:rPr dirty="0" err="1"/>
              <a:t>détecter</a:t>
            </a:r>
            <a:r>
              <a:rPr dirty="0"/>
              <a:t> les </a:t>
            </a:r>
            <a:r>
              <a:rPr dirty="0" err="1"/>
              <a:t>écarts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Voici</a:t>
            </a:r>
            <a:r>
              <a:rPr dirty="0"/>
              <a:t> les 9 modules </a:t>
            </a:r>
            <a:r>
              <a:rPr dirty="0" err="1"/>
              <a:t>que</a:t>
            </a:r>
            <a:r>
              <a:rPr dirty="0"/>
              <a:t> </a:t>
            </a:r>
            <a:r>
              <a:rPr dirty="0" err="1"/>
              <a:t>j'ai</a:t>
            </a:r>
            <a:r>
              <a:rPr dirty="0"/>
              <a:t> </a:t>
            </a:r>
            <a:r>
              <a:rPr dirty="0" err="1"/>
              <a:t>développés</a:t>
            </a:r>
            <a:r>
              <a:rPr dirty="0"/>
              <a:t>. Chacun </a:t>
            </a:r>
            <a:r>
              <a:rPr dirty="0" err="1"/>
              <a:t>couvre</a:t>
            </a:r>
            <a:r>
              <a:rPr dirty="0"/>
              <a:t> un pan </a:t>
            </a:r>
            <a:r>
              <a:rPr dirty="0" err="1"/>
              <a:t>complet</a:t>
            </a:r>
            <a:r>
              <a:rPr dirty="0"/>
              <a:t> de </a:t>
            </a:r>
            <a:r>
              <a:rPr dirty="0" err="1"/>
              <a:t>notre</a:t>
            </a:r>
            <a:r>
              <a:rPr dirty="0"/>
              <a:t> </a:t>
            </a:r>
            <a:r>
              <a:rPr dirty="0" err="1"/>
              <a:t>activité</a:t>
            </a:r>
            <a:r>
              <a:rPr dirty="0"/>
              <a:t>.</a:t>
            </a:r>
          </a:p>
          <a:p>
            <a:endParaRPr dirty="0"/>
          </a:p>
          <a:p>
            <a:r>
              <a:rPr dirty="0"/>
              <a:t>Le module Lots </a:t>
            </a:r>
            <a:r>
              <a:rPr dirty="0" err="1"/>
              <a:t>gère</a:t>
            </a:r>
            <a:r>
              <a:rPr dirty="0"/>
              <a:t> tout </a:t>
            </a:r>
            <a:r>
              <a:rPr dirty="0" err="1"/>
              <a:t>l'approvisionnement</a:t>
            </a:r>
            <a:r>
              <a:rPr dirty="0"/>
              <a:t> — </a:t>
            </a:r>
            <a:r>
              <a:rPr dirty="0" err="1"/>
              <a:t>réception</a:t>
            </a:r>
            <a:r>
              <a:rPr dirty="0"/>
              <a:t>, </a:t>
            </a:r>
            <a:r>
              <a:rPr dirty="0" err="1"/>
              <a:t>fournisseurs</a:t>
            </a:r>
            <a:r>
              <a:rPr dirty="0"/>
              <a:t>, </a:t>
            </a:r>
            <a:r>
              <a:rPr dirty="0" err="1"/>
              <a:t>facturation</a:t>
            </a:r>
            <a:r>
              <a:rPr dirty="0"/>
              <a:t>, et surtout le </a:t>
            </a:r>
            <a:r>
              <a:rPr dirty="0" err="1"/>
              <a:t>calcul</a:t>
            </a:r>
            <a:r>
              <a:rPr dirty="0"/>
              <a:t> </a:t>
            </a:r>
            <a:r>
              <a:rPr dirty="0" err="1"/>
              <a:t>automatique</a:t>
            </a:r>
            <a:r>
              <a:rPr dirty="0"/>
              <a:t> du </a:t>
            </a:r>
            <a:r>
              <a:rPr dirty="0" err="1"/>
              <a:t>coût</a:t>
            </a:r>
            <a:r>
              <a:rPr dirty="0"/>
              <a:t> </a:t>
            </a:r>
            <a:r>
              <a:rPr dirty="0" err="1"/>
              <a:t>unitaire</a:t>
            </a:r>
            <a:r>
              <a:rPr dirty="0"/>
              <a:t>. </a:t>
            </a:r>
            <a:r>
              <a:rPr dirty="0" err="1"/>
              <a:t>C'est</a:t>
            </a:r>
            <a:r>
              <a:rPr dirty="0"/>
              <a:t> la base de tout le </a:t>
            </a:r>
            <a:r>
              <a:rPr dirty="0" err="1"/>
              <a:t>reste</a:t>
            </a:r>
            <a:r>
              <a:rPr dirty="0"/>
              <a:t>.</a:t>
            </a:r>
          </a:p>
          <a:p>
            <a:endParaRPr dirty="0"/>
          </a:p>
          <a:p>
            <a:r>
              <a:rPr dirty="0"/>
              <a:t>La Production trace </a:t>
            </a:r>
            <a:r>
              <a:rPr dirty="0" err="1"/>
              <a:t>l'abattage</a:t>
            </a:r>
            <a:r>
              <a:rPr dirty="0"/>
              <a:t> et la </a:t>
            </a:r>
            <a:r>
              <a:rPr dirty="0" err="1"/>
              <a:t>découpe</a:t>
            </a:r>
            <a:r>
              <a:rPr dirty="0"/>
              <a:t> avec un </a:t>
            </a:r>
            <a:r>
              <a:rPr dirty="0" err="1"/>
              <a:t>suivi</a:t>
            </a:r>
            <a:r>
              <a:rPr dirty="0"/>
              <a:t> du </a:t>
            </a:r>
            <a:r>
              <a:rPr dirty="0" err="1"/>
              <a:t>rendement</a:t>
            </a:r>
            <a:r>
              <a:rPr dirty="0"/>
              <a:t> par lot. </a:t>
            </a:r>
            <a:r>
              <a:rPr dirty="0" err="1"/>
              <a:t>Ça</a:t>
            </a:r>
            <a:r>
              <a:rPr dirty="0"/>
              <a:t> nous </a:t>
            </a:r>
            <a:r>
              <a:rPr dirty="0" err="1"/>
              <a:t>permet</a:t>
            </a:r>
            <a:r>
              <a:rPr dirty="0"/>
              <a:t> de savoir </a:t>
            </a:r>
            <a:r>
              <a:rPr dirty="0" err="1"/>
              <a:t>exactement</a:t>
            </a:r>
            <a:r>
              <a:rPr dirty="0"/>
              <a:t> </a:t>
            </a:r>
            <a:r>
              <a:rPr dirty="0" err="1"/>
              <a:t>combien</a:t>
            </a:r>
            <a:r>
              <a:rPr dirty="0"/>
              <a:t> de kilos </a:t>
            </a:r>
            <a:r>
              <a:rPr dirty="0" err="1"/>
              <a:t>d'escalopes</a:t>
            </a:r>
            <a:r>
              <a:rPr dirty="0"/>
              <a:t>, de cuisses </a:t>
            </a:r>
            <a:r>
              <a:rPr dirty="0" err="1"/>
              <a:t>ou</a:t>
            </a:r>
            <a:r>
              <a:rPr dirty="0"/>
              <a:t> de </a:t>
            </a:r>
            <a:r>
              <a:rPr dirty="0" err="1"/>
              <a:t>gésiers</a:t>
            </a:r>
            <a:r>
              <a:rPr dirty="0"/>
              <a:t> on </a:t>
            </a:r>
            <a:r>
              <a:rPr dirty="0" err="1"/>
              <a:t>obtient</a:t>
            </a:r>
            <a:r>
              <a:rPr dirty="0"/>
              <a:t> par poulet.</a:t>
            </a:r>
          </a:p>
          <a:p>
            <a:endParaRPr dirty="0"/>
          </a:p>
          <a:p>
            <a:r>
              <a:rPr dirty="0"/>
              <a:t>Le module Stock, </a:t>
            </a:r>
            <a:r>
              <a:rPr dirty="0" err="1"/>
              <a:t>c'est</a:t>
            </a:r>
            <a:r>
              <a:rPr dirty="0"/>
              <a:t> le nerf de la guerre — stock </a:t>
            </a:r>
            <a:r>
              <a:rPr dirty="0" err="1"/>
              <a:t>en</a:t>
            </a:r>
            <a:r>
              <a:rPr dirty="0"/>
              <a:t> temps </a:t>
            </a:r>
            <a:r>
              <a:rPr dirty="0" err="1"/>
              <a:t>réel</a:t>
            </a:r>
            <a:r>
              <a:rPr dirty="0"/>
              <a:t> sur </a:t>
            </a:r>
            <a:r>
              <a:rPr dirty="0" err="1"/>
              <a:t>chaque</a:t>
            </a:r>
            <a:r>
              <a:rPr dirty="0"/>
              <a:t> site, avec le CMP, les </a:t>
            </a:r>
            <a:r>
              <a:rPr dirty="0" err="1"/>
              <a:t>alertes</a:t>
            </a:r>
            <a:r>
              <a:rPr dirty="0"/>
              <a:t> de stock bas, et un </a:t>
            </a:r>
            <a:r>
              <a:rPr dirty="0" err="1"/>
              <a:t>historique</a:t>
            </a:r>
            <a:r>
              <a:rPr dirty="0"/>
              <a:t> </a:t>
            </a:r>
            <a:r>
              <a:rPr dirty="0" err="1"/>
              <a:t>complet</a:t>
            </a:r>
            <a:r>
              <a:rPr dirty="0"/>
              <a:t> de </a:t>
            </a:r>
            <a:r>
              <a:rPr dirty="0" err="1"/>
              <a:t>chaque</a:t>
            </a:r>
            <a:r>
              <a:rPr dirty="0"/>
              <a:t> </a:t>
            </a:r>
            <a:r>
              <a:rPr dirty="0" err="1"/>
              <a:t>mouvement</a:t>
            </a:r>
            <a:r>
              <a:rPr dirty="0"/>
              <a:t>.</a:t>
            </a:r>
          </a:p>
          <a:p>
            <a:endParaRPr dirty="0"/>
          </a:p>
          <a:p>
            <a:r>
              <a:rPr dirty="0"/>
              <a:t>Les Ventes </a:t>
            </a:r>
            <a:r>
              <a:rPr dirty="0" err="1"/>
              <a:t>gèrent</a:t>
            </a:r>
            <a:r>
              <a:rPr dirty="0"/>
              <a:t> les 4 </a:t>
            </a:r>
            <a:r>
              <a:rPr dirty="0" err="1"/>
              <a:t>canaux</a:t>
            </a:r>
            <a:r>
              <a:rPr dirty="0"/>
              <a:t> : boutique, </a:t>
            </a:r>
            <a:r>
              <a:rPr dirty="0" err="1"/>
              <a:t>commerciaux</a:t>
            </a:r>
            <a:r>
              <a:rPr dirty="0"/>
              <a:t> terrain, livraison et B2B. Avec la gestion du </a:t>
            </a:r>
            <a:r>
              <a:rPr dirty="0" err="1"/>
              <a:t>crédit</a:t>
            </a:r>
            <a:r>
              <a:rPr dirty="0"/>
              <a:t> et des </a:t>
            </a:r>
            <a:r>
              <a:rPr dirty="0" err="1"/>
              <a:t>paiements</a:t>
            </a:r>
            <a:r>
              <a:rPr dirty="0"/>
              <a:t> </a:t>
            </a:r>
            <a:r>
              <a:rPr dirty="0" err="1"/>
              <a:t>partiels</a:t>
            </a:r>
            <a:r>
              <a:rPr dirty="0"/>
              <a:t>, </a:t>
            </a:r>
            <a:r>
              <a:rPr dirty="0" err="1"/>
              <a:t>adaptée</a:t>
            </a:r>
            <a:r>
              <a:rPr dirty="0"/>
              <a:t> à </a:t>
            </a:r>
            <a:r>
              <a:rPr dirty="0" err="1"/>
              <a:t>notre</a:t>
            </a:r>
            <a:r>
              <a:rPr dirty="0"/>
              <a:t> </a:t>
            </a:r>
            <a:r>
              <a:rPr dirty="0" err="1"/>
              <a:t>réalité</a:t>
            </a:r>
            <a:r>
              <a:rPr dirty="0"/>
              <a:t> terrain.</a:t>
            </a:r>
          </a:p>
          <a:p>
            <a:endParaRPr dirty="0"/>
          </a:p>
          <a:p>
            <a:r>
              <a:rPr dirty="0" err="1"/>
              <a:t>Chaque</a:t>
            </a:r>
            <a:r>
              <a:rPr dirty="0"/>
              <a:t> module a </a:t>
            </a:r>
            <a:r>
              <a:rPr dirty="0" err="1"/>
              <a:t>été</a:t>
            </a:r>
            <a:r>
              <a:rPr dirty="0"/>
              <a:t> </a:t>
            </a:r>
            <a:r>
              <a:rPr dirty="0" err="1"/>
              <a:t>pensé</a:t>
            </a:r>
            <a:r>
              <a:rPr dirty="0"/>
              <a:t> </a:t>
            </a:r>
            <a:r>
              <a:rPr dirty="0" err="1"/>
              <a:t>en</a:t>
            </a:r>
            <a:r>
              <a:rPr dirty="0"/>
              <a:t> </a:t>
            </a:r>
            <a:r>
              <a:rPr dirty="0" err="1"/>
              <a:t>partant</a:t>
            </a:r>
            <a:r>
              <a:rPr dirty="0"/>
              <a:t> de</a:t>
            </a:r>
            <a:r>
              <a:rPr lang="fr-FR" dirty="0"/>
              <a:t>s </a:t>
            </a:r>
            <a:r>
              <a:rPr dirty="0"/>
              <a:t> habitudes de travail</a:t>
            </a:r>
            <a:r>
              <a:rPr lang="fr-FR"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tableau de bord, </a:t>
            </a:r>
            <a:r>
              <a:rPr dirty="0" err="1"/>
              <a:t>c'est</a:t>
            </a:r>
            <a:r>
              <a:rPr dirty="0"/>
              <a:t> la première chose </a:t>
            </a:r>
            <a:r>
              <a:rPr dirty="0" err="1"/>
              <a:t>que</a:t>
            </a:r>
            <a:r>
              <a:rPr dirty="0"/>
              <a:t> </a:t>
            </a:r>
            <a:r>
              <a:rPr dirty="0" err="1"/>
              <a:t>chaque</a:t>
            </a:r>
            <a:r>
              <a:rPr dirty="0"/>
              <a:t> </a:t>
            </a:r>
            <a:r>
              <a:rPr dirty="0" err="1"/>
              <a:t>utilisateur</a:t>
            </a:r>
            <a:r>
              <a:rPr dirty="0"/>
              <a:t> </a:t>
            </a:r>
            <a:r>
              <a:rPr dirty="0" err="1"/>
              <a:t>voit</a:t>
            </a:r>
            <a:r>
              <a:rPr dirty="0"/>
              <a:t> </a:t>
            </a:r>
            <a:r>
              <a:rPr dirty="0" err="1"/>
              <a:t>en</a:t>
            </a:r>
            <a:r>
              <a:rPr dirty="0"/>
              <a:t> se </a:t>
            </a:r>
            <a:r>
              <a:rPr dirty="0" err="1"/>
              <a:t>connectant</a:t>
            </a:r>
            <a:r>
              <a:rPr dirty="0"/>
              <a:t>. Et </a:t>
            </a:r>
            <a:r>
              <a:rPr dirty="0" err="1"/>
              <a:t>j'ai</a:t>
            </a:r>
            <a:r>
              <a:rPr dirty="0"/>
              <a:t> fait </a:t>
            </a:r>
            <a:r>
              <a:rPr dirty="0" err="1"/>
              <a:t>en</a:t>
            </a:r>
            <a:r>
              <a:rPr dirty="0"/>
              <a:t> </a:t>
            </a:r>
            <a:r>
              <a:rPr dirty="0" err="1"/>
              <a:t>sorte</a:t>
            </a:r>
            <a:r>
              <a:rPr dirty="0"/>
              <a:t> </a:t>
            </a:r>
            <a:r>
              <a:rPr dirty="0" err="1"/>
              <a:t>que</a:t>
            </a:r>
            <a:r>
              <a:rPr dirty="0"/>
              <a:t> </a:t>
            </a:r>
            <a:r>
              <a:rPr dirty="0" err="1"/>
              <a:t>ce</a:t>
            </a:r>
            <a:r>
              <a:rPr dirty="0"/>
              <a:t> </a:t>
            </a:r>
            <a:r>
              <a:rPr dirty="0" err="1"/>
              <a:t>soit</a:t>
            </a:r>
            <a:r>
              <a:rPr dirty="0"/>
              <a:t> </a:t>
            </a:r>
            <a:r>
              <a:rPr dirty="0" err="1"/>
              <a:t>immédiatement</a:t>
            </a:r>
            <a:r>
              <a:rPr dirty="0"/>
              <a:t> utile.</a:t>
            </a:r>
          </a:p>
          <a:p>
            <a:endParaRPr dirty="0"/>
          </a:p>
          <a:p>
            <a:r>
              <a:rPr dirty="0"/>
              <a:t>Pour la direction : le CA du jour, de la </a:t>
            </a:r>
            <a:r>
              <a:rPr dirty="0" err="1"/>
              <a:t>semaine</a:t>
            </a:r>
            <a:r>
              <a:rPr dirty="0"/>
              <a:t>, du </a:t>
            </a:r>
            <a:r>
              <a:rPr dirty="0" err="1"/>
              <a:t>mois</a:t>
            </a:r>
            <a:r>
              <a:rPr dirty="0"/>
              <a:t>, avec la tendance par rapport à la </a:t>
            </a:r>
            <a:r>
              <a:rPr dirty="0" err="1"/>
              <a:t>période</a:t>
            </a:r>
            <a:r>
              <a:rPr dirty="0"/>
              <a:t> </a:t>
            </a:r>
            <a:r>
              <a:rPr dirty="0" err="1"/>
              <a:t>précédente</a:t>
            </a:r>
            <a:r>
              <a:rPr dirty="0"/>
              <a:t>. La marge brute </a:t>
            </a:r>
            <a:r>
              <a:rPr dirty="0" err="1"/>
              <a:t>en</a:t>
            </a:r>
            <a:r>
              <a:rPr dirty="0"/>
              <a:t> temps </a:t>
            </a:r>
            <a:r>
              <a:rPr dirty="0" err="1"/>
              <a:t>réel</a:t>
            </a:r>
            <a:r>
              <a:rPr dirty="0"/>
              <a:t>. Les 5 </a:t>
            </a:r>
            <a:r>
              <a:rPr dirty="0" err="1"/>
              <a:t>meilleurs</a:t>
            </a:r>
            <a:r>
              <a:rPr dirty="0"/>
              <a:t> clients, les 5 </a:t>
            </a:r>
            <a:r>
              <a:rPr dirty="0" err="1"/>
              <a:t>produits</a:t>
            </a:r>
            <a:r>
              <a:rPr dirty="0"/>
              <a:t> les plus </a:t>
            </a:r>
            <a:r>
              <a:rPr dirty="0" err="1"/>
              <a:t>vendus</a:t>
            </a:r>
            <a:r>
              <a:rPr dirty="0"/>
              <a:t>. Et surtout, les </a:t>
            </a:r>
            <a:r>
              <a:rPr dirty="0" err="1"/>
              <a:t>impayés</a:t>
            </a:r>
            <a:r>
              <a:rPr dirty="0"/>
              <a:t> — </a:t>
            </a:r>
            <a:r>
              <a:rPr dirty="0" err="1"/>
              <a:t>combien</a:t>
            </a:r>
            <a:r>
              <a:rPr dirty="0"/>
              <a:t>, </a:t>
            </a:r>
            <a:r>
              <a:rPr dirty="0" err="1"/>
              <a:t>depuis</a:t>
            </a:r>
            <a:r>
              <a:rPr dirty="0"/>
              <a:t> </a:t>
            </a:r>
            <a:r>
              <a:rPr dirty="0" err="1"/>
              <a:t>combien</a:t>
            </a:r>
            <a:r>
              <a:rPr dirty="0"/>
              <a:t> de temps, chez </a:t>
            </a:r>
            <a:r>
              <a:rPr dirty="0" err="1"/>
              <a:t>quels</a:t>
            </a:r>
            <a:r>
              <a:rPr dirty="0"/>
              <a:t> clients.</a:t>
            </a:r>
          </a:p>
          <a:p>
            <a:endParaRPr dirty="0"/>
          </a:p>
          <a:p>
            <a:r>
              <a:rPr dirty="0"/>
              <a:t>Pour le stock : la situation </a:t>
            </a:r>
            <a:r>
              <a:rPr dirty="0" err="1"/>
              <a:t>en</a:t>
            </a:r>
            <a:r>
              <a:rPr dirty="0"/>
              <a:t> un coup </a:t>
            </a:r>
            <a:r>
              <a:rPr dirty="0" err="1"/>
              <a:t>d'œil</a:t>
            </a:r>
            <a:r>
              <a:rPr dirty="0"/>
              <a:t> avec les </a:t>
            </a:r>
            <a:r>
              <a:rPr dirty="0" err="1"/>
              <a:t>alertes</a:t>
            </a:r>
            <a:r>
              <a:rPr dirty="0"/>
              <a:t> </a:t>
            </a:r>
            <a:r>
              <a:rPr dirty="0" err="1"/>
              <a:t>quand</a:t>
            </a:r>
            <a:r>
              <a:rPr dirty="0"/>
              <a:t> un </a:t>
            </a:r>
            <a:r>
              <a:rPr dirty="0" err="1"/>
              <a:t>produit</a:t>
            </a:r>
            <a:r>
              <a:rPr dirty="0"/>
              <a:t> passe sous le </a:t>
            </a:r>
            <a:r>
              <a:rPr dirty="0" err="1"/>
              <a:t>seuil</a:t>
            </a:r>
            <a:r>
              <a:rPr dirty="0"/>
              <a:t>.</a:t>
            </a:r>
          </a:p>
          <a:p>
            <a:endParaRPr dirty="0"/>
          </a:p>
          <a:p>
            <a:r>
              <a:rPr dirty="0"/>
              <a:t>Pour la production : les volumes </a:t>
            </a:r>
            <a:r>
              <a:rPr dirty="0" err="1"/>
              <a:t>traités</a:t>
            </a:r>
            <a:r>
              <a:rPr dirty="0"/>
              <a:t>, le </a:t>
            </a:r>
            <a:r>
              <a:rPr dirty="0" err="1"/>
              <a:t>rendement</a:t>
            </a:r>
            <a:r>
              <a:rPr dirty="0"/>
              <a:t>, les </a:t>
            </a:r>
            <a:r>
              <a:rPr dirty="0" err="1"/>
              <a:t>pertes</a:t>
            </a:r>
            <a:r>
              <a:rPr dirty="0"/>
              <a:t>.</a:t>
            </a:r>
          </a:p>
          <a:p>
            <a:endParaRPr dirty="0"/>
          </a:p>
          <a:p>
            <a:r>
              <a:rPr dirty="0"/>
              <a:t>Pour les </a:t>
            </a:r>
            <a:r>
              <a:rPr dirty="0" err="1"/>
              <a:t>commerciaux</a:t>
            </a:r>
            <a:r>
              <a:rPr dirty="0"/>
              <a:t> : </a:t>
            </a:r>
            <a:r>
              <a:rPr dirty="0" err="1"/>
              <a:t>leur</a:t>
            </a:r>
            <a:r>
              <a:rPr dirty="0"/>
              <a:t> </a:t>
            </a:r>
            <a:r>
              <a:rPr dirty="0" err="1"/>
              <a:t>classement</a:t>
            </a:r>
            <a:r>
              <a:rPr dirty="0"/>
              <a:t>, </a:t>
            </a:r>
            <a:r>
              <a:rPr dirty="0" err="1"/>
              <a:t>leur</a:t>
            </a:r>
            <a:r>
              <a:rPr dirty="0"/>
              <a:t> CA, </a:t>
            </a:r>
            <a:r>
              <a:rPr dirty="0" err="1"/>
              <a:t>leurs</a:t>
            </a:r>
            <a:r>
              <a:rPr dirty="0"/>
              <a:t> </a:t>
            </a:r>
            <a:r>
              <a:rPr dirty="0" err="1"/>
              <a:t>impayés</a:t>
            </a:r>
            <a:r>
              <a:rPr dirty="0"/>
              <a:t>.</a:t>
            </a:r>
          </a:p>
          <a:p>
            <a:endParaRPr dirty="0"/>
          </a:p>
          <a:p>
            <a:r>
              <a:rPr dirty="0" err="1"/>
              <a:t>J'ai</a:t>
            </a:r>
            <a:r>
              <a:rPr dirty="0"/>
              <a:t> </a:t>
            </a:r>
            <a:r>
              <a:rPr dirty="0" err="1"/>
              <a:t>optimisé</a:t>
            </a:r>
            <a:r>
              <a:rPr dirty="0"/>
              <a:t> les </a:t>
            </a:r>
            <a:r>
              <a:rPr dirty="0" err="1"/>
              <a:t>requêtes</a:t>
            </a:r>
            <a:r>
              <a:rPr dirty="0"/>
              <a:t> pour </a:t>
            </a:r>
            <a:r>
              <a:rPr dirty="0" err="1"/>
              <a:t>que</a:t>
            </a:r>
            <a:r>
              <a:rPr dirty="0"/>
              <a:t> le dashboard se charge </a:t>
            </a:r>
            <a:r>
              <a:rPr dirty="0" err="1"/>
              <a:t>en</a:t>
            </a:r>
            <a:r>
              <a:rPr dirty="0"/>
              <a:t> </a:t>
            </a:r>
            <a:r>
              <a:rPr dirty="0" err="1"/>
              <a:t>moins</a:t>
            </a:r>
            <a:r>
              <a:rPr dirty="0"/>
              <a:t> de 2 </a:t>
            </a:r>
            <a:r>
              <a:rPr dirty="0" err="1"/>
              <a:t>secondes</a:t>
            </a:r>
            <a:r>
              <a:rPr dirty="0"/>
              <a:t>, </a:t>
            </a:r>
            <a:r>
              <a:rPr dirty="0" err="1"/>
              <a:t>même</a:t>
            </a:r>
            <a:r>
              <a:rPr dirty="0"/>
              <a:t> avec beaucoup de données. On est passé de 60 </a:t>
            </a:r>
            <a:r>
              <a:rPr dirty="0" err="1"/>
              <a:t>requêtes</a:t>
            </a:r>
            <a:r>
              <a:rPr dirty="0"/>
              <a:t> à 2-3 grâce au travail </a:t>
            </a:r>
            <a:r>
              <a:rPr dirty="0" err="1"/>
              <a:t>d'optimisation</a:t>
            </a:r>
            <a:r>
              <a:rPr dirty="0"/>
              <a:t> </a:t>
            </a:r>
            <a:r>
              <a:rPr dirty="0" err="1"/>
              <a:t>que</a:t>
            </a:r>
            <a:r>
              <a:rPr dirty="0"/>
              <a:t> </a:t>
            </a:r>
            <a:r>
              <a:rPr dirty="0" err="1"/>
              <a:t>j'ai</a:t>
            </a:r>
            <a:r>
              <a:rPr dirty="0"/>
              <a:t> fait.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L'application gère nos 17 produits avec leurs prix de vente par défaut. Du poulet entier aux abats en passant par toutes les découpes.</a:t>
            </a:r>
          </a:p>
          <a:p>
            <a:endParaRPr/>
          </a:p>
          <a:p>
            <a:r>
              <a:t>Un point que je voudrais souligner : la grille de rendement. C'est un outil que j'ai intégré et qui permet de connaître la valeur théorique d'un poulet en fonction de son poids. Par exemple, un poulet de 2 kg, une fois découpé, donne des escalopes, des cuisses, des ailes, des carcasses, des abats — et la somme de tout ça vaut environ 4 311 francs. C'est un indicateur clé pour évaluer la rentabilité de la production.</a:t>
            </a:r>
          </a:p>
          <a:p>
            <a:endParaRPr/>
          </a:p>
          <a:p>
            <a:r>
              <a:t>Côté clients, l'application gère tous nos types de clientèle — du maquis du quartier aux grands comptes comme SITA ou PROSUMA — chacun avec son profil, son historique, et ses conditions.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 </a:t>
            </a:r>
            <a:r>
              <a:rPr dirty="0" err="1"/>
              <a:t>sécurité</a:t>
            </a:r>
            <a:r>
              <a:rPr dirty="0"/>
              <a:t> est un </a:t>
            </a:r>
            <a:r>
              <a:rPr dirty="0" err="1"/>
              <a:t>sujet</a:t>
            </a:r>
            <a:r>
              <a:rPr dirty="0"/>
              <a:t> </a:t>
            </a:r>
            <a:r>
              <a:rPr dirty="0" err="1"/>
              <a:t>que</a:t>
            </a:r>
            <a:r>
              <a:rPr dirty="0"/>
              <a:t> </a:t>
            </a:r>
            <a:r>
              <a:rPr dirty="0" err="1"/>
              <a:t>j'ai</a:t>
            </a:r>
            <a:r>
              <a:rPr dirty="0"/>
              <a:t> </a:t>
            </a:r>
            <a:r>
              <a:rPr dirty="0" err="1"/>
              <a:t>traité</a:t>
            </a:r>
            <a:r>
              <a:rPr dirty="0"/>
              <a:t> </a:t>
            </a:r>
            <a:r>
              <a:rPr dirty="0" err="1"/>
              <a:t>dès</a:t>
            </a:r>
            <a:r>
              <a:rPr dirty="0"/>
              <a:t> le </a:t>
            </a:r>
            <a:r>
              <a:rPr dirty="0" err="1"/>
              <a:t>départ</a:t>
            </a:r>
            <a:r>
              <a:rPr dirty="0"/>
              <a:t>. </a:t>
            </a:r>
            <a:r>
              <a:rPr dirty="0" err="1"/>
              <a:t>J'ai</a:t>
            </a:r>
            <a:r>
              <a:rPr dirty="0"/>
              <a:t> mis </a:t>
            </a:r>
            <a:r>
              <a:rPr dirty="0" err="1"/>
              <a:t>en</a:t>
            </a:r>
            <a:r>
              <a:rPr dirty="0"/>
              <a:t> place un </a:t>
            </a:r>
            <a:r>
              <a:rPr dirty="0" err="1"/>
              <a:t>système</a:t>
            </a:r>
            <a:r>
              <a:rPr dirty="0"/>
              <a:t> de 5 </a:t>
            </a:r>
            <a:r>
              <a:rPr dirty="0" err="1"/>
              <a:t>profils</a:t>
            </a:r>
            <a:r>
              <a:rPr dirty="0"/>
              <a:t> avec des droits </a:t>
            </a:r>
            <a:r>
              <a:rPr dirty="0" err="1"/>
              <a:t>strictement</a:t>
            </a:r>
            <a:r>
              <a:rPr dirty="0"/>
              <a:t> </a:t>
            </a:r>
            <a:r>
              <a:rPr dirty="0" err="1"/>
              <a:t>cloisonnés</a:t>
            </a:r>
            <a:r>
              <a:rPr dirty="0"/>
              <a:t>.</a:t>
            </a:r>
          </a:p>
          <a:p>
            <a:endParaRPr dirty="0"/>
          </a:p>
          <a:p>
            <a:r>
              <a:rPr dirty="0"/>
              <a:t>Un commercial ne </a:t>
            </a:r>
            <a:r>
              <a:rPr dirty="0" err="1"/>
              <a:t>peut</a:t>
            </a:r>
            <a:r>
              <a:rPr dirty="0"/>
              <a:t> pas modifier le stock. Un agent de production ne </a:t>
            </a:r>
            <a:r>
              <a:rPr dirty="0" err="1"/>
              <a:t>peut</a:t>
            </a:r>
            <a:r>
              <a:rPr dirty="0"/>
              <a:t> pas toucher aux ventes. Et seuls le </a:t>
            </a:r>
            <a:r>
              <a:rPr dirty="0" err="1"/>
              <a:t>gérant</a:t>
            </a:r>
            <a:r>
              <a:rPr dirty="0"/>
              <a:t> et le </a:t>
            </a:r>
            <a:r>
              <a:rPr dirty="0" err="1"/>
              <a:t>responsable</a:t>
            </a:r>
            <a:r>
              <a:rPr dirty="0"/>
              <a:t> des </a:t>
            </a:r>
            <a:r>
              <a:rPr dirty="0" err="1"/>
              <a:t>opérations</a:t>
            </a:r>
            <a:r>
              <a:rPr dirty="0"/>
              <a:t> </a:t>
            </a:r>
            <a:r>
              <a:rPr dirty="0" err="1"/>
              <a:t>ont</a:t>
            </a:r>
            <a:r>
              <a:rPr dirty="0"/>
              <a:t> </a:t>
            </a:r>
            <a:r>
              <a:rPr dirty="0" err="1"/>
              <a:t>accès</a:t>
            </a:r>
            <a:r>
              <a:rPr dirty="0"/>
              <a:t> aux données </a:t>
            </a:r>
            <a:r>
              <a:rPr dirty="0" err="1"/>
              <a:t>financières</a:t>
            </a:r>
            <a:r>
              <a:rPr dirty="0"/>
              <a:t> </a:t>
            </a:r>
            <a:r>
              <a:rPr dirty="0" err="1"/>
              <a:t>complètes</a:t>
            </a:r>
            <a:r>
              <a:rPr dirty="0"/>
              <a:t>.</a:t>
            </a:r>
          </a:p>
          <a:p>
            <a:endParaRPr dirty="0"/>
          </a:p>
          <a:p>
            <a:r>
              <a:rPr dirty="0"/>
              <a:t>Trois </a:t>
            </a:r>
            <a:r>
              <a:rPr dirty="0" err="1"/>
              <a:t>mesures</a:t>
            </a:r>
            <a:r>
              <a:rPr dirty="0"/>
              <a:t> de </a:t>
            </a:r>
            <a:r>
              <a:rPr dirty="0" err="1"/>
              <a:t>sécurité</a:t>
            </a:r>
            <a:r>
              <a:rPr dirty="0"/>
              <a:t> </a:t>
            </a:r>
            <a:r>
              <a:rPr dirty="0" err="1"/>
              <a:t>importantes</a:t>
            </a:r>
            <a:r>
              <a:rPr dirty="0"/>
              <a:t> : les mots de passe </a:t>
            </a:r>
            <a:r>
              <a:rPr dirty="0" err="1"/>
              <a:t>sont</a:t>
            </a:r>
            <a:r>
              <a:rPr dirty="0"/>
              <a:t> </a:t>
            </a:r>
            <a:r>
              <a:rPr dirty="0" err="1"/>
              <a:t>hachés</a:t>
            </a:r>
            <a:r>
              <a:rPr dirty="0"/>
              <a:t> avec </a:t>
            </a:r>
            <a:r>
              <a:rPr dirty="0" err="1"/>
              <a:t>Bcrypt</a:t>
            </a:r>
            <a:r>
              <a:rPr dirty="0"/>
              <a:t> — </a:t>
            </a:r>
            <a:r>
              <a:rPr dirty="0" err="1"/>
              <a:t>même</a:t>
            </a:r>
            <a:r>
              <a:rPr dirty="0"/>
              <a:t> </a:t>
            </a:r>
            <a:r>
              <a:rPr dirty="0" err="1"/>
              <a:t>si</a:t>
            </a:r>
            <a:r>
              <a:rPr dirty="0"/>
              <a:t> </a:t>
            </a:r>
            <a:r>
              <a:rPr dirty="0" err="1"/>
              <a:t>quelqu'un</a:t>
            </a:r>
            <a:r>
              <a:rPr dirty="0"/>
              <a:t> </a:t>
            </a:r>
            <a:r>
              <a:rPr dirty="0" err="1"/>
              <a:t>accède</a:t>
            </a:r>
            <a:r>
              <a:rPr dirty="0"/>
              <a:t> à la base, il ne </a:t>
            </a:r>
            <a:r>
              <a:rPr dirty="0" err="1"/>
              <a:t>peut</a:t>
            </a:r>
            <a:r>
              <a:rPr dirty="0"/>
              <a:t> pas </a:t>
            </a:r>
            <a:r>
              <a:rPr dirty="0" err="1"/>
              <a:t>retrouver</a:t>
            </a:r>
            <a:r>
              <a:rPr dirty="0"/>
              <a:t> les mots de passe. Le journal </a:t>
            </a:r>
            <a:r>
              <a:rPr dirty="0" err="1"/>
              <a:t>d'audit</a:t>
            </a:r>
            <a:r>
              <a:rPr dirty="0"/>
              <a:t> </a:t>
            </a:r>
            <a:r>
              <a:rPr dirty="0" err="1"/>
              <a:t>enregistre</a:t>
            </a:r>
            <a:r>
              <a:rPr dirty="0"/>
              <a:t> </a:t>
            </a:r>
            <a:r>
              <a:rPr dirty="0" err="1"/>
              <a:t>chaque</a:t>
            </a:r>
            <a:r>
              <a:rPr dirty="0"/>
              <a:t> action — </a:t>
            </a:r>
            <a:r>
              <a:rPr dirty="0" err="1"/>
              <a:t>chaque</a:t>
            </a:r>
            <a:r>
              <a:rPr dirty="0"/>
              <a:t> </a:t>
            </a:r>
            <a:r>
              <a:rPr dirty="0" err="1"/>
              <a:t>création</a:t>
            </a:r>
            <a:r>
              <a:rPr dirty="0"/>
              <a:t>, modification, suppression est </a:t>
            </a:r>
            <a:r>
              <a:rPr dirty="0" err="1"/>
              <a:t>tracée</a:t>
            </a:r>
            <a:r>
              <a:rPr dirty="0"/>
              <a:t> avec </a:t>
            </a:r>
            <a:r>
              <a:rPr dirty="0" err="1"/>
              <a:t>l'utilisateur</a:t>
            </a:r>
            <a:r>
              <a:rPr dirty="0"/>
              <a:t>, la date et </a:t>
            </a:r>
            <a:r>
              <a:rPr dirty="0" err="1"/>
              <a:t>l'adresse</a:t>
            </a:r>
            <a:r>
              <a:rPr dirty="0"/>
              <a:t> IP. Et </a:t>
            </a:r>
            <a:r>
              <a:rPr dirty="0" err="1"/>
              <a:t>toutes</a:t>
            </a:r>
            <a:r>
              <a:rPr dirty="0"/>
              <a:t> les communications </a:t>
            </a:r>
            <a:r>
              <a:rPr dirty="0" err="1"/>
              <a:t>sont</a:t>
            </a:r>
            <a:r>
              <a:rPr dirty="0"/>
              <a:t> </a:t>
            </a:r>
            <a:r>
              <a:rPr dirty="0" err="1"/>
              <a:t>chiffrées</a:t>
            </a:r>
            <a:r>
              <a:rPr dirty="0"/>
              <a:t> </a:t>
            </a:r>
            <a:r>
              <a:rPr dirty="0" err="1"/>
              <a:t>en</a:t>
            </a:r>
            <a:r>
              <a:rPr dirty="0"/>
              <a:t> HTTPS.</a:t>
            </a:r>
          </a:p>
          <a:p>
            <a:endParaRPr dirty="0"/>
          </a:p>
          <a:p>
            <a:r>
              <a:rPr dirty="0" err="1"/>
              <a:t>C'est</a:t>
            </a:r>
            <a:r>
              <a:rPr dirty="0"/>
              <a:t> un </a:t>
            </a:r>
            <a:r>
              <a:rPr dirty="0" err="1"/>
              <a:t>niveau</a:t>
            </a:r>
            <a:r>
              <a:rPr dirty="0"/>
              <a:t> de </a:t>
            </a:r>
            <a:r>
              <a:rPr dirty="0" err="1"/>
              <a:t>sécurité</a:t>
            </a:r>
            <a:r>
              <a:rPr dirty="0"/>
              <a:t> </a:t>
            </a:r>
            <a:r>
              <a:rPr dirty="0" err="1"/>
              <a:t>professionnel</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outil n'est utile que si on peut en sortir les données facilement. J'ai développé 6 exports Excel et 2 rapports PDF.</a:t>
            </a:r>
          </a:p>
          <a:p>
            <a:endParaRPr/>
          </a:p>
          <a:p>
            <a:r>
              <a:t>Les exports Excel couvrent toutes les données clés : ventes, lots, clients, charges, caisses, et une photo du stock. Les ventes, lots, charges et caisses sont filtrables par période — on peut exporter les ventes du mois de janvier par exemple.</a:t>
            </a:r>
          </a:p>
          <a:p>
            <a:endParaRPr/>
          </a:p>
          <a:p>
            <a:r>
              <a:t>Côté PDF, on a le reçu de vente — imprimable pour le client — et le rapport de caisse journalier avec tout le détail des encaissements, décaissements, et les zones de signature.</a:t>
            </a:r>
          </a:p>
          <a:p>
            <a:endParaRPr/>
          </a:p>
          <a:p>
            <a:r>
              <a:t>J'ai aussi prévu l'import Excel pour charger rapidement des listes de clients existants dans le système, ce qui va nous faire gagner beaucoup de temps au démarrage.</a:t>
            </a:r>
          </a:p>
          <a:p>
            <a:endParaRPr/>
          </a:p>
          <a:p>
            <a:r>
              <a:t>Tout se fait en un clic, directement depuis l'interface.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fiabilité, c'est ce qui sépare un vrai outil professionnel d'un bricolage.</a:t>
            </a:r>
          </a:p>
          <a:p>
            <a:endParaRPr/>
          </a:p>
          <a:p>
            <a:r>
              <a:t>Les sauvegardes sont entièrement automatisées. Chaque nuit à 2 heures, la base de données est sauvegardée. Chaque dimanche, un backup complet est fait. Si un backup échoue, une alerte est envoyée. Et les anciens backups sont nettoyés automatiquement. Je n'ai pas attendu la mise en production pour penser à ça — c'est intégré dès le départ.</a:t>
            </a:r>
          </a:p>
          <a:p>
            <a:endParaRPr/>
          </a:p>
          <a:p>
            <a:r>
              <a:t>Les 27 tests automatisés que j'ai écrits couvrent tous les calculs critiques. À chaque mise à jour de l'application, ces tests s'exécutent et vérifient que rien n'est cassé. C'est une pratique professionnelle que j'ai mise en place pour garantir la qualité dans la durée.</a:t>
            </a:r>
          </a:p>
          <a:p>
            <a:endParaRPr/>
          </a:p>
          <a:p>
            <a:r>
              <a:t>Côté hébergement, un VPS à 15 000 francs par mois suffit largement. Et j'ai optimisé les requêtes pour que tout reste fluide même quand les données grossissent.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Voici</a:t>
            </a:r>
            <a:r>
              <a:rPr dirty="0"/>
              <a:t> </a:t>
            </a:r>
            <a:r>
              <a:rPr dirty="0" err="1"/>
              <a:t>où</a:t>
            </a:r>
            <a:r>
              <a:rPr dirty="0"/>
              <a:t> </a:t>
            </a:r>
            <a:r>
              <a:rPr dirty="0" err="1"/>
              <a:t>en</a:t>
            </a:r>
            <a:r>
              <a:rPr dirty="0"/>
              <a:t> est le </a:t>
            </a:r>
            <a:r>
              <a:rPr dirty="0" err="1"/>
              <a:t>projet</a:t>
            </a:r>
            <a:r>
              <a:rPr dirty="0"/>
              <a:t>. Sur les 14 </a:t>
            </a:r>
            <a:r>
              <a:rPr dirty="0" err="1"/>
              <a:t>semaines</a:t>
            </a:r>
            <a:r>
              <a:rPr dirty="0"/>
              <a:t> </a:t>
            </a:r>
            <a:r>
              <a:rPr dirty="0" err="1"/>
              <a:t>prévues</a:t>
            </a:r>
            <a:r>
              <a:rPr dirty="0"/>
              <a:t> dans le planning initial, 12 </a:t>
            </a:r>
            <a:r>
              <a:rPr dirty="0" err="1"/>
              <a:t>sont</a:t>
            </a:r>
            <a:r>
              <a:rPr dirty="0"/>
              <a:t> </a:t>
            </a:r>
            <a:r>
              <a:rPr dirty="0" err="1"/>
              <a:t>terminées</a:t>
            </a:r>
            <a:r>
              <a:rPr dirty="0"/>
              <a:t>. On est à 86% </a:t>
            </a:r>
            <a:r>
              <a:rPr dirty="0" err="1"/>
              <a:t>d'avancement</a:t>
            </a:r>
            <a:r>
              <a:rPr dirty="0"/>
              <a:t>.</a:t>
            </a:r>
          </a:p>
          <a:p>
            <a:endParaRPr dirty="0"/>
          </a:p>
          <a:p>
            <a:r>
              <a:rPr lang="fr-FR" dirty="0"/>
              <a:t>C</a:t>
            </a:r>
            <a:r>
              <a:rPr dirty="0"/>
              <a:t>e planning </a:t>
            </a:r>
            <a:r>
              <a:rPr dirty="0" err="1"/>
              <a:t>était</a:t>
            </a:r>
            <a:r>
              <a:rPr dirty="0"/>
              <a:t> </a:t>
            </a:r>
            <a:r>
              <a:rPr dirty="0" err="1"/>
              <a:t>ambitieux</a:t>
            </a:r>
            <a:r>
              <a:rPr dirty="0"/>
              <a:t>. 9 modules métier </a:t>
            </a:r>
            <a:r>
              <a:rPr dirty="0" err="1"/>
              <a:t>complets</a:t>
            </a:r>
            <a:r>
              <a:rPr dirty="0"/>
              <a:t>, des dashboards, des exports, des tests, la documentation, le </a:t>
            </a:r>
            <a:r>
              <a:rPr dirty="0" err="1"/>
              <a:t>déploiement</a:t>
            </a:r>
            <a:r>
              <a:rPr dirty="0"/>
              <a:t> — tout </a:t>
            </a:r>
            <a:r>
              <a:rPr dirty="0" err="1"/>
              <a:t>ça</a:t>
            </a:r>
            <a:r>
              <a:rPr dirty="0"/>
              <a:t> a </a:t>
            </a:r>
            <a:r>
              <a:rPr dirty="0" err="1"/>
              <a:t>été</a:t>
            </a:r>
            <a:r>
              <a:rPr dirty="0"/>
              <a:t> </a:t>
            </a:r>
            <a:r>
              <a:rPr dirty="0" err="1"/>
              <a:t>livré</a:t>
            </a:r>
            <a:r>
              <a:rPr dirty="0"/>
              <a:t> dans les </a:t>
            </a:r>
            <a:r>
              <a:rPr dirty="0" err="1"/>
              <a:t>délais</a:t>
            </a:r>
            <a:r>
              <a:rPr dirty="0"/>
              <a:t> </a:t>
            </a:r>
            <a:r>
              <a:rPr dirty="0" err="1"/>
              <a:t>que</a:t>
            </a:r>
            <a:r>
              <a:rPr dirty="0"/>
              <a:t> </a:t>
            </a:r>
            <a:r>
              <a:rPr dirty="0" err="1"/>
              <a:t>j'avais</a:t>
            </a:r>
            <a:r>
              <a:rPr dirty="0"/>
              <a:t> </a:t>
            </a:r>
            <a:r>
              <a:rPr dirty="0" err="1"/>
              <a:t>définis</a:t>
            </a:r>
            <a:r>
              <a:rPr dirty="0"/>
              <a:t>.</a:t>
            </a:r>
          </a:p>
          <a:p>
            <a:endParaRPr dirty="0"/>
          </a:p>
          <a:p>
            <a:r>
              <a:rPr dirty="0"/>
              <a:t>Les 12 phases </a:t>
            </a:r>
            <a:r>
              <a:rPr dirty="0" err="1"/>
              <a:t>vertes</a:t>
            </a:r>
            <a:r>
              <a:rPr dirty="0"/>
              <a:t> </a:t>
            </a:r>
            <a:r>
              <a:rPr dirty="0" err="1"/>
              <a:t>que</a:t>
            </a:r>
            <a:r>
              <a:rPr dirty="0"/>
              <a:t> vous </a:t>
            </a:r>
            <a:r>
              <a:rPr dirty="0" err="1"/>
              <a:t>voyez</a:t>
            </a:r>
            <a:r>
              <a:rPr dirty="0"/>
              <a:t> à gauche </a:t>
            </a:r>
            <a:r>
              <a:rPr dirty="0" err="1"/>
              <a:t>représentent</a:t>
            </a:r>
            <a:r>
              <a:rPr dirty="0"/>
              <a:t> un travail </a:t>
            </a:r>
            <a:r>
              <a:rPr dirty="0" err="1"/>
              <a:t>conséquent</a:t>
            </a:r>
            <a:r>
              <a:rPr dirty="0"/>
              <a:t> : </a:t>
            </a:r>
            <a:r>
              <a:rPr dirty="0" err="1"/>
              <a:t>l'analyse</a:t>
            </a:r>
            <a:r>
              <a:rPr dirty="0"/>
              <a:t> des </a:t>
            </a:r>
            <a:r>
              <a:rPr dirty="0" err="1"/>
              <a:t>besoins</a:t>
            </a:r>
            <a:r>
              <a:rPr dirty="0"/>
              <a:t>, la conception de la base de données, le </a:t>
            </a:r>
            <a:r>
              <a:rPr dirty="0" err="1"/>
              <a:t>développement</a:t>
            </a:r>
            <a:r>
              <a:rPr dirty="0"/>
              <a:t> de </a:t>
            </a:r>
            <a:r>
              <a:rPr dirty="0" err="1"/>
              <a:t>chaque</a:t>
            </a:r>
            <a:r>
              <a:rPr dirty="0"/>
              <a:t> module, les tests, </a:t>
            </a:r>
            <a:r>
              <a:rPr dirty="0" err="1"/>
              <a:t>l'optimisation</a:t>
            </a:r>
            <a:r>
              <a:rPr dirty="0"/>
              <a:t>, et la </a:t>
            </a:r>
            <a:r>
              <a:rPr dirty="0" err="1"/>
              <a:t>préparation</a:t>
            </a:r>
            <a:r>
              <a:rPr dirty="0"/>
              <a:t> au </a:t>
            </a:r>
            <a:r>
              <a:rPr dirty="0" err="1"/>
              <a:t>déploiement</a:t>
            </a:r>
            <a:r>
              <a:rPr dirty="0"/>
              <a:t>.</a:t>
            </a:r>
          </a:p>
          <a:p>
            <a:endParaRPr dirty="0"/>
          </a:p>
          <a:p>
            <a:r>
              <a:rPr dirty="0"/>
              <a:t>Il nous </a:t>
            </a:r>
            <a:r>
              <a:rPr dirty="0" err="1"/>
              <a:t>reste</a:t>
            </a:r>
            <a:r>
              <a:rPr dirty="0"/>
              <a:t> les phases 13 et 14 — la </a:t>
            </a:r>
            <a:r>
              <a:rPr dirty="0" err="1"/>
              <a:t>stabilisation</a:t>
            </a:r>
            <a:r>
              <a:rPr dirty="0"/>
              <a:t> terrain. </a:t>
            </a:r>
            <a:r>
              <a:rPr dirty="0" err="1"/>
              <a:t>C'est</a:t>
            </a:r>
            <a:r>
              <a:rPr dirty="0"/>
              <a:t> la </a:t>
            </a:r>
            <a:r>
              <a:rPr dirty="0" err="1"/>
              <a:t>période</a:t>
            </a:r>
            <a:r>
              <a:rPr dirty="0"/>
              <a:t> </a:t>
            </a:r>
            <a:r>
              <a:rPr dirty="0" err="1"/>
              <a:t>où</a:t>
            </a:r>
            <a:r>
              <a:rPr dirty="0"/>
              <a:t> on </a:t>
            </a:r>
            <a:r>
              <a:rPr dirty="0" err="1"/>
              <a:t>forme</a:t>
            </a:r>
            <a:r>
              <a:rPr dirty="0"/>
              <a:t> les équipes, on </a:t>
            </a:r>
            <a:r>
              <a:rPr dirty="0" err="1"/>
              <a:t>recueille</a:t>
            </a:r>
            <a:r>
              <a:rPr dirty="0"/>
              <a:t> les retours, et on </a:t>
            </a:r>
            <a:r>
              <a:rPr dirty="0" err="1"/>
              <a:t>ajuste</a:t>
            </a:r>
            <a:r>
              <a:rPr dirty="0"/>
              <a:t>. </a:t>
            </a:r>
            <a:r>
              <a:rPr dirty="0" err="1"/>
              <a:t>C'est</a:t>
            </a:r>
            <a:r>
              <a:rPr dirty="0"/>
              <a:t> </a:t>
            </a:r>
            <a:r>
              <a:rPr dirty="0" err="1"/>
              <a:t>une</a:t>
            </a:r>
            <a:r>
              <a:rPr dirty="0"/>
              <a:t> étape </a:t>
            </a:r>
            <a:r>
              <a:rPr dirty="0" err="1"/>
              <a:t>normale</a:t>
            </a:r>
            <a:r>
              <a:rPr dirty="0"/>
              <a:t> et </a:t>
            </a:r>
            <a:r>
              <a:rPr dirty="0" err="1"/>
              <a:t>prévue</a:t>
            </a:r>
            <a:r>
              <a:rPr dirty="0"/>
              <a:t> dans tout </a:t>
            </a:r>
            <a:r>
              <a:rPr dirty="0" err="1"/>
              <a:t>projet</a:t>
            </a:r>
            <a:r>
              <a:rPr dirty="0"/>
              <a:t> </a:t>
            </a:r>
            <a:r>
              <a:rPr dirty="0" err="1"/>
              <a:t>sérieux</a:t>
            </a:r>
            <a:r>
              <a:rPr dirty="0"/>
              <a:t>.</a:t>
            </a:r>
          </a:p>
          <a:p>
            <a:endParaRPr dirty="0"/>
          </a:p>
          <a:p>
            <a:r>
              <a:rPr dirty="0"/>
              <a:t>Je suis </a:t>
            </a:r>
            <a:r>
              <a:rPr dirty="0" err="1"/>
              <a:t>confiant</a:t>
            </a:r>
            <a:r>
              <a:rPr dirty="0"/>
              <a:t> sur le respect du </a:t>
            </a:r>
            <a:r>
              <a:rPr dirty="0" err="1"/>
              <a:t>calendrier</a:t>
            </a:r>
            <a:r>
              <a:rPr dirty="0"/>
              <a:t> final.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la mise en service, j'ai préparé une documentation complète : un guide utilisateur qui explique chaque fonctionnalité pas à pas, et un guide technique pour le déploiement et la maintenance du serveur.</a:t>
            </a:r>
          </a:p>
          <a:p>
            <a:endParaRPr/>
          </a:p>
          <a:p>
            <a:r>
              <a:t>Je recommande 4 sessions de formation ciblées — une par profil. Pas besoin de former tout le monde à tout : chaque équipe apprend uniquement ce qui la concerne. C'est plus efficace et ça va plus vite.</a:t>
            </a:r>
          </a:p>
          <a:p>
            <a:endParaRPr/>
          </a:p>
          <a:p>
            <a:r>
              <a:t>Un point fort de l'application : elle est 100% web. Rien à installer sur les postes ou les téléphones. On ouvre le navigateur, on se connecte, et c'est parti. Les commerciaux sur le terrain — Hector, Niamke, Jessy, Yves, Evelyne — pourront saisir leurs ventes directement depuis leur téléphone. Plus besoin d'attendre le retour au bureau.</a:t>
            </a:r>
          </a:p>
          <a:p>
            <a:endParaRPr/>
          </a:p>
          <a:p>
            <a:r>
              <a:t>Je resterai disponible pour le support et la maintenance post-déploiement, pour accompagner la transition et traiter les remontées du terrain.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conclure.</a:t>
            </a:r>
          </a:p>
          <a:p>
            <a:endParaRPr/>
          </a:p>
          <a:p>
            <a:r>
              <a:t>CHAPCHAP, c'est une application complète, fiable, et surtout conçue pour notre métier. Ce n'est pas un logiciel générique qu'on a essayé d'adapter — c'est un outil sur mesure, pensé à partir de nos processus réels, de nos produits, de nos clients, de notre façon de travailler.</a:t>
            </a:r>
          </a:p>
          <a:p>
            <a:endParaRPr/>
          </a:p>
          <a:p>
            <a:r>
              <a:t>De l'achat du poulet vivant chez OVECH RANCH jusqu'à l'encaissement en caisse chez nos clients, tout est connecté, tout est tracé, tout est automatisé.</a:t>
            </a:r>
          </a:p>
          <a:p>
            <a:endParaRPr/>
          </a:p>
          <a:p>
            <a:r>
              <a:t>C'est un projet que j'ai porté de A à Z — de l'analyse initiale des besoins jusqu'au déploiement — et je suis fier de la qualité du résultat. L'application est prête. Il nous reste la formation et la stabilisation terrain, et nous serons pleinement opérationnels.</a:t>
            </a:r>
          </a:p>
          <a:p>
            <a:endParaRPr/>
          </a:p>
          <a:p>
            <a:r>
              <a:t>Je suis disponible pour vos questions.</a:t>
            </a:r>
          </a:p>
          <a:p>
            <a:endParaRPr/>
          </a:p>
          <a:p>
            <a:r>
              <a:t>Merci de votre attention.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chapchap.jpeg"/>
          <p:cNvPicPr>
            <a:picLocks noChangeAspect="1"/>
          </p:cNvPicPr>
          <p:nvPr/>
        </p:nvPicPr>
        <p:blipFill>
          <a:blip r:embed="rId3"/>
          <a:stretch>
            <a:fillRect/>
          </a:stretch>
        </p:blipFill>
        <p:spPr>
          <a:xfrm>
            <a:off x="4815687" y="731520"/>
            <a:ext cx="2560320" cy="2540318"/>
          </a:xfrm>
          <a:prstGeom prst="foldedCorner">
            <a:avLst/>
          </a:prstGeom>
        </p:spPr>
      </p:pic>
      <p:sp>
        <p:nvSpPr>
          <p:cNvPr id="4" name="TextBox 3"/>
          <p:cNvSpPr txBox="1"/>
          <p:nvPr/>
        </p:nvSpPr>
        <p:spPr>
          <a:xfrm>
            <a:off x="0" y="3383280"/>
            <a:ext cx="12191695" cy="457200"/>
          </a:xfrm>
          <a:prstGeom prst="rect">
            <a:avLst/>
          </a:prstGeom>
          <a:noFill/>
        </p:spPr>
        <p:txBody>
          <a:bodyPr wrap="square">
            <a:spAutoFit/>
          </a:bodyPr>
          <a:lstStyle/>
          <a:p>
            <a:pPr algn="ctr">
              <a:defRPr sz="2600" b="0">
                <a:solidFill>
                  <a:srgbClr val="FFFFFF"/>
                </a:solidFill>
                <a:latin typeface="Calibri"/>
              </a:defRPr>
            </a:pPr>
            <a:r>
              <a:t>Application de Gestion Intégrée</a:t>
            </a:r>
          </a:p>
        </p:txBody>
      </p:sp>
      <p:sp>
        <p:nvSpPr>
          <p:cNvPr id="5" name="TextBox 4"/>
          <p:cNvSpPr txBox="1"/>
          <p:nvPr/>
        </p:nvSpPr>
        <p:spPr>
          <a:xfrm>
            <a:off x="1828800" y="3931920"/>
            <a:ext cx="8534095" cy="365760"/>
          </a:xfrm>
          <a:prstGeom prst="rect">
            <a:avLst/>
          </a:prstGeom>
          <a:noFill/>
        </p:spPr>
        <p:txBody>
          <a:bodyPr wrap="square">
            <a:spAutoFit/>
          </a:bodyPr>
          <a:lstStyle/>
          <a:p>
            <a:pPr algn="ctr">
              <a:defRPr sz="1600" b="0">
                <a:solidFill>
                  <a:srgbClr val="64748B"/>
                </a:solidFill>
                <a:latin typeface="Calibri"/>
              </a:defRPr>
            </a:pPr>
            <a:r>
              <a:t>Abattage  •  Découpe  •  Stock  •  Ventes  •  Trésorerie</a:t>
            </a:r>
          </a:p>
        </p:txBody>
      </p:sp>
      <p:sp>
        <p:nvSpPr>
          <p:cNvPr id="6" name="Rectangle 5"/>
          <p:cNvSpPr/>
          <p:nvPr/>
        </p:nvSpPr>
        <p:spPr>
          <a:xfrm>
            <a:off x="5029200" y="4572000"/>
            <a:ext cx="2133295" cy="2743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0" y="4846320"/>
            <a:ext cx="12191695" cy="320040"/>
          </a:xfrm>
          <a:prstGeom prst="rect">
            <a:avLst/>
          </a:prstGeom>
          <a:noFill/>
        </p:spPr>
        <p:txBody>
          <a:bodyPr wrap="square">
            <a:spAutoFit/>
          </a:bodyPr>
          <a:lstStyle/>
          <a:p>
            <a:pPr algn="ctr">
              <a:defRPr sz="1400" b="0">
                <a:solidFill>
                  <a:srgbClr val="64748B"/>
                </a:solidFill>
                <a:latin typeface="Calibri"/>
              </a:defRPr>
            </a:pPr>
            <a:r>
              <a:t>Présentation Direction — Février 2026</a:t>
            </a:r>
          </a:p>
        </p:txBody>
      </p:sp>
      <p:sp>
        <p:nvSpPr>
          <p:cNvPr id="8" name="TextBox 7"/>
          <p:cNvSpPr txBox="1"/>
          <p:nvPr/>
        </p:nvSpPr>
        <p:spPr>
          <a:xfrm>
            <a:off x="0" y="5257800"/>
            <a:ext cx="12191695" cy="274320"/>
          </a:xfrm>
          <a:prstGeom prst="rect">
            <a:avLst/>
          </a:prstGeom>
          <a:noFill/>
        </p:spPr>
        <p:txBody>
          <a:bodyPr wrap="square">
            <a:spAutoFit/>
          </a:bodyPr>
          <a:lstStyle/>
          <a:p>
            <a:pPr algn="ctr">
              <a:defRPr sz="1200" b="0">
                <a:solidFill>
                  <a:srgbClr val="555577"/>
                </a:solidFill>
                <a:latin typeface="Calibri"/>
              </a:defRPr>
            </a:pPr>
            <a:r>
              <a:t>Conception, architecture et développement : Patrick TETCHI</a:t>
            </a:r>
          </a:p>
        </p:txBody>
      </p:sp>
      <p:sp>
        <p:nvSpPr>
          <p:cNvPr id="9" name="Rectangle 8"/>
          <p:cNvSpPr/>
          <p:nvPr/>
        </p:nvSpPr>
        <p:spPr>
          <a:xfrm>
            <a:off x="0" y="6803136"/>
            <a:ext cx="12191695"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3657600" cy="320040"/>
          </a:xfrm>
          <a:prstGeom prst="rect">
            <a:avLst/>
          </a:prstGeom>
          <a:noFill/>
        </p:spPr>
        <p:txBody>
          <a:bodyPr wrap="square">
            <a:spAutoFit/>
          </a:bodyPr>
          <a:lstStyle/>
          <a:p>
            <a:pPr algn="l">
              <a:defRPr sz="1100" b="1">
                <a:solidFill>
                  <a:srgbClr val="F97316"/>
                </a:solidFill>
                <a:latin typeface="Calibri"/>
              </a:defRPr>
            </a:pPr>
            <a:r>
              <a:t>CONTEXTE</a:t>
            </a:r>
          </a:p>
        </p:txBody>
      </p:sp>
      <p:sp>
        <p:nvSpPr>
          <p:cNvPr id="3" name="TextBox 2"/>
          <p:cNvSpPr txBox="1"/>
          <p:nvPr/>
        </p:nvSpPr>
        <p:spPr>
          <a:xfrm>
            <a:off x="731520" y="777240"/>
            <a:ext cx="9144000" cy="640080"/>
          </a:xfrm>
          <a:prstGeom prst="rect">
            <a:avLst/>
          </a:prstGeom>
          <a:noFill/>
        </p:spPr>
        <p:txBody>
          <a:bodyPr wrap="square">
            <a:spAutoFit/>
          </a:bodyPr>
          <a:lstStyle/>
          <a:p>
            <a:pPr algn="l">
              <a:defRPr sz="3200" b="1">
                <a:solidFill>
                  <a:srgbClr val="1E293B"/>
                </a:solidFill>
                <a:latin typeface="Calibri"/>
              </a:defRPr>
            </a:pPr>
            <a:r>
              <a:t>Le problème aujourd'hui</a:t>
            </a:r>
          </a:p>
        </p:txBody>
      </p:sp>
      <p:sp>
        <p:nvSpPr>
          <p:cNvPr id="4" name="Rectangle 3"/>
          <p:cNvSpPr/>
          <p:nvPr/>
        </p:nvSpPr>
        <p:spPr>
          <a:xfrm>
            <a:off x="0" y="6784848"/>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645920"/>
            <a:ext cx="5120640" cy="201168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645920"/>
            <a:ext cx="54864" cy="201168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737360"/>
            <a:ext cx="4572000" cy="320040"/>
          </a:xfrm>
          <a:prstGeom prst="rect">
            <a:avLst/>
          </a:prstGeom>
          <a:noFill/>
        </p:spPr>
        <p:txBody>
          <a:bodyPr wrap="square">
            <a:spAutoFit/>
          </a:bodyPr>
          <a:lstStyle/>
          <a:p>
            <a:pPr algn="l">
              <a:defRPr sz="1600" b="1">
                <a:solidFill>
                  <a:srgbClr val="1E293B"/>
                </a:solidFill>
                <a:latin typeface="Calibri"/>
              </a:defRPr>
            </a:pPr>
            <a:r>
              <a:t>Suivi manuel et fragmenté</a:t>
            </a:r>
          </a:p>
        </p:txBody>
      </p:sp>
      <p:sp>
        <p:nvSpPr>
          <p:cNvPr id="9" name="TextBox 8"/>
          <p:cNvSpPr txBox="1"/>
          <p:nvPr/>
        </p:nvSpPr>
        <p:spPr>
          <a:xfrm>
            <a:off x="1005840" y="2103120"/>
            <a:ext cx="4572000" cy="1371600"/>
          </a:xfrm>
          <a:prstGeom prst="rect">
            <a:avLst/>
          </a:prstGeom>
          <a:noFill/>
        </p:spPr>
        <p:txBody>
          <a:bodyPr wrap="square">
            <a:spAutoFit/>
          </a:bodyPr>
          <a:lstStyle/>
          <a:p>
            <a:pPr>
              <a:spcAft>
                <a:spcPts val="300"/>
              </a:spcAft>
            </a:pPr>
            <a:r>
              <a:rPr sz="1200" b="1">
                <a:solidFill>
                  <a:srgbClr val="F97316"/>
                </a:solidFill>
                <a:latin typeface="Calibri"/>
              </a:rPr>
              <a:t>→ </a:t>
            </a:r>
            <a:r>
              <a:rPr sz="1200">
                <a:solidFill>
                  <a:srgbClr val="64748B"/>
                </a:solidFill>
                <a:latin typeface="Calibri"/>
              </a:rPr>
              <a:t>Cahiers et fiches papier pour les lots, ventes, caisse</a:t>
            </a:r>
          </a:p>
          <a:p>
            <a:pPr>
              <a:spcAft>
                <a:spcPts val="300"/>
              </a:spcAft>
            </a:pPr>
            <a:r>
              <a:rPr sz="1200" b="1">
                <a:solidFill>
                  <a:srgbClr val="F97316"/>
                </a:solidFill>
                <a:latin typeface="Calibri"/>
              </a:rPr>
              <a:t>→ </a:t>
            </a:r>
            <a:r>
              <a:rPr sz="1200">
                <a:solidFill>
                  <a:srgbClr val="64748B"/>
                </a:solidFill>
                <a:latin typeface="Calibri"/>
              </a:rPr>
              <a:t>Pas de visibilité temps réel sur le stock</a:t>
            </a:r>
          </a:p>
          <a:p>
            <a:pPr>
              <a:spcAft>
                <a:spcPts val="300"/>
              </a:spcAft>
            </a:pPr>
            <a:r>
              <a:rPr sz="1200" b="1">
                <a:solidFill>
                  <a:srgbClr val="F97316"/>
                </a:solidFill>
                <a:latin typeface="Calibri"/>
              </a:rPr>
              <a:t>→ </a:t>
            </a:r>
            <a:r>
              <a:rPr sz="1200">
                <a:solidFill>
                  <a:srgbClr val="64748B"/>
                </a:solidFill>
                <a:latin typeface="Calibri"/>
              </a:rPr>
              <a:t>Difficulté à suivre les impayés clients</a:t>
            </a:r>
          </a:p>
          <a:p>
            <a:pPr>
              <a:spcAft>
                <a:spcPts val="300"/>
              </a:spcAft>
            </a:pPr>
            <a:r>
              <a:rPr sz="1200" b="1">
                <a:solidFill>
                  <a:srgbClr val="F97316"/>
                </a:solidFill>
                <a:latin typeface="Calibri"/>
              </a:rPr>
              <a:t>→ </a:t>
            </a:r>
            <a:r>
              <a:rPr sz="1200">
                <a:solidFill>
                  <a:srgbClr val="64748B"/>
                </a:solidFill>
                <a:latin typeface="Calibri"/>
              </a:rPr>
              <a:t>Aucun calcul automatique des marges</a:t>
            </a:r>
          </a:p>
        </p:txBody>
      </p:sp>
      <p:sp>
        <p:nvSpPr>
          <p:cNvPr id="10" name="Rounded Rectangle 9"/>
          <p:cNvSpPr/>
          <p:nvPr/>
        </p:nvSpPr>
        <p:spPr>
          <a:xfrm>
            <a:off x="731520" y="3840480"/>
            <a:ext cx="5120640" cy="182880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840480"/>
            <a:ext cx="54864" cy="18288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3931920"/>
            <a:ext cx="4572000" cy="320040"/>
          </a:xfrm>
          <a:prstGeom prst="rect">
            <a:avLst/>
          </a:prstGeom>
          <a:noFill/>
        </p:spPr>
        <p:txBody>
          <a:bodyPr wrap="square">
            <a:spAutoFit/>
          </a:bodyPr>
          <a:lstStyle/>
          <a:p>
            <a:pPr algn="l">
              <a:defRPr sz="1600" b="1">
                <a:solidFill>
                  <a:srgbClr val="1E293B"/>
                </a:solidFill>
                <a:latin typeface="Calibri"/>
              </a:defRPr>
            </a:pPr>
            <a:r>
              <a:t>Risques identifiés</a:t>
            </a:r>
          </a:p>
        </p:txBody>
      </p:sp>
      <p:sp>
        <p:nvSpPr>
          <p:cNvPr id="13" name="TextBox 12"/>
          <p:cNvSpPr txBox="1"/>
          <p:nvPr/>
        </p:nvSpPr>
        <p:spPr>
          <a:xfrm>
            <a:off x="1005840" y="4251960"/>
            <a:ext cx="4572000" cy="1188720"/>
          </a:xfrm>
          <a:prstGeom prst="rect">
            <a:avLst/>
          </a:prstGeom>
          <a:noFill/>
        </p:spPr>
        <p:txBody>
          <a:bodyPr wrap="square">
            <a:spAutoFit/>
          </a:bodyPr>
          <a:lstStyle/>
          <a:p>
            <a:pPr>
              <a:spcAft>
                <a:spcPts val="300"/>
              </a:spcAft>
            </a:pPr>
            <a:r>
              <a:rPr sz="1200" b="1">
                <a:solidFill>
                  <a:srgbClr val="F97316"/>
                </a:solidFill>
                <a:latin typeface="Calibri"/>
              </a:rPr>
              <a:t>→ </a:t>
            </a:r>
            <a:r>
              <a:rPr sz="1200">
                <a:solidFill>
                  <a:srgbClr val="64748B"/>
                </a:solidFill>
                <a:latin typeface="Calibri"/>
              </a:rPr>
              <a:t>Écarts de caisse non détectés</a:t>
            </a:r>
          </a:p>
          <a:p>
            <a:pPr>
              <a:spcAft>
                <a:spcPts val="300"/>
              </a:spcAft>
            </a:pPr>
            <a:r>
              <a:rPr sz="1200" b="1">
                <a:solidFill>
                  <a:srgbClr val="F97316"/>
                </a:solidFill>
                <a:latin typeface="Calibri"/>
              </a:rPr>
              <a:t>→ </a:t>
            </a:r>
            <a:r>
              <a:rPr sz="1200">
                <a:solidFill>
                  <a:srgbClr val="64748B"/>
                </a:solidFill>
                <a:latin typeface="Calibri"/>
              </a:rPr>
              <a:t>Pertes de stock non tracées</a:t>
            </a:r>
          </a:p>
          <a:p>
            <a:pPr>
              <a:spcAft>
                <a:spcPts val="300"/>
              </a:spcAft>
            </a:pPr>
            <a:r>
              <a:rPr sz="1200" b="1">
                <a:solidFill>
                  <a:srgbClr val="F97316"/>
                </a:solidFill>
                <a:latin typeface="Calibri"/>
              </a:rPr>
              <a:t>→ </a:t>
            </a:r>
            <a:r>
              <a:rPr sz="1200">
                <a:solidFill>
                  <a:srgbClr val="64748B"/>
                </a:solidFill>
                <a:latin typeface="Calibri"/>
              </a:rPr>
              <a:t>Crédits clients oubliés</a:t>
            </a:r>
          </a:p>
          <a:p>
            <a:pPr>
              <a:spcAft>
                <a:spcPts val="300"/>
              </a:spcAft>
            </a:pPr>
            <a:r>
              <a:rPr sz="1200" b="1">
                <a:solidFill>
                  <a:srgbClr val="F97316"/>
                </a:solidFill>
                <a:latin typeface="Calibri"/>
              </a:rPr>
              <a:t>→ </a:t>
            </a:r>
            <a:r>
              <a:rPr sz="1200">
                <a:solidFill>
                  <a:srgbClr val="64748B"/>
                </a:solidFill>
                <a:latin typeface="Calibri"/>
              </a:rPr>
              <a:t>Pas de traçabilité des opérations</a:t>
            </a:r>
          </a:p>
        </p:txBody>
      </p:sp>
      <p:sp>
        <p:nvSpPr>
          <p:cNvPr id="14" name="Rounded Rectangle 13"/>
          <p:cNvSpPr/>
          <p:nvPr/>
        </p:nvSpPr>
        <p:spPr>
          <a:xfrm>
            <a:off x="6217920" y="1645920"/>
            <a:ext cx="5212080" cy="164592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92240" y="1783080"/>
            <a:ext cx="4663440" cy="320040"/>
          </a:xfrm>
          <a:prstGeom prst="rect">
            <a:avLst/>
          </a:prstGeom>
          <a:noFill/>
        </p:spPr>
        <p:txBody>
          <a:bodyPr wrap="square">
            <a:spAutoFit/>
          </a:bodyPr>
          <a:lstStyle/>
          <a:p>
            <a:pPr algn="l">
              <a:defRPr sz="1800" b="1">
                <a:solidFill>
                  <a:srgbClr val="FFFFFF"/>
                </a:solidFill>
                <a:latin typeface="Calibri"/>
              </a:defRPr>
            </a:pPr>
            <a:r>
              <a:t>L'objectif de CHAPCHAP</a:t>
            </a:r>
          </a:p>
        </p:txBody>
      </p:sp>
      <p:sp>
        <p:nvSpPr>
          <p:cNvPr id="16" name="TextBox 15"/>
          <p:cNvSpPr txBox="1"/>
          <p:nvPr/>
        </p:nvSpPr>
        <p:spPr>
          <a:xfrm>
            <a:off x="6492240" y="2194560"/>
            <a:ext cx="4663440" cy="914400"/>
          </a:xfrm>
          <a:prstGeom prst="rect">
            <a:avLst/>
          </a:prstGeom>
          <a:noFill/>
        </p:spPr>
        <p:txBody>
          <a:bodyPr wrap="square">
            <a:spAutoFit/>
          </a:bodyPr>
          <a:lstStyle/>
          <a:p>
            <a:pPr algn="l">
              <a:defRPr sz="1300" b="0">
                <a:solidFill>
                  <a:srgbClr val="FFFFFF"/>
                </a:solidFill>
                <a:latin typeface="Calibri"/>
              </a:defRPr>
            </a:pPr>
            <a:r>
              <a:t>Une application unique et centralisée qui connecte toute la chaîne :</a:t>
            </a:r>
            <a:br/>
            <a:r>
              <a:t>achat → production → stock → ventes → trésorerie</a:t>
            </a:r>
          </a:p>
        </p:txBody>
      </p:sp>
      <p:sp>
        <p:nvSpPr>
          <p:cNvPr id="17" name="Rounded Rectangle 16"/>
          <p:cNvSpPr/>
          <p:nvPr/>
        </p:nvSpPr>
        <p:spPr>
          <a:xfrm>
            <a:off x="6217920" y="3520440"/>
            <a:ext cx="5212080" cy="256032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3611880"/>
            <a:ext cx="4663440" cy="320040"/>
          </a:xfrm>
          <a:prstGeom prst="rect">
            <a:avLst/>
          </a:prstGeom>
          <a:noFill/>
        </p:spPr>
        <p:txBody>
          <a:bodyPr wrap="square">
            <a:spAutoFit/>
          </a:bodyPr>
          <a:lstStyle/>
          <a:p>
            <a:pPr algn="l">
              <a:defRPr sz="1600" b="1">
                <a:solidFill>
                  <a:srgbClr val="1E293B"/>
                </a:solidFill>
                <a:latin typeface="Calibri"/>
              </a:defRPr>
            </a:pPr>
            <a:r>
              <a:t>Les bénéfices attendus</a:t>
            </a:r>
          </a:p>
        </p:txBody>
      </p:sp>
      <p:sp>
        <p:nvSpPr>
          <p:cNvPr id="19" name="TextBox 18"/>
          <p:cNvSpPr txBox="1"/>
          <p:nvPr/>
        </p:nvSpPr>
        <p:spPr>
          <a:xfrm>
            <a:off x="6492240" y="3977639"/>
            <a:ext cx="4663440" cy="1920240"/>
          </a:xfrm>
          <a:prstGeom prst="rect">
            <a:avLst/>
          </a:prstGeom>
          <a:noFill/>
        </p:spPr>
        <p:txBody>
          <a:bodyPr wrap="square">
            <a:spAutoFit/>
          </a:bodyPr>
          <a:lstStyle/>
          <a:p>
            <a:pPr>
              <a:spcAft>
                <a:spcPts val="300"/>
              </a:spcAft>
            </a:pPr>
            <a:r>
              <a:rPr sz="1200" b="1">
                <a:solidFill>
                  <a:srgbClr val="F97316"/>
                </a:solidFill>
                <a:latin typeface="Calibri"/>
              </a:rPr>
              <a:t>→ </a:t>
            </a:r>
            <a:r>
              <a:rPr sz="1200">
                <a:solidFill>
                  <a:srgbClr val="64748B"/>
                </a:solidFill>
                <a:latin typeface="Calibri"/>
              </a:rPr>
              <a:t>Visibilité instantanée sur l'activité</a:t>
            </a:r>
          </a:p>
          <a:p>
            <a:pPr>
              <a:spcAft>
                <a:spcPts val="300"/>
              </a:spcAft>
            </a:pPr>
            <a:r>
              <a:rPr sz="1200" b="1">
                <a:solidFill>
                  <a:srgbClr val="F97316"/>
                </a:solidFill>
                <a:latin typeface="Calibri"/>
              </a:rPr>
              <a:t>→ </a:t>
            </a:r>
            <a:r>
              <a:rPr sz="1200">
                <a:solidFill>
                  <a:srgbClr val="64748B"/>
                </a:solidFill>
                <a:latin typeface="Calibri"/>
              </a:rPr>
              <a:t>Calculs automatiques (stock, CMP, marges)</a:t>
            </a:r>
          </a:p>
          <a:p>
            <a:pPr>
              <a:spcAft>
                <a:spcPts val="300"/>
              </a:spcAft>
            </a:pPr>
            <a:r>
              <a:rPr sz="1200" b="1">
                <a:solidFill>
                  <a:srgbClr val="F97316"/>
                </a:solidFill>
                <a:latin typeface="Calibri"/>
              </a:rPr>
              <a:t>→ </a:t>
            </a:r>
            <a:r>
              <a:rPr sz="1200">
                <a:solidFill>
                  <a:srgbClr val="64748B"/>
                </a:solidFill>
                <a:latin typeface="Calibri"/>
              </a:rPr>
              <a:t>Suivi des impayés et de la trésorerie</a:t>
            </a:r>
          </a:p>
          <a:p>
            <a:pPr>
              <a:spcAft>
                <a:spcPts val="300"/>
              </a:spcAft>
            </a:pPr>
            <a:r>
              <a:rPr sz="1200" b="1">
                <a:solidFill>
                  <a:srgbClr val="F97316"/>
                </a:solidFill>
                <a:latin typeface="Calibri"/>
              </a:rPr>
              <a:t>→ </a:t>
            </a:r>
            <a:r>
              <a:rPr sz="1200">
                <a:solidFill>
                  <a:srgbClr val="64748B"/>
                </a:solidFill>
                <a:latin typeface="Calibri"/>
              </a:rPr>
              <a:t>Traçabilité complète de chaque opération</a:t>
            </a:r>
          </a:p>
          <a:p>
            <a:pPr>
              <a:spcAft>
                <a:spcPts val="300"/>
              </a:spcAft>
            </a:pPr>
            <a:r>
              <a:rPr sz="1200" b="1">
                <a:solidFill>
                  <a:srgbClr val="F97316"/>
                </a:solidFill>
                <a:latin typeface="Calibri"/>
              </a:rPr>
              <a:t>→ </a:t>
            </a:r>
            <a:r>
              <a:rPr sz="1200">
                <a:solidFill>
                  <a:srgbClr val="64748B"/>
                </a:solidFill>
                <a:latin typeface="Calibri"/>
              </a:rPr>
              <a:t>Prise de décision basée sur les chiffres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3657600" cy="320040"/>
          </a:xfrm>
          <a:prstGeom prst="rect">
            <a:avLst/>
          </a:prstGeom>
          <a:noFill/>
        </p:spPr>
        <p:txBody>
          <a:bodyPr wrap="square">
            <a:spAutoFit/>
          </a:bodyPr>
          <a:lstStyle/>
          <a:p>
            <a:pPr algn="l">
              <a:defRPr sz="1100" b="1">
                <a:solidFill>
                  <a:srgbClr val="F97316"/>
                </a:solidFill>
                <a:latin typeface="Calibri"/>
              </a:defRPr>
            </a:pPr>
            <a:r>
              <a:t>VUE D'ENSEMBLE</a:t>
            </a:r>
          </a:p>
        </p:txBody>
      </p:sp>
      <p:sp>
        <p:nvSpPr>
          <p:cNvPr id="3" name="TextBox 2"/>
          <p:cNvSpPr txBox="1"/>
          <p:nvPr/>
        </p:nvSpPr>
        <p:spPr>
          <a:xfrm>
            <a:off x="731520" y="777240"/>
            <a:ext cx="9144000" cy="640080"/>
          </a:xfrm>
          <a:prstGeom prst="rect">
            <a:avLst/>
          </a:prstGeom>
          <a:noFill/>
        </p:spPr>
        <p:txBody>
          <a:bodyPr wrap="square">
            <a:spAutoFit/>
          </a:bodyPr>
          <a:lstStyle/>
          <a:p>
            <a:pPr algn="l">
              <a:defRPr sz="3200" b="1">
                <a:solidFill>
                  <a:srgbClr val="FFFFFF"/>
                </a:solidFill>
                <a:latin typeface="Calibri"/>
              </a:defRPr>
            </a:pPr>
            <a:r>
              <a:t>CHAPCHAP en chiffres</a:t>
            </a:r>
          </a:p>
        </p:txBody>
      </p:sp>
      <p:sp>
        <p:nvSpPr>
          <p:cNvPr id="5" name="Rectangle 4"/>
          <p:cNvSpPr/>
          <p:nvPr/>
        </p:nvSpPr>
        <p:spPr>
          <a:xfrm>
            <a:off x="0" y="6803136"/>
            <a:ext cx="12191695"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828800"/>
            <a:ext cx="2377440" cy="137160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011680"/>
            <a:ext cx="2377440" cy="548640"/>
          </a:xfrm>
          <a:prstGeom prst="rect">
            <a:avLst/>
          </a:prstGeom>
          <a:noFill/>
        </p:spPr>
        <p:txBody>
          <a:bodyPr wrap="square">
            <a:spAutoFit/>
          </a:bodyPr>
          <a:lstStyle/>
          <a:p>
            <a:pPr algn="ctr">
              <a:defRPr sz="4400" b="1">
                <a:solidFill>
                  <a:srgbClr val="F97316"/>
                </a:solidFill>
                <a:latin typeface="Calibri"/>
              </a:defRPr>
            </a:pPr>
            <a:r>
              <a:t>9</a:t>
            </a:r>
          </a:p>
        </p:txBody>
      </p:sp>
      <p:sp>
        <p:nvSpPr>
          <p:cNvPr id="8" name="TextBox 7"/>
          <p:cNvSpPr txBox="1"/>
          <p:nvPr/>
        </p:nvSpPr>
        <p:spPr>
          <a:xfrm>
            <a:off x="731520" y="2606040"/>
            <a:ext cx="2377440" cy="320040"/>
          </a:xfrm>
          <a:prstGeom prst="rect">
            <a:avLst/>
          </a:prstGeom>
          <a:noFill/>
        </p:spPr>
        <p:txBody>
          <a:bodyPr wrap="square">
            <a:spAutoFit/>
          </a:bodyPr>
          <a:lstStyle/>
          <a:p>
            <a:pPr algn="ctr">
              <a:defRPr sz="1300" b="0">
                <a:solidFill>
                  <a:srgbClr val="64748B"/>
                </a:solidFill>
                <a:latin typeface="Calibri"/>
              </a:defRPr>
            </a:pPr>
            <a:r>
              <a:t>Modules métier</a:t>
            </a:r>
          </a:p>
        </p:txBody>
      </p:sp>
      <p:sp>
        <p:nvSpPr>
          <p:cNvPr id="9" name="Rounded Rectangle 8"/>
          <p:cNvSpPr/>
          <p:nvPr/>
        </p:nvSpPr>
        <p:spPr>
          <a:xfrm>
            <a:off x="3474720" y="1828800"/>
            <a:ext cx="2377440" cy="137160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0" y="2011680"/>
            <a:ext cx="2377440" cy="548640"/>
          </a:xfrm>
          <a:prstGeom prst="rect">
            <a:avLst/>
          </a:prstGeom>
          <a:noFill/>
        </p:spPr>
        <p:txBody>
          <a:bodyPr wrap="square">
            <a:spAutoFit/>
          </a:bodyPr>
          <a:lstStyle/>
          <a:p>
            <a:pPr algn="ctr">
              <a:defRPr sz="4400" b="1">
                <a:solidFill>
                  <a:srgbClr val="F97316"/>
                </a:solidFill>
                <a:latin typeface="Calibri"/>
              </a:defRPr>
            </a:pPr>
            <a:r>
              <a:t>23</a:t>
            </a:r>
          </a:p>
        </p:txBody>
      </p:sp>
      <p:sp>
        <p:nvSpPr>
          <p:cNvPr id="11" name="TextBox 10"/>
          <p:cNvSpPr txBox="1"/>
          <p:nvPr/>
        </p:nvSpPr>
        <p:spPr>
          <a:xfrm>
            <a:off x="3474720" y="2606040"/>
            <a:ext cx="2377440" cy="320040"/>
          </a:xfrm>
          <a:prstGeom prst="rect">
            <a:avLst/>
          </a:prstGeom>
          <a:noFill/>
        </p:spPr>
        <p:txBody>
          <a:bodyPr wrap="square">
            <a:spAutoFit/>
          </a:bodyPr>
          <a:lstStyle/>
          <a:p>
            <a:pPr algn="ctr">
              <a:defRPr sz="1300" b="0">
                <a:solidFill>
                  <a:srgbClr val="64748B"/>
                </a:solidFill>
                <a:latin typeface="Calibri"/>
              </a:defRPr>
            </a:pPr>
            <a:r>
              <a:t>Tables en base</a:t>
            </a:r>
          </a:p>
        </p:txBody>
      </p:sp>
      <p:sp>
        <p:nvSpPr>
          <p:cNvPr id="12" name="Rounded Rectangle 11"/>
          <p:cNvSpPr/>
          <p:nvPr/>
        </p:nvSpPr>
        <p:spPr>
          <a:xfrm>
            <a:off x="6217920" y="1828800"/>
            <a:ext cx="2377440" cy="137160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0" y="2011680"/>
            <a:ext cx="2377440" cy="548640"/>
          </a:xfrm>
          <a:prstGeom prst="rect">
            <a:avLst/>
          </a:prstGeom>
          <a:noFill/>
        </p:spPr>
        <p:txBody>
          <a:bodyPr wrap="square">
            <a:spAutoFit/>
          </a:bodyPr>
          <a:lstStyle/>
          <a:p>
            <a:pPr algn="ctr">
              <a:defRPr sz="4400" b="1">
                <a:solidFill>
                  <a:srgbClr val="F97316"/>
                </a:solidFill>
                <a:latin typeface="Calibri"/>
              </a:defRPr>
            </a:pPr>
            <a:r>
              <a:t>10</a:t>
            </a:r>
          </a:p>
        </p:txBody>
      </p:sp>
      <p:sp>
        <p:nvSpPr>
          <p:cNvPr id="14" name="TextBox 13"/>
          <p:cNvSpPr txBox="1"/>
          <p:nvPr/>
        </p:nvSpPr>
        <p:spPr>
          <a:xfrm>
            <a:off x="6217920" y="2606040"/>
            <a:ext cx="2377440" cy="320040"/>
          </a:xfrm>
          <a:prstGeom prst="rect">
            <a:avLst/>
          </a:prstGeom>
          <a:noFill/>
        </p:spPr>
        <p:txBody>
          <a:bodyPr wrap="square">
            <a:spAutoFit/>
          </a:bodyPr>
          <a:lstStyle/>
          <a:p>
            <a:pPr algn="ctr">
              <a:defRPr sz="1300" b="0">
                <a:solidFill>
                  <a:srgbClr val="64748B"/>
                </a:solidFill>
                <a:latin typeface="Calibri"/>
              </a:defRPr>
            </a:pPr>
            <a:r>
              <a:t>Widgets dashboard</a:t>
            </a:r>
          </a:p>
        </p:txBody>
      </p:sp>
      <p:sp>
        <p:nvSpPr>
          <p:cNvPr id="15" name="Rounded Rectangle 14"/>
          <p:cNvSpPr/>
          <p:nvPr/>
        </p:nvSpPr>
        <p:spPr>
          <a:xfrm>
            <a:off x="8961120" y="1828800"/>
            <a:ext cx="2377440" cy="137160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0" y="2011680"/>
            <a:ext cx="2377440" cy="548640"/>
          </a:xfrm>
          <a:prstGeom prst="rect">
            <a:avLst/>
          </a:prstGeom>
          <a:noFill/>
        </p:spPr>
        <p:txBody>
          <a:bodyPr wrap="square">
            <a:spAutoFit/>
          </a:bodyPr>
          <a:lstStyle/>
          <a:p>
            <a:pPr algn="ctr">
              <a:defRPr sz="4400" b="1">
                <a:solidFill>
                  <a:srgbClr val="F97316"/>
                </a:solidFill>
                <a:latin typeface="Calibri"/>
              </a:defRPr>
            </a:pPr>
            <a:r>
              <a:t>5</a:t>
            </a:r>
          </a:p>
        </p:txBody>
      </p:sp>
      <p:sp>
        <p:nvSpPr>
          <p:cNvPr id="17" name="TextBox 16"/>
          <p:cNvSpPr txBox="1"/>
          <p:nvPr/>
        </p:nvSpPr>
        <p:spPr>
          <a:xfrm>
            <a:off x="8961120" y="2606040"/>
            <a:ext cx="2377440" cy="320040"/>
          </a:xfrm>
          <a:prstGeom prst="rect">
            <a:avLst/>
          </a:prstGeom>
          <a:noFill/>
        </p:spPr>
        <p:txBody>
          <a:bodyPr wrap="square">
            <a:spAutoFit/>
          </a:bodyPr>
          <a:lstStyle/>
          <a:p>
            <a:pPr algn="ctr">
              <a:defRPr sz="1300" b="0">
                <a:solidFill>
                  <a:srgbClr val="64748B"/>
                </a:solidFill>
                <a:latin typeface="Calibri"/>
              </a:defRPr>
            </a:pPr>
            <a:r>
              <a:t>Profils utilisateur</a:t>
            </a:r>
          </a:p>
        </p:txBody>
      </p:sp>
      <p:sp>
        <p:nvSpPr>
          <p:cNvPr id="18" name="Rounded Rectangle 17"/>
          <p:cNvSpPr/>
          <p:nvPr/>
        </p:nvSpPr>
        <p:spPr>
          <a:xfrm>
            <a:off x="731520" y="3657600"/>
            <a:ext cx="3291840" cy="137160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3794760"/>
            <a:ext cx="3291840" cy="502920"/>
          </a:xfrm>
          <a:prstGeom prst="rect">
            <a:avLst/>
          </a:prstGeom>
          <a:noFill/>
        </p:spPr>
        <p:txBody>
          <a:bodyPr wrap="square">
            <a:spAutoFit/>
          </a:bodyPr>
          <a:lstStyle/>
          <a:p>
            <a:pPr algn="ctr">
              <a:defRPr sz="3800" b="1">
                <a:solidFill>
                  <a:srgbClr val="F97316"/>
                </a:solidFill>
                <a:latin typeface="Calibri"/>
              </a:defRPr>
            </a:pPr>
            <a:r>
              <a:t>27</a:t>
            </a:r>
          </a:p>
        </p:txBody>
      </p:sp>
      <p:sp>
        <p:nvSpPr>
          <p:cNvPr id="20" name="TextBox 19"/>
          <p:cNvSpPr txBox="1"/>
          <p:nvPr/>
        </p:nvSpPr>
        <p:spPr>
          <a:xfrm>
            <a:off x="731520" y="4389120"/>
            <a:ext cx="3291840" cy="457200"/>
          </a:xfrm>
          <a:prstGeom prst="rect">
            <a:avLst/>
          </a:prstGeom>
          <a:noFill/>
        </p:spPr>
        <p:txBody>
          <a:bodyPr wrap="square">
            <a:spAutoFit/>
          </a:bodyPr>
          <a:lstStyle/>
          <a:p>
            <a:pPr algn="ctr">
              <a:defRPr sz="1200" b="0">
                <a:solidFill>
                  <a:srgbClr val="64748B"/>
                </a:solidFill>
                <a:latin typeface="Calibri"/>
              </a:defRPr>
            </a:pPr>
            <a:r>
              <a:t>Tests automatisés</a:t>
            </a:r>
            <a:br/>
            <a:r>
              <a:t>100% réussis</a:t>
            </a:r>
          </a:p>
        </p:txBody>
      </p:sp>
      <p:sp>
        <p:nvSpPr>
          <p:cNvPr id="21" name="Rounded Rectangle 20"/>
          <p:cNvSpPr/>
          <p:nvPr/>
        </p:nvSpPr>
        <p:spPr>
          <a:xfrm>
            <a:off x="4389120" y="3657600"/>
            <a:ext cx="3291840" cy="137160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89120" y="3794760"/>
            <a:ext cx="3291840" cy="502920"/>
          </a:xfrm>
          <a:prstGeom prst="rect">
            <a:avLst/>
          </a:prstGeom>
          <a:noFill/>
        </p:spPr>
        <p:txBody>
          <a:bodyPr wrap="square">
            <a:spAutoFit/>
          </a:bodyPr>
          <a:lstStyle/>
          <a:p>
            <a:pPr algn="ctr">
              <a:defRPr sz="3800" b="1">
                <a:solidFill>
                  <a:srgbClr val="F97316"/>
                </a:solidFill>
                <a:latin typeface="Calibri"/>
              </a:defRPr>
            </a:pPr>
            <a:r>
              <a:t>6</a:t>
            </a:r>
          </a:p>
        </p:txBody>
      </p:sp>
      <p:sp>
        <p:nvSpPr>
          <p:cNvPr id="23" name="TextBox 22"/>
          <p:cNvSpPr txBox="1"/>
          <p:nvPr/>
        </p:nvSpPr>
        <p:spPr>
          <a:xfrm>
            <a:off x="4389120" y="4389120"/>
            <a:ext cx="3291840" cy="457200"/>
          </a:xfrm>
          <a:prstGeom prst="rect">
            <a:avLst/>
          </a:prstGeom>
          <a:noFill/>
        </p:spPr>
        <p:txBody>
          <a:bodyPr wrap="square">
            <a:spAutoFit/>
          </a:bodyPr>
          <a:lstStyle/>
          <a:p>
            <a:pPr algn="ctr">
              <a:defRPr sz="1200" b="0">
                <a:solidFill>
                  <a:srgbClr val="64748B"/>
                </a:solidFill>
                <a:latin typeface="Calibri"/>
              </a:defRPr>
            </a:pPr>
            <a:r>
              <a:t>Exports Excel</a:t>
            </a:r>
          </a:p>
        </p:txBody>
      </p:sp>
      <p:sp>
        <p:nvSpPr>
          <p:cNvPr id="24" name="Rounded Rectangle 23"/>
          <p:cNvSpPr/>
          <p:nvPr/>
        </p:nvSpPr>
        <p:spPr>
          <a:xfrm>
            <a:off x="8046720" y="3657600"/>
            <a:ext cx="3291840" cy="137160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46720" y="3794760"/>
            <a:ext cx="3291840" cy="502920"/>
          </a:xfrm>
          <a:prstGeom prst="rect">
            <a:avLst/>
          </a:prstGeom>
          <a:noFill/>
        </p:spPr>
        <p:txBody>
          <a:bodyPr wrap="square">
            <a:spAutoFit/>
          </a:bodyPr>
          <a:lstStyle/>
          <a:p>
            <a:pPr algn="ctr">
              <a:defRPr sz="3800" b="1">
                <a:solidFill>
                  <a:srgbClr val="F97316"/>
                </a:solidFill>
                <a:latin typeface="Calibri"/>
              </a:defRPr>
            </a:pPr>
            <a:r>
              <a:t>2</a:t>
            </a:r>
          </a:p>
        </p:txBody>
      </p:sp>
      <p:sp>
        <p:nvSpPr>
          <p:cNvPr id="26" name="TextBox 25"/>
          <p:cNvSpPr txBox="1"/>
          <p:nvPr/>
        </p:nvSpPr>
        <p:spPr>
          <a:xfrm>
            <a:off x="8046720" y="4389120"/>
            <a:ext cx="3291840" cy="457200"/>
          </a:xfrm>
          <a:prstGeom prst="rect">
            <a:avLst/>
          </a:prstGeom>
          <a:noFill/>
        </p:spPr>
        <p:txBody>
          <a:bodyPr wrap="square">
            <a:spAutoFit/>
          </a:bodyPr>
          <a:lstStyle/>
          <a:p>
            <a:pPr algn="ctr">
              <a:defRPr sz="1200" b="0">
                <a:solidFill>
                  <a:srgbClr val="64748B"/>
                </a:solidFill>
                <a:latin typeface="Calibri"/>
              </a:defRPr>
            </a:pPr>
            <a:r>
              <a:t>Rapports PDF</a:t>
            </a:r>
          </a:p>
        </p:txBody>
      </p:sp>
      <p:sp>
        <p:nvSpPr>
          <p:cNvPr id="27" name="TextBox 26"/>
          <p:cNvSpPr txBox="1"/>
          <p:nvPr/>
        </p:nvSpPr>
        <p:spPr>
          <a:xfrm>
            <a:off x="0" y="5486400"/>
            <a:ext cx="12191695" cy="320040"/>
          </a:xfrm>
          <a:prstGeom prst="rect">
            <a:avLst/>
          </a:prstGeom>
          <a:noFill/>
        </p:spPr>
        <p:txBody>
          <a:bodyPr wrap="square">
            <a:spAutoFit/>
          </a:bodyPr>
          <a:lstStyle/>
          <a:p>
            <a:pPr algn="ctr">
              <a:defRPr sz="1200" b="0">
                <a:solidFill>
                  <a:srgbClr val="64748B"/>
                </a:solidFill>
                <a:latin typeface="Calibri"/>
              </a:defRPr>
            </a:pPr>
            <a:r>
              <a:t>Application web 100% sur mesure — accessible depuis navigateur, tablette et smartphone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3657600" cy="320040"/>
          </a:xfrm>
          <a:prstGeom prst="rect">
            <a:avLst/>
          </a:prstGeom>
          <a:noFill/>
        </p:spPr>
        <p:txBody>
          <a:bodyPr wrap="square">
            <a:spAutoFit/>
          </a:bodyPr>
          <a:lstStyle/>
          <a:p>
            <a:pPr algn="l">
              <a:defRPr sz="1100" b="1">
                <a:solidFill>
                  <a:srgbClr val="F97316"/>
                </a:solidFill>
                <a:latin typeface="Calibri"/>
              </a:defRPr>
            </a:pPr>
            <a:r>
              <a:t>ARCHITECTURE MÉTIER</a:t>
            </a:r>
          </a:p>
        </p:txBody>
      </p:sp>
      <p:sp>
        <p:nvSpPr>
          <p:cNvPr id="3" name="TextBox 2"/>
          <p:cNvSpPr txBox="1"/>
          <p:nvPr/>
        </p:nvSpPr>
        <p:spPr>
          <a:xfrm>
            <a:off x="731520" y="777240"/>
            <a:ext cx="9144000" cy="640080"/>
          </a:xfrm>
          <a:prstGeom prst="rect">
            <a:avLst/>
          </a:prstGeom>
          <a:noFill/>
        </p:spPr>
        <p:txBody>
          <a:bodyPr wrap="square">
            <a:spAutoFit/>
          </a:bodyPr>
          <a:lstStyle/>
          <a:p>
            <a:pPr algn="l">
              <a:defRPr sz="3200" b="1">
                <a:solidFill>
                  <a:srgbClr val="1E293B"/>
                </a:solidFill>
                <a:latin typeface="Calibri"/>
              </a:defRPr>
            </a:pPr>
            <a:r>
              <a:t>Le flux complet</a:t>
            </a:r>
          </a:p>
        </p:txBody>
      </p:sp>
      <p:sp>
        <p:nvSpPr>
          <p:cNvPr id="4" name="Rectangle 3"/>
          <p:cNvSpPr/>
          <p:nvPr/>
        </p:nvSpPr>
        <p:spPr>
          <a:xfrm>
            <a:off x="0" y="6784848"/>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249527" y="2011680"/>
            <a:ext cx="1645920" cy="1188720"/>
          </a:xfrm>
          <a:prstGeom prst="roundRect">
            <a:avLst/>
          </a:prstGeom>
          <a:solidFill>
            <a:srgbClr val="FEF3C7"/>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49527" y="2103120"/>
            <a:ext cx="1645920" cy="320040"/>
          </a:xfrm>
          <a:prstGeom prst="rect">
            <a:avLst/>
          </a:prstGeom>
          <a:noFill/>
        </p:spPr>
        <p:txBody>
          <a:bodyPr wrap="square">
            <a:spAutoFit/>
          </a:bodyPr>
          <a:lstStyle/>
          <a:p>
            <a:pPr algn="ctr">
              <a:defRPr sz="2400" b="0">
                <a:solidFill>
                  <a:srgbClr val="1E293B"/>
                </a:solidFill>
                <a:latin typeface="Calibri"/>
              </a:defRPr>
            </a:pPr>
            <a:r>
              <a:t>🐔</a:t>
            </a:r>
          </a:p>
        </p:txBody>
      </p:sp>
      <p:sp>
        <p:nvSpPr>
          <p:cNvPr id="8" name="TextBox 7"/>
          <p:cNvSpPr txBox="1"/>
          <p:nvPr/>
        </p:nvSpPr>
        <p:spPr>
          <a:xfrm>
            <a:off x="1249527" y="2423160"/>
            <a:ext cx="1645920" cy="274320"/>
          </a:xfrm>
          <a:prstGeom prst="rect">
            <a:avLst/>
          </a:prstGeom>
          <a:noFill/>
        </p:spPr>
        <p:txBody>
          <a:bodyPr wrap="square">
            <a:spAutoFit/>
          </a:bodyPr>
          <a:lstStyle/>
          <a:p>
            <a:pPr algn="ctr">
              <a:defRPr sz="1300" b="1">
                <a:solidFill>
                  <a:srgbClr val="1E293B"/>
                </a:solidFill>
                <a:latin typeface="Calibri"/>
              </a:defRPr>
            </a:pPr>
            <a:r>
              <a:t>ACHATS</a:t>
            </a:r>
          </a:p>
        </p:txBody>
      </p:sp>
      <p:sp>
        <p:nvSpPr>
          <p:cNvPr id="9" name="TextBox 8"/>
          <p:cNvSpPr txBox="1"/>
          <p:nvPr/>
        </p:nvSpPr>
        <p:spPr>
          <a:xfrm>
            <a:off x="1249527" y="2697480"/>
            <a:ext cx="1645920" cy="274320"/>
          </a:xfrm>
          <a:prstGeom prst="rect">
            <a:avLst/>
          </a:prstGeom>
          <a:noFill/>
        </p:spPr>
        <p:txBody>
          <a:bodyPr wrap="square">
            <a:spAutoFit/>
          </a:bodyPr>
          <a:lstStyle/>
          <a:p>
            <a:pPr algn="ctr">
              <a:defRPr sz="1000" b="0">
                <a:solidFill>
                  <a:srgbClr val="64748B"/>
                </a:solidFill>
                <a:latin typeface="Calibri"/>
              </a:defRPr>
            </a:pPr>
            <a:r>
              <a:t>Lots / Fournisseurs</a:t>
            </a:r>
          </a:p>
        </p:txBody>
      </p:sp>
      <p:sp>
        <p:nvSpPr>
          <p:cNvPr id="10" name="TextBox 9"/>
          <p:cNvSpPr txBox="1"/>
          <p:nvPr/>
        </p:nvSpPr>
        <p:spPr>
          <a:xfrm>
            <a:off x="2941167" y="2331720"/>
            <a:ext cx="274320" cy="365760"/>
          </a:xfrm>
          <a:prstGeom prst="rect">
            <a:avLst/>
          </a:prstGeom>
          <a:noFill/>
        </p:spPr>
        <p:txBody>
          <a:bodyPr wrap="square">
            <a:spAutoFit/>
          </a:bodyPr>
          <a:lstStyle/>
          <a:p>
            <a:pPr algn="ctr">
              <a:defRPr sz="2200" b="1">
                <a:solidFill>
                  <a:srgbClr val="F97316"/>
                </a:solidFill>
                <a:latin typeface="Calibri"/>
              </a:defRPr>
            </a:pPr>
            <a:r>
              <a:t>→</a:t>
            </a:r>
          </a:p>
        </p:txBody>
      </p:sp>
      <p:sp>
        <p:nvSpPr>
          <p:cNvPr id="11" name="Rounded Rectangle 10"/>
          <p:cNvSpPr/>
          <p:nvPr/>
        </p:nvSpPr>
        <p:spPr>
          <a:xfrm>
            <a:off x="3261207" y="2011680"/>
            <a:ext cx="1645920" cy="1188720"/>
          </a:xfrm>
          <a:prstGeom prst="roundRect">
            <a:avLst/>
          </a:prstGeom>
          <a:solidFill>
            <a:srgbClr val="FCE7F3"/>
          </a:solidFill>
          <a:ln w="1905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61207" y="2103120"/>
            <a:ext cx="1645920" cy="320040"/>
          </a:xfrm>
          <a:prstGeom prst="rect">
            <a:avLst/>
          </a:prstGeom>
          <a:noFill/>
        </p:spPr>
        <p:txBody>
          <a:bodyPr wrap="square">
            <a:spAutoFit/>
          </a:bodyPr>
          <a:lstStyle/>
          <a:p>
            <a:pPr algn="ctr">
              <a:defRPr sz="2400" b="0">
                <a:solidFill>
                  <a:srgbClr val="1E293B"/>
                </a:solidFill>
                <a:latin typeface="Calibri"/>
              </a:defRPr>
            </a:pPr>
            <a:r>
              <a:t>🔪</a:t>
            </a:r>
          </a:p>
        </p:txBody>
      </p:sp>
      <p:sp>
        <p:nvSpPr>
          <p:cNvPr id="13" name="TextBox 12"/>
          <p:cNvSpPr txBox="1"/>
          <p:nvPr/>
        </p:nvSpPr>
        <p:spPr>
          <a:xfrm>
            <a:off x="3261207" y="2423160"/>
            <a:ext cx="1645920" cy="274320"/>
          </a:xfrm>
          <a:prstGeom prst="rect">
            <a:avLst/>
          </a:prstGeom>
          <a:noFill/>
        </p:spPr>
        <p:txBody>
          <a:bodyPr wrap="square">
            <a:spAutoFit/>
          </a:bodyPr>
          <a:lstStyle/>
          <a:p>
            <a:pPr algn="ctr">
              <a:defRPr sz="1300" b="1">
                <a:solidFill>
                  <a:srgbClr val="1E293B"/>
                </a:solidFill>
                <a:latin typeface="Calibri"/>
              </a:defRPr>
            </a:pPr>
            <a:r>
              <a:t>PRODUCTION</a:t>
            </a:r>
          </a:p>
        </p:txBody>
      </p:sp>
      <p:sp>
        <p:nvSpPr>
          <p:cNvPr id="14" name="TextBox 13"/>
          <p:cNvSpPr txBox="1"/>
          <p:nvPr/>
        </p:nvSpPr>
        <p:spPr>
          <a:xfrm>
            <a:off x="3261207" y="2697480"/>
            <a:ext cx="1645920" cy="274320"/>
          </a:xfrm>
          <a:prstGeom prst="rect">
            <a:avLst/>
          </a:prstGeom>
          <a:noFill/>
        </p:spPr>
        <p:txBody>
          <a:bodyPr wrap="square">
            <a:spAutoFit/>
          </a:bodyPr>
          <a:lstStyle/>
          <a:p>
            <a:pPr algn="ctr">
              <a:defRPr sz="1000" b="0">
                <a:solidFill>
                  <a:srgbClr val="64748B"/>
                </a:solidFill>
                <a:latin typeface="Calibri"/>
              </a:defRPr>
            </a:pPr>
            <a:r>
              <a:t>Abattage / Découpe</a:t>
            </a:r>
          </a:p>
        </p:txBody>
      </p:sp>
      <p:sp>
        <p:nvSpPr>
          <p:cNvPr id="15" name="TextBox 14"/>
          <p:cNvSpPr txBox="1"/>
          <p:nvPr/>
        </p:nvSpPr>
        <p:spPr>
          <a:xfrm>
            <a:off x="4952847" y="2331720"/>
            <a:ext cx="274320" cy="365760"/>
          </a:xfrm>
          <a:prstGeom prst="rect">
            <a:avLst/>
          </a:prstGeom>
          <a:noFill/>
        </p:spPr>
        <p:txBody>
          <a:bodyPr wrap="square">
            <a:spAutoFit/>
          </a:bodyPr>
          <a:lstStyle/>
          <a:p>
            <a:pPr algn="ctr">
              <a:defRPr sz="2200" b="1">
                <a:solidFill>
                  <a:srgbClr val="F97316"/>
                </a:solidFill>
                <a:latin typeface="Calibri"/>
              </a:defRPr>
            </a:pPr>
            <a:r>
              <a:t>→</a:t>
            </a:r>
          </a:p>
        </p:txBody>
      </p:sp>
      <p:sp>
        <p:nvSpPr>
          <p:cNvPr id="16" name="Rounded Rectangle 15"/>
          <p:cNvSpPr/>
          <p:nvPr/>
        </p:nvSpPr>
        <p:spPr>
          <a:xfrm>
            <a:off x="5272887" y="2011680"/>
            <a:ext cx="1645920" cy="1188720"/>
          </a:xfrm>
          <a:prstGeom prst="roundRect">
            <a:avLst/>
          </a:prstGeom>
          <a:solidFill>
            <a:srgbClr val="EDE9FE"/>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72887" y="2103120"/>
            <a:ext cx="1645920" cy="320040"/>
          </a:xfrm>
          <a:prstGeom prst="rect">
            <a:avLst/>
          </a:prstGeom>
          <a:noFill/>
        </p:spPr>
        <p:txBody>
          <a:bodyPr wrap="square">
            <a:spAutoFit/>
          </a:bodyPr>
          <a:lstStyle/>
          <a:p>
            <a:pPr algn="ctr">
              <a:defRPr sz="2400" b="0">
                <a:solidFill>
                  <a:srgbClr val="1E293B"/>
                </a:solidFill>
                <a:latin typeface="Calibri"/>
              </a:defRPr>
            </a:pPr>
            <a:r>
              <a:t>📦</a:t>
            </a:r>
          </a:p>
        </p:txBody>
      </p:sp>
      <p:sp>
        <p:nvSpPr>
          <p:cNvPr id="18" name="TextBox 17"/>
          <p:cNvSpPr txBox="1"/>
          <p:nvPr/>
        </p:nvSpPr>
        <p:spPr>
          <a:xfrm>
            <a:off x="5272887" y="2423160"/>
            <a:ext cx="1645920" cy="274320"/>
          </a:xfrm>
          <a:prstGeom prst="rect">
            <a:avLst/>
          </a:prstGeom>
          <a:noFill/>
        </p:spPr>
        <p:txBody>
          <a:bodyPr wrap="square">
            <a:spAutoFit/>
          </a:bodyPr>
          <a:lstStyle/>
          <a:p>
            <a:pPr algn="ctr">
              <a:defRPr sz="1300" b="1">
                <a:solidFill>
                  <a:srgbClr val="1E293B"/>
                </a:solidFill>
                <a:latin typeface="Calibri"/>
              </a:defRPr>
            </a:pPr>
            <a:r>
              <a:t>STOCK</a:t>
            </a:r>
          </a:p>
        </p:txBody>
      </p:sp>
      <p:sp>
        <p:nvSpPr>
          <p:cNvPr id="19" name="TextBox 18"/>
          <p:cNvSpPr txBox="1"/>
          <p:nvPr/>
        </p:nvSpPr>
        <p:spPr>
          <a:xfrm>
            <a:off x="5272887" y="2697480"/>
            <a:ext cx="1645920" cy="274320"/>
          </a:xfrm>
          <a:prstGeom prst="rect">
            <a:avLst/>
          </a:prstGeom>
          <a:noFill/>
        </p:spPr>
        <p:txBody>
          <a:bodyPr wrap="square">
            <a:spAutoFit/>
          </a:bodyPr>
          <a:lstStyle/>
          <a:p>
            <a:pPr algn="ctr">
              <a:defRPr sz="1000" b="0">
                <a:solidFill>
                  <a:srgbClr val="64748B"/>
                </a:solidFill>
                <a:latin typeface="Calibri"/>
              </a:defRPr>
            </a:pPr>
            <a:r>
              <a:t>Chambres froides</a:t>
            </a:r>
          </a:p>
        </p:txBody>
      </p:sp>
      <p:sp>
        <p:nvSpPr>
          <p:cNvPr id="20" name="TextBox 19"/>
          <p:cNvSpPr txBox="1"/>
          <p:nvPr/>
        </p:nvSpPr>
        <p:spPr>
          <a:xfrm>
            <a:off x="6964527" y="2331720"/>
            <a:ext cx="274320" cy="365760"/>
          </a:xfrm>
          <a:prstGeom prst="rect">
            <a:avLst/>
          </a:prstGeom>
          <a:noFill/>
        </p:spPr>
        <p:txBody>
          <a:bodyPr wrap="square">
            <a:spAutoFit/>
          </a:bodyPr>
          <a:lstStyle/>
          <a:p>
            <a:pPr algn="ctr">
              <a:defRPr sz="2200" b="1">
                <a:solidFill>
                  <a:srgbClr val="F97316"/>
                </a:solidFill>
                <a:latin typeface="Calibri"/>
              </a:defRPr>
            </a:pPr>
            <a:r>
              <a:t>→</a:t>
            </a:r>
          </a:p>
        </p:txBody>
      </p:sp>
      <p:sp>
        <p:nvSpPr>
          <p:cNvPr id="21" name="Rounded Rectangle 20"/>
          <p:cNvSpPr/>
          <p:nvPr/>
        </p:nvSpPr>
        <p:spPr>
          <a:xfrm>
            <a:off x="7284567" y="2011680"/>
            <a:ext cx="1645920" cy="1188720"/>
          </a:xfrm>
          <a:prstGeom prst="roundRect">
            <a:avLst/>
          </a:prstGeom>
          <a:solidFill>
            <a:srgbClr val="D1FAE5"/>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84567" y="2103120"/>
            <a:ext cx="1645920" cy="320040"/>
          </a:xfrm>
          <a:prstGeom prst="rect">
            <a:avLst/>
          </a:prstGeom>
          <a:noFill/>
        </p:spPr>
        <p:txBody>
          <a:bodyPr wrap="square">
            <a:spAutoFit/>
          </a:bodyPr>
          <a:lstStyle/>
          <a:p>
            <a:pPr algn="ctr">
              <a:defRPr sz="2400" b="0">
                <a:solidFill>
                  <a:srgbClr val="1E293B"/>
                </a:solidFill>
                <a:latin typeface="Calibri"/>
              </a:defRPr>
            </a:pPr>
            <a:r>
              <a:t>🛒</a:t>
            </a:r>
          </a:p>
        </p:txBody>
      </p:sp>
      <p:sp>
        <p:nvSpPr>
          <p:cNvPr id="23" name="TextBox 22"/>
          <p:cNvSpPr txBox="1"/>
          <p:nvPr/>
        </p:nvSpPr>
        <p:spPr>
          <a:xfrm>
            <a:off x="7284567" y="2423160"/>
            <a:ext cx="1645920" cy="274320"/>
          </a:xfrm>
          <a:prstGeom prst="rect">
            <a:avLst/>
          </a:prstGeom>
          <a:noFill/>
        </p:spPr>
        <p:txBody>
          <a:bodyPr wrap="square">
            <a:spAutoFit/>
          </a:bodyPr>
          <a:lstStyle/>
          <a:p>
            <a:pPr algn="ctr">
              <a:defRPr sz="1300" b="1">
                <a:solidFill>
                  <a:srgbClr val="1E293B"/>
                </a:solidFill>
                <a:latin typeface="Calibri"/>
              </a:defRPr>
            </a:pPr>
            <a:r>
              <a:t>VENTES</a:t>
            </a:r>
          </a:p>
        </p:txBody>
      </p:sp>
      <p:sp>
        <p:nvSpPr>
          <p:cNvPr id="24" name="TextBox 23"/>
          <p:cNvSpPr txBox="1"/>
          <p:nvPr/>
        </p:nvSpPr>
        <p:spPr>
          <a:xfrm>
            <a:off x="7284567" y="2697480"/>
            <a:ext cx="1645920" cy="274320"/>
          </a:xfrm>
          <a:prstGeom prst="rect">
            <a:avLst/>
          </a:prstGeom>
          <a:noFill/>
        </p:spPr>
        <p:txBody>
          <a:bodyPr wrap="square">
            <a:spAutoFit/>
          </a:bodyPr>
          <a:lstStyle/>
          <a:p>
            <a:pPr algn="ctr">
              <a:defRPr sz="1000" b="0">
                <a:solidFill>
                  <a:srgbClr val="64748B"/>
                </a:solidFill>
                <a:latin typeface="Calibri"/>
              </a:defRPr>
            </a:pPr>
            <a:r>
              <a:t>Multi-canaux</a:t>
            </a:r>
          </a:p>
        </p:txBody>
      </p:sp>
      <p:sp>
        <p:nvSpPr>
          <p:cNvPr id="25" name="TextBox 24"/>
          <p:cNvSpPr txBox="1"/>
          <p:nvPr/>
        </p:nvSpPr>
        <p:spPr>
          <a:xfrm>
            <a:off x="8976207" y="2331720"/>
            <a:ext cx="274320" cy="365760"/>
          </a:xfrm>
          <a:prstGeom prst="rect">
            <a:avLst/>
          </a:prstGeom>
          <a:noFill/>
        </p:spPr>
        <p:txBody>
          <a:bodyPr wrap="square">
            <a:spAutoFit/>
          </a:bodyPr>
          <a:lstStyle/>
          <a:p>
            <a:pPr algn="ctr">
              <a:defRPr sz="2200" b="1">
                <a:solidFill>
                  <a:srgbClr val="F97316"/>
                </a:solidFill>
                <a:latin typeface="Calibri"/>
              </a:defRPr>
            </a:pPr>
            <a:r>
              <a:t>→</a:t>
            </a:r>
          </a:p>
        </p:txBody>
      </p:sp>
      <p:sp>
        <p:nvSpPr>
          <p:cNvPr id="26" name="Rounded Rectangle 25"/>
          <p:cNvSpPr/>
          <p:nvPr/>
        </p:nvSpPr>
        <p:spPr>
          <a:xfrm>
            <a:off x="9296247" y="2011680"/>
            <a:ext cx="1645920" cy="1188720"/>
          </a:xfrm>
          <a:prstGeom prst="roundRect">
            <a:avLst/>
          </a:prstGeom>
          <a:solidFill>
            <a:srgbClr val="FFF7ED"/>
          </a:solidFill>
          <a:ln w="1905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96247" y="2103120"/>
            <a:ext cx="1645920" cy="320040"/>
          </a:xfrm>
          <a:prstGeom prst="rect">
            <a:avLst/>
          </a:prstGeom>
          <a:noFill/>
        </p:spPr>
        <p:txBody>
          <a:bodyPr wrap="square">
            <a:spAutoFit/>
          </a:bodyPr>
          <a:lstStyle/>
          <a:p>
            <a:pPr algn="ctr">
              <a:defRPr sz="2400" b="0">
                <a:solidFill>
                  <a:srgbClr val="1E293B"/>
                </a:solidFill>
                <a:latin typeface="Calibri"/>
              </a:defRPr>
            </a:pPr>
            <a:r>
              <a:t>💰</a:t>
            </a:r>
          </a:p>
        </p:txBody>
      </p:sp>
      <p:sp>
        <p:nvSpPr>
          <p:cNvPr id="28" name="TextBox 27"/>
          <p:cNvSpPr txBox="1"/>
          <p:nvPr/>
        </p:nvSpPr>
        <p:spPr>
          <a:xfrm>
            <a:off x="9296247" y="2423160"/>
            <a:ext cx="1645920" cy="274320"/>
          </a:xfrm>
          <a:prstGeom prst="rect">
            <a:avLst/>
          </a:prstGeom>
          <a:noFill/>
        </p:spPr>
        <p:txBody>
          <a:bodyPr wrap="square">
            <a:spAutoFit/>
          </a:bodyPr>
          <a:lstStyle/>
          <a:p>
            <a:pPr algn="ctr">
              <a:defRPr sz="1300" b="1">
                <a:solidFill>
                  <a:srgbClr val="1E293B"/>
                </a:solidFill>
                <a:latin typeface="Calibri"/>
              </a:defRPr>
            </a:pPr>
            <a:r>
              <a:t>CAISSE</a:t>
            </a:r>
          </a:p>
        </p:txBody>
      </p:sp>
      <p:sp>
        <p:nvSpPr>
          <p:cNvPr id="29" name="TextBox 28"/>
          <p:cNvSpPr txBox="1"/>
          <p:nvPr/>
        </p:nvSpPr>
        <p:spPr>
          <a:xfrm>
            <a:off x="9296247" y="2697480"/>
            <a:ext cx="1645920" cy="274320"/>
          </a:xfrm>
          <a:prstGeom prst="rect">
            <a:avLst/>
          </a:prstGeom>
          <a:noFill/>
        </p:spPr>
        <p:txBody>
          <a:bodyPr wrap="square">
            <a:spAutoFit/>
          </a:bodyPr>
          <a:lstStyle/>
          <a:p>
            <a:pPr algn="ctr">
              <a:defRPr sz="1000" b="0">
                <a:solidFill>
                  <a:srgbClr val="64748B"/>
                </a:solidFill>
                <a:latin typeface="Calibri"/>
              </a:defRPr>
            </a:pPr>
            <a:r>
              <a:t>Trésorerie</a:t>
            </a:r>
          </a:p>
        </p:txBody>
      </p:sp>
      <p:sp>
        <p:nvSpPr>
          <p:cNvPr id="30" name="Rounded Rectangle 29"/>
          <p:cNvSpPr/>
          <p:nvPr/>
        </p:nvSpPr>
        <p:spPr>
          <a:xfrm>
            <a:off x="731520" y="3657600"/>
            <a:ext cx="5120640" cy="256032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05840" y="3749039"/>
            <a:ext cx="4572000" cy="320040"/>
          </a:xfrm>
          <a:prstGeom prst="rect">
            <a:avLst/>
          </a:prstGeom>
          <a:noFill/>
        </p:spPr>
        <p:txBody>
          <a:bodyPr wrap="square">
            <a:spAutoFit/>
          </a:bodyPr>
          <a:lstStyle/>
          <a:p>
            <a:pPr algn="l">
              <a:defRPr sz="1500" b="1">
                <a:solidFill>
                  <a:srgbClr val="1E293B"/>
                </a:solidFill>
                <a:latin typeface="Calibri"/>
              </a:defRPr>
            </a:pPr>
            <a:r>
              <a:t>Automatisations clés</a:t>
            </a:r>
          </a:p>
        </p:txBody>
      </p:sp>
      <p:sp>
        <p:nvSpPr>
          <p:cNvPr id="32" name="TextBox 31"/>
          <p:cNvSpPr txBox="1"/>
          <p:nvPr/>
        </p:nvSpPr>
        <p:spPr>
          <a:xfrm>
            <a:off x="1005840" y="4114800"/>
            <a:ext cx="4572000" cy="1920240"/>
          </a:xfrm>
          <a:prstGeom prst="rect">
            <a:avLst/>
          </a:prstGeom>
          <a:noFill/>
        </p:spPr>
        <p:txBody>
          <a:bodyPr wrap="square">
            <a:spAutoFit/>
          </a:bodyPr>
          <a:lstStyle/>
          <a:p>
            <a:pPr>
              <a:spcAft>
                <a:spcPts val="300"/>
              </a:spcAft>
              <a:defRPr sz="1200">
                <a:solidFill>
                  <a:srgbClr val="64748B"/>
                </a:solidFill>
                <a:latin typeface="Calibri"/>
              </a:defRPr>
            </a:pPr>
            <a:r>
              <a:t>✅  Stock mis à jour automatiquement à chaque vente</a:t>
            </a:r>
          </a:p>
          <a:p>
            <a:pPr>
              <a:spcAft>
                <a:spcPts val="300"/>
              </a:spcAft>
              <a:defRPr sz="1200">
                <a:solidFill>
                  <a:srgbClr val="64748B"/>
                </a:solidFill>
                <a:latin typeface="Calibri"/>
              </a:defRPr>
            </a:pPr>
            <a:r>
              <a:t>✅  Coût Moyen Pondéré (CMP) recalculé en temps réel</a:t>
            </a:r>
          </a:p>
          <a:p>
            <a:pPr>
              <a:spcAft>
                <a:spcPts val="300"/>
              </a:spcAft>
              <a:defRPr sz="1200">
                <a:solidFill>
                  <a:srgbClr val="64748B"/>
                </a:solidFill>
                <a:latin typeface="Calibri"/>
              </a:defRPr>
            </a:pPr>
            <a:r>
              <a:t>✅  Marges calculées automatiquement par produit</a:t>
            </a:r>
          </a:p>
          <a:p>
            <a:pPr>
              <a:spcAft>
                <a:spcPts val="300"/>
              </a:spcAft>
              <a:defRPr sz="1200">
                <a:solidFill>
                  <a:srgbClr val="64748B"/>
                </a:solidFill>
                <a:latin typeface="Calibri"/>
              </a:defRPr>
            </a:pPr>
            <a:r>
              <a:t>✅  Statut factures fournisseurs auto-actualisé</a:t>
            </a:r>
          </a:p>
          <a:p>
            <a:pPr>
              <a:spcAft>
                <a:spcPts val="300"/>
              </a:spcAft>
              <a:defRPr sz="1200">
                <a:solidFill>
                  <a:srgbClr val="64748B"/>
                </a:solidFill>
                <a:latin typeface="Calibri"/>
              </a:defRPr>
            </a:pPr>
            <a:r>
              <a:t>✅  Journal d'audit sur chaque action</a:t>
            </a:r>
          </a:p>
        </p:txBody>
      </p:sp>
      <p:sp>
        <p:nvSpPr>
          <p:cNvPr id="33" name="Rounded Rectangle 32"/>
          <p:cNvSpPr/>
          <p:nvPr/>
        </p:nvSpPr>
        <p:spPr>
          <a:xfrm>
            <a:off x="6217920" y="3657600"/>
            <a:ext cx="5212080" cy="256032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92240" y="3749039"/>
            <a:ext cx="4663440" cy="320040"/>
          </a:xfrm>
          <a:prstGeom prst="rect">
            <a:avLst/>
          </a:prstGeom>
          <a:noFill/>
        </p:spPr>
        <p:txBody>
          <a:bodyPr wrap="square">
            <a:spAutoFit/>
          </a:bodyPr>
          <a:lstStyle/>
          <a:p>
            <a:pPr algn="l">
              <a:defRPr sz="1500" b="1">
                <a:solidFill>
                  <a:srgbClr val="1E293B"/>
                </a:solidFill>
                <a:latin typeface="Calibri"/>
              </a:defRPr>
            </a:pPr>
            <a:r>
              <a:t>Transferts inter-sites</a:t>
            </a:r>
          </a:p>
        </p:txBody>
      </p:sp>
      <p:sp>
        <p:nvSpPr>
          <p:cNvPr id="35" name="Rounded Rectangle 34"/>
          <p:cNvSpPr/>
          <p:nvPr/>
        </p:nvSpPr>
        <p:spPr>
          <a:xfrm>
            <a:off x="6675120" y="4251960"/>
            <a:ext cx="1828800" cy="822960"/>
          </a:xfrm>
          <a:prstGeom prst="roundRect">
            <a:avLst/>
          </a:prstGeom>
          <a:solidFill>
            <a:srgbClr val="EFF6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75120" y="4297680"/>
            <a:ext cx="1828800" cy="274320"/>
          </a:xfrm>
          <a:prstGeom prst="rect">
            <a:avLst/>
          </a:prstGeom>
          <a:noFill/>
        </p:spPr>
        <p:txBody>
          <a:bodyPr wrap="square">
            <a:spAutoFit/>
          </a:bodyPr>
          <a:lstStyle/>
          <a:p>
            <a:pPr algn="ctr">
              <a:defRPr sz="1200" b="1">
                <a:solidFill>
                  <a:srgbClr val="1E293B"/>
                </a:solidFill>
                <a:latin typeface="Calibri"/>
              </a:defRPr>
            </a:pPr>
            <a:r>
              <a:t>🏭 Site principal</a:t>
            </a:r>
          </a:p>
        </p:txBody>
      </p:sp>
      <p:sp>
        <p:nvSpPr>
          <p:cNvPr id="37" name="TextBox 36"/>
          <p:cNvSpPr txBox="1"/>
          <p:nvPr/>
        </p:nvSpPr>
        <p:spPr>
          <a:xfrm>
            <a:off x="6675120" y="4572000"/>
            <a:ext cx="1828800" cy="274320"/>
          </a:xfrm>
          <a:prstGeom prst="rect">
            <a:avLst/>
          </a:prstGeom>
          <a:noFill/>
        </p:spPr>
        <p:txBody>
          <a:bodyPr wrap="square">
            <a:spAutoFit/>
          </a:bodyPr>
          <a:lstStyle/>
          <a:p>
            <a:pPr algn="ctr">
              <a:defRPr sz="1000" b="0">
                <a:solidFill>
                  <a:srgbClr val="64748B"/>
                </a:solidFill>
                <a:latin typeface="Calibri"/>
              </a:defRPr>
            </a:pPr>
            <a:r>
              <a:t>Abattoir + Chambre froide</a:t>
            </a:r>
          </a:p>
        </p:txBody>
      </p:sp>
      <p:sp>
        <p:nvSpPr>
          <p:cNvPr id="38" name="TextBox 37"/>
          <p:cNvSpPr txBox="1"/>
          <p:nvPr/>
        </p:nvSpPr>
        <p:spPr>
          <a:xfrm>
            <a:off x="8686800" y="4389120"/>
            <a:ext cx="457200" cy="365760"/>
          </a:xfrm>
          <a:prstGeom prst="rect">
            <a:avLst/>
          </a:prstGeom>
          <a:noFill/>
        </p:spPr>
        <p:txBody>
          <a:bodyPr wrap="square">
            <a:spAutoFit/>
          </a:bodyPr>
          <a:lstStyle/>
          <a:p>
            <a:pPr algn="ctr">
              <a:defRPr sz="2200" b="1">
                <a:solidFill>
                  <a:srgbClr val="F97316"/>
                </a:solidFill>
                <a:latin typeface="Calibri"/>
              </a:defRPr>
            </a:pPr>
            <a:r>
              <a:t>⇄</a:t>
            </a:r>
          </a:p>
        </p:txBody>
      </p:sp>
      <p:sp>
        <p:nvSpPr>
          <p:cNvPr id="39" name="Rounded Rectangle 38"/>
          <p:cNvSpPr/>
          <p:nvPr/>
        </p:nvSpPr>
        <p:spPr>
          <a:xfrm>
            <a:off x="9326880" y="4251960"/>
            <a:ext cx="1828800" cy="822960"/>
          </a:xfrm>
          <a:prstGeom prst="roundRect">
            <a:avLst/>
          </a:prstGeom>
          <a:solidFill>
            <a:srgbClr val="F0FDF4"/>
          </a:solidFill>
          <a:ln w="1905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326880" y="4297680"/>
            <a:ext cx="1828800" cy="274320"/>
          </a:xfrm>
          <a:prstGeom prst="rect">
            <a:avLst/>
          </a:prstGeom>
          <a:noFill/>
        </p:spPr>
        <p:txBody>
          <a:bodyPr wrap="square">
            <a:spAutoFit/>
          </a:bodyPr>
          <a:lstStyle/>
          <a:p>
            <a:pPr algn="ctr">
              <a:defRPr sz="1200" b="1">
                <a:solidFill>
                  <a:srgbClr val="1E293B"/>
                </a:solidFill>
                <a:latin typeface="Calibri"/>
              </a:defRPr>
            </a:pPr>
            <a:r>
              <a:t>🏪 Belleville</a:t>
            </a:r>
          </a:p>
        </p:txBody>
      </p:sp>
      <p:sp>
        <p:nvSpPr>
          <p:cNvPr id="41" name="TextBox 40"/>
          <p:cNvSpPr txBox="1"/>
          <p:nvPr/>
        </p:nvSpPr>
        <p:spPr>
          <a:xfrm>
            <a:off x="9326880" y="4572000"/>
            <a:ext cx="1828800" cy="274320"/>
          </a:xfrm>
          <a:prstGeom prst="rect">
            <a:avLst/>
          </a:prstGeom>
          <a:noFill/>
        </p:spPr>
        <p:txBody>
          <a:bodyPr wrap="square">
            <a:spAutoFit/>
          </a:bodyPr>
          <a:lstStyle/>
          <a:p>
            <a:pPr algn="ctr">
              <a:defRPr sz="1000" b="0">
                <a:solidFill>
                  <a:srgbClr val="64748B"/>
                </a:solidFill>
                <a:latin typeface="Calibri"/>
              </a:defRPr>
            </a:pPr>
            <a:r>
              <a:t>Point de vente</a:t>
            </a:r>
          </a:p>
        </p:txBody>
      </p:sp>
      <p:sp>
        <p:nvSpPr>
          <p:cNvPr id="42" name="TextBox 41"/>
          <p:cNvSpPr txBox="1"/>
          <p:nvPr/>
        </p:nvSpPr>
        <p:spPr>
          <a:xfrm>
            <a:off x="6492240" y="5303520"/>
            <a:ext cx="4663440" cy="548640"/>
          </a:xfrm>
          <a:prstGeom prst="rect">
            <a:avLst/>
          </a:prstGeom>
          <a:noFill/>
        </p:spPr>
        <p:txBody>
          <a:bodyPr wrap="square">
            <a:spAutoFit/>
          </a:bodyPr>
          <a:lstStyle/>
          <a:p>
            <a:pPr algn="ctr">
              <a:defRPr sz="1100" b="0">
                <a:solidFill>
                  <a:srgbClr val="64748B"/>
                </a:solidFill>
                <a:latin typeface="Calibri"/>
              </a:defRPr>
            </a:pPr>
            <a:r>
              <a:t>Suivi des quantités envoyées vs reçues, avec gestion des écarts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3657600" cy="320040"/>
          </a:xfrm>
          <a:prstGeom prst="rect">
            <a:avLst/>
          </a:prstGeom>
          <a:noFill/>
        </p:spPr>
        <p:txBody>
          <a:bodyPr wrap="square">
            <a:spAutoFit/>
          </a:bodyPr>
          <a:lstStyle/>
          <a:p>
            <a:pPr algn="l">
              <a:defRPr sz="1100" b="1">
                <a:solidFill>
                  <a:srgbClr val="F97316"/>
                </a:solidFill>
                <a:latin typeface="Calibri"/>
              </a:defRPr>
            </a:pPr>
            <a:r>
              <a:t>MODULES</a:t>
            </a:r>
          </a:p>
        </p:txBody>
      </p:sp>
      <p:sp>
        <p:nvSpPr>
          <p:cNvPr id="3" name="TextBox 2"/>
          <p:cNvSpPr txBox="1"/>
          <p:nvPr/>
        </p:nvSpPr>
        <p:spPr>
          <a:xfrm>
            <a:off x="731520" y="777240"/>
            <a:ext cx="9144000" cy="640080"/>
          </a:xfrm>
          <a:prstGeom prst="rect">
            <a:avLst/>
          </a:prstGeom>
          <a:noFill/>
        </p:spPr>
        <p:txBody>
          <a:bodyPr wrap="square">
            <a:spAutoFit/>
          </a:bodyPr>
          <a:lstStyle/>
          <a:p>
            <a:pPr algn="l">
              <a:defRPr sz="3200" b="1">
                <a:solidFill>
                  <a:srgbClr val="1E293B"/>
                </a:solidFill>
                <a:latin typeface="Calibri"/>
              </a:defRPr>
            </a:pPr>
            <a:r>
              <a:t>Les 9 modules de l'application</a:t>
            </a:r>
          </a:p>
        </p:txBody>
      </p:sp>
      <p:sp>
        <p:nvSpPr>
          <p:cNvPr id="4" name="Rectangle 3"/>
          <p:cNvSpPr/>
          <p:nvPr/>
        </p:nvSpPr>
        <p:spPr>
          <a:xfrm>
            <a:off x="0" y="6784848"/>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645920"/>
            <a:ext cx="3383280"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783080"/>
            <a:ext cx="457200" cy="365760"/>
          </a:xfrm>
          <a:prstGeom prst="rect">
            <a:avLst/>
          </a:prstGeom>
          <a:noFill/>
        </p:spPr>
        <p:txBody>
          <a:bodyPr wrap="square">
            <a:spAutoFit/>
          </a:bodyPr>
          <a:lstStyle/>
          <a:p>
            <a:pPr algn="l">
              <a:defRPr sz="2200" b="0">
                <a:solidFill>
                  <a:srgbClr val="1E293B"/>
                </a:solidFill>
                <a:latin typeface="Calibri"/>
              </a:defRPr>
            </a:pPr>
            <a:r>
              <a:t>🐔</a:t>
            </a:r>
          </a:p>
        </p:txBody>
      </p:sp>
      <p:sp>
        <p:nvSpPr>
          <p:cNvPr id="8" name="TextBox 7"/>
          <p:cNvSpPr txBox="1"/>
          <p:nvPr/>
        </p:nvSpPr>
        <p:spPr>
          <a:xfrm>
            <a:off x="914400" y="2148840"/>
            <a:ext cx="3017520" cy="320040"/>
          </a:xfrm>
          <a:prstGeom prst="rect">
            <a:avLst/>
          </a:prstGeom>
          <a:noFill/>
        </p:spPr>
        <p:txBody>
          <a:bodyPr wrap="square">
            <a:spAutoFit/>
          </a:bodyPr>
          <a:lstStyle/>
          <a:p>
            <a:pPr algn="l">
              <a:defRPr sz="1500" b="1">
                <a:solidFill>
                  <a:srgbClr val="1E293B"/>
                </a:solidFill>
                <a:latin typeface="Calibri"/>
              </a:defRPr>
            </a:pPr>
            <a:r>
              <a:t>Lots &amp; Achats</a:t>
            </a:r>
          </a:p>
        </p:txBody>
      </p:sp>
      <p:sp>
        <p:nvSpPr>
          <p:cNvPr id="9" name="TextBox 8"/>
          <p:cNvSpPr txBox="1"/>
          <p:nvPr/>
        </p:nvSpPr>
        <p:spPr>
          <a:xfrm>
            <a:off x="914400" y="2468880"/>
            <a:ext cx="3017520" cy="365760"/>
          </a:xfrm>
          <a:prstGeom prst="rect">
            <a:avLst/>
          </a:prstGeom>
          <a:noFill/>
        </p:spPr>
        <p:txBody>
          <a:bodyPr wrap="square">
            <a:spAutoFit/>
          </a:bodyPr>
          <a:lstStyle/>
          <a:p>
            <a:pPr algn="l">
              <a:defRPr sz="1100" b="0">
                <a:solidFill>
                  <a:srgbClr val="64748B"/>
                </a:solidFill>
                <a:latin typeface="Calibri"/>
              </a:defRPr>
            </a:pPr>
            <a:r>
              <a:t>Réception poulets/œufs, fournisseurs, coût moyen unitaire, factures</a:t>
            </a:r>
          </a:p>
        </p:txBody>
      </p:sp>
      <p:sp>
        <p:nvSpPr>
          <p:cNvPr id="10" name="Rounded Rectangle 9"/>
          <p:cNvSpPr/>
          <p:nvPr/>
        </p:nvSpPr>
        <p:spPr>
          <a:xfrm>
            <a:off x="4434840" y="1645920"/>
            <a:ext cx="3383280"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17720" y="1783080"/>
            <a:ext cx="457200" cy="365760"/>
          </a:xfrm>
          <a:prstGeom prst="rect">
            <a:avLst/>
          </a:prstGeom>
          <a:noFill/>
        </p:spPr>
        <p:txBody>
          <a:bodyPr wrap="square">
            <a:spAutoFit/>
          </a:bodyPr>
          <a:lstStyle/>
          <a:p>
            <a:pPr algn="l">
              <a:defRPr sz="2200" b="0">
                <a:solidFill>
                  <a:srgbClr val="1E293B"/>
                </a:solidFill>
                <a:latin typeface="Calibri"/>
              </a:defRPr>
            </a:pPr>
            <a:r>
              <a:t>🔪</a:t>
            </a:r>
          </a:p>
        </p:txBody>
      </p:sp>
      <p:sp>
        <p:nvSpPr>
          <p:cNvPr id="12" name="TextBox 11"/>
          <p:cNvSpPr txBox="1"/>
          <p:nvPr/>
        </p:nvSpPr>
        <p:spPr>
          <a:xfrm>
            <a:off x="4617720" y="2148840"/>
            <a:ext cx="3017520" cy="320040"/>
          </a:xfrm>
          <a:prstGeom prst="rect">
            <a:avLst/>
          </a:prstGeom>
          <a:noFill/>
        </p:spPr>
        <p:txBody>
          <a:bodyPr wrap="square">
            <a:spAutoFit/>
          </a:bodyPr>
          <a:lstStyle/>
          <a:p>
            <a:pPr algn="l">
              <a:defRPr sz="1500" b="1">
                <a:solidFill>
                  <a:srgbClr val="1E293B"/>
                </a:solidFill>
                <a:latin typeface="Calibri"/>
              </a:defRPr>
            </a:pPr>
            <a:r>
              <a:t>Production</a:t>
            </a:r>
          </a:p>
        </p:txBody>
      </p:sp>
      <p:sp>
        <p:nvSpPr>
          <p:cNvPr id="13" name="TextBox 12"/>
          <p:cNvSpPr txBox="1"/>
          <p:nvPr/>
        </p:nvSpPr>
        <p:spPr>
          <a:xfrm>
            <a:off x="4617720" y="2468880"/>
            <a:ext cx="3017520" cy="365760"/>
          </a:xfrm>
          <a:prstGeom prst="rect">
            <a:avLst/>
          </a:prstGeom>
          <a:noFill/>
        </p:spPr>
        <p:txBody>
          <a:bodyPr wrap="square">
            <a:spAutoFit/>
          </a:bodyPr>
          <a:lstStyle/>
          <a:p>
            <a:pPr algn="l">
              <a:defRPr sz="1100" b="0">
                <a:solidFill>
                  <a:srgbClr val="64748B"/>
                </a:solidFill>
                <a:latin typeface="Calibri"/>
              </a:defRPr>
            </a:pPr>
            <a:r>
              <a:t>Abattage et découpe, rendement, pertes/casse, grille de rendement</a:t>
            </a:r>
          </a:p>
        </p:txBody>
      </p:sp>
      <p:sp>
        <p:nvSpPr>
          <p:cNvPr id="14" name="Rounded Rectangle 13"/>
          <p:cNvSpPr/>
          <p:nvPr/>
        </p:nvSpPr>
        <p:spPr>
          <a:xfrm>
            <a:off x="8138160" y="1645920"/>
            <a:ext cx="3383280"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1783080"/>
            <a:ext cx="457200" cy="365760"/>
          </a:xfrm>
          <a:prstGeom prst="rect">
            <a:avLst/>
          </a:prstGeom>
          <a:noFill/>
        </p:spPr>
        <p:txBody>
          <a:bodyPr wrap="square">
            <a:spAutoFit/>
          </a:bodyPr>
          <a:lstStyle/>
          <a:p>
            <a:pPr algn="l">
              <a:defRPr sz="2200" b="0">
                <a:solidFill>
                  <a:srgbClr val="1E293B"/>
                </a:solidFill>
                <a:latin typeface="Calibri"/>
              </a:defRPr>
            </a:pPr>
            <a:r>
              <a:t>📦</a:t>
            </a:r>
          </a:p>
        </p:txBody>
      </p:sp>
      <p:sp>
        <p:nvSpPr>
          <p:cNvPr id="16" name="TextBox 15"/>
          <p:cNvSpPr txBox="1"/>
          <p:nvPr/>
        </p:nvSpPr>
        <p:spPr>
          <a:xfrm>
            <a:off x="8321040" y="2148840"/>
            <a:ext cx="3017520" cy="320040"/>
          </a:xfrm>
          <a:prstGeom prst="rect">
            <a:avLst/>
          </a:prstGeom>
          <a:noFill/>
        </p:spPr>
        <p:txBody>
          <a:bodyPr wrap="square">
            <a:spAutoFit/>
          </a:bodyPr>
          <a:lstStyle/>
          <a:p>
            <a:pPr algn="l">
              <a:defRPr sz="1500" b="1">
                <a:solidFill>
                  <a:srgbClr val="1E293B"/>
                </a:solidFill>
                <a:latin typeface="Calibri"/>
              </a:defRPr>
            </a:pPr>
            <a:r>
              <a:t>Stock</a:t>
            </a:r>
          </a:p>
        </p:txBody>
      </p:sp>
      <p:sp>
        <p:nvSpPr>
          <p:cNvPr id="17" name="TextBox 16"/>
          <p:cNvSpPr txBox="1"/>
          <p:nvPr/>
        </p:nvSpPr>
        <p:spPr>
          <a:xfrm>
            <a:off x="8321040" y="2468880"/>
            <a:ext cx="3017520" cy="365760"/>
          </a:xfrm>
          <a:prstGeom prst="rect">
            <a:avLst/>
          </a:prstGeom>
          <a:noFill/>
        </p:spPr>
        <p:txBody>
          <a:bodyPr wrap="square">
            <a:spAutoFit/>
          </a:bodyPr>
          <a:lstStyle/>
          <a:p>
            <a:pPr algn="l">
              <a:defRPr sz="1100" b="0">
                <a:solidFill>
                  <a:srgbClr val="64748B"/>
                </a:solidFill>
                <a:latin typeface="Calibri"/>
              </a:defRPr>
            </a:pPr>
            <a:r>
              <a:t>Stock temps réel par emplacement, CMP, alertes, mouvements, inventaire</a:t>
            </a:r>
          </a:p>
        </p:txBody>
      </p:sp>
      <p:sp>
        <p:nvSpPr>
          <p:cNvPr id="18" name="Rounded Rectangle 17"/>
          <p:cNvSpPr/>
          <p:nvPr/>
        </p:nvSpPr>
        <p:spPr>
          <a:xfrm>
            <a:off x="731520" y="3200400"/>
            <a:ext cx="3383280"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3337560"/>
            <a:ext cx="457200" cy="365760"/>
          </a:xfrm>
          <a:prstGeom prst="rect">
            <a:avLst/>
          </a:prstGeom>
          <a:noFill/>
        </p:spPr>
        <p:txBody>
          <a:bodyPr wrap="square">
            <a:spAutoFit/>
          </a:bodyPr>
          <a:lstStyle/>
          <a:p>
            <a:pPr algn="l">
              <a:defRPr sz="2200" b="0">
                <a:solidFill>
                  <a:srgbClr val="1E293B"/>
                </a:solidFill>
                <a:latin typeface="Calibri"/>
              </a:defRPr>
            </a:pPr>
            <a:r>
              <a:t>🚚</a:t>
            </a:r>
          </a:p>
        </p:txBody>
      </p:sp>
      <p:sp>
        <p:nvSpPr>
          <p:cNvPr id="20" name="TextBox 19"/>
          <p:cNvSpPr txBox="1"/>
          <p:nvPr/>
        </p:nvSpPr>
        <p:spPr>
          <a:xfrm>
            <a:off x="914400" y="3703320"/>
            <a:ext cx="3017520" cy="320040"/>
          </a:xfrm>
          <a:prstGeom prst="rect">
            <a:avLst/>
          </a:prstGeom>
          <a:noFill/>
        </p:spPr>
        <p:txBody>
          <a:bodyPr wrap="square">
            <a:spAutoFit/>
          </a:bodyPr>
          <a:lstStyle/>
          <a:p>
            <a:pPr algn="l">
              <a:defRPr sz="1500" b="1">
                <a:solidFill>
                  <a:srgbClr val="1E293B"/>
                </a:solidFill>
                <a:latin typeface="Calibri"/>
              </a:defRPr>
            </a:pPr>
            <a:r>
              <a:t>Transferts</a:t>
            </a:r>
          </a:p>
        </p:txBody>
      </p:sp>
      <p:sp>
        <p:nvSpPr>
          <p:cNvPr id="21" name="TextBox 20"/>
          <p:cNvSpPr txBox="1"/>
          <p:nvPr/>
        </p:nvSpPr>
        <p:spPr>
          <a:xfrm>
            <a:off x="914400" y="4023360"/>
            <a:ext cx="3017520" cy="365760"/>
          </a:xfrm>
          <a:prstGeom prst="rect">
            <a:avLst/>
          </a:prstGeom>
          <a:noFill/>
        </p:spPr>
        <p:txBody>
          <a:bodyPr wrap="square">
            <a:spAutoFit/>
          </a:bodyPr>
          <a:lstStyle/>
          <a:p>
            <a:pPr algn="l">
              <a:defRPr sz="1100" b="0">
                <a:solidFill>
                  <a:srgbClr val="64748B"/>
                </a:solidFill>
                <a:latin typeface="Calibri"/>
              </a:defRPr>
            </a:pPr>
            <a:r>
              <a:t>Transfert de produits entre sites, suivi envoi/réception, écarts</a:t>
            </a:r>
          </a:p>
        </p:txBody>
      </p:sp>
      <p:sp>
        <p:nvSpPr>
          <p:cNvPr id="22" name="Rounded Rectangle 21"/>
          <p:cNvSpPr/>
          <p:nvPr/>
        </p:nvSpPr>
        <p:spPr>
          <a:xfrm>
            <a:off x="4434840" y="3200400"/>
            <a:ext cx="3383280"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17720" y="3337560"/>
            <a:ext cx="457200" cy="365760"/>
          </a:xfrm>
          <a:prstGeom prst="rect">
            <a:avLst/>
          </a:prstGeom>
          <a:noFill/>
        </p:spPr>
        <p:txBody>
          <a:bodyPr wrap="square">
            <a:spAutoFit/>
          </a:bodyPr>
          <a:lstStyle/>
          <a:p>
            <a:pPr algn="l">
              <a:defRPr sz="2200" b="0">
                <a:solidFill>
                  <a:srgbClr val="1E293B"/>
                </a:solidFill>
                <a:latin typeface="Calibri"/>
              </a:defRPr>
            </a:pPr>
            <a:r>
              <a:t>🛒</a:t>
            </a:r>
          </a:p>
        </p:txBody>
      </p:sp>
      <p:sp>
        <p:nvSpPr>
          <p:cNvPr id="24" name="TextBox 23"/>
          <p:cNvSpPr txBox="1"/>
          <p:nvPr/>
        </p:nvSpPr>
        <p:spPr>
          <a:xfrm>
            <a:off x="4617720" y="3703320"/>
            <a:ext cx="3017520" cy="320040"/>
          </a:xfrm>
          <a:prstGeom prst="rect">
            <a:avLst/>
          </a:prstGeom>
          <a:noFill/>
        </p:spPr>
        <p:txBody>
          <a:bodyPr wrap="square">
            <a:spAutoFit/>
          </a:bodyPr>
          <a:lstStyle/>
          <a:p>
            <a:pPr algn="l">
              <a:defRPr sz="1500" b="1">
                <a:solidFill>
                  <a:srgbClr val="1E293B"/>
                </a:solidFill>
                <a:latin typeface="Calibri"/>
              </a:defRPr>
            </a:pPr>
            <a:r>
              <a:t>Ventes</a:t>
            </a:r>
          </a:p>
        </p:txBody>
      </p:sp>
      <p:sp>
        <p:nvSpPr>
          <p:cNvPr id="25" name="TextBox 24"/>
          <p:cNvSpPr txBox="1"/>
          <p:nvPr/>
        </p:nvSpPr>
        <p:spPr>
          <a:xfrm>
            <a:off x="4617720" y="4023360"/>
            <a:ext cx="3017520" cy="365760"/>
          </a:xfrm>
          <a:prstGeom prst="rect">
            <a:avLst/>
          </a:prstGeom>
          <a:noFill/>
        </p:spPr>
        <p:txBody>
          <a:bodyPr wrap="square">
            <a:spAutoFit/>
          </a:bodyPr>
          <a:lstStyle/>
          <a:p>
            <a:pPr algn="l">
              <a:defRPr sz="1100" b="0">
                <a:solidFill>
                  <a:srgbClr val="64748B"/>
                </a:solidFill>
                <a:latin typeface="Calibri"/>
              </a:defRPr>
            </a:pPr>
            <a:r>
              <a:t>Multi-canaux, crédit, paiements partiels, reçus PDF</a:t>
            </a:r>
          </a:p>
        </p:txBody>
      </p:sp>
      <p:sp>
        <p:nvSpPr>
          <p:cNvPr id="26" name="Rounded Rectangle 25"/>
          <p:cNvSpPr/>
          <p:nvPr/>
        </p:nvSpPr>
        <p:spPr>
          <a:xfrm>
            <a:off x="8138160" y="3200400"/>
            <a:ext cx="3383280"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21040" y="3337560"/>
            <a:ext cx="457200" cy="365760"/>
          </a:xfrm>
          <a:prstGeom prst="rect">
            <a:avLst/>
          </a:prstGeom>
          <a:noFill/>
        </p:spPr>
        <p:txBody>
          <a:bodyPr wrap="square">
            <a:spAutoFit/>
          </a:bodyPr>
          <a:lstStyle/>
          <a:p>
            <a:pPr algn="l">
              <a:defRPr sz="2200" b="0">
                <a:solidFill>
                  <a:srgbClr val="1E293B"/>
                </a:solidFill>
                <a:latin typeface="Calibri"/>
              </a:defRPr>
            </a:pPr>
            <a:r>
              <a:t>👥</a:t>
            </a:r>
          </a:p>
        </p:txBody>
      </p:sp>
      <p:sp>
        <p:nvSpPr>
          <p:cNvPr id="28" name="TextBox 27"/>
          <p:cNvSpPr txBox="1"/>
          <p:nvPr/>
        </p:nvSpPr>
        <p:spPr>
          <a:xfrm>
            <a:off x="8321040" y="3703320"/>
            <a:ext cx="3017520" cy="320040"/>
          </a:xfrm>
          <a:prstGeom prst="rect">
            <a:avLst/>
          </a:prstGeom>
          <a:noFill/>
        </p:spPr>
        <p:txBody>
          <a:bodyPr wrap="square">
            <a:spAutoFit/>
          </a:bodyPr>
          <a:lstStyle/>
          <a:p>
            <a:pPr algn="l">
              <a:defRPr sz="1500" b="1">
                <a:solidFill>
                  <a:srgbClr val="1E293B"/>
                </a:solidFill>
                <a:latin typeface="Calibri"/>
              </a:defRPr>
            </a:pPr>
            <a:r>
              <a:t>Clients / CRM</a:t>
            </a:r>
          </a:p>
        </p:txBody>
      </p:sp>
      <p:sp>
        <p:nvSpPr>
          <p:cNvPr id="29" name="TextBox 28"/>
          <p:cNvSpPr txBox="1"/>
          <p:nvPr/>
        </p:nvSpPr>
        <p:spPr>
          <a:xfrm>
            <a:off x="8321040" y="4023360"/>
            <a:ext cx="3017520" cy="365760"/>
          </a:xfrm>
          <a:prstGeom prst="rect">
            <a:avLst/>
          </a:prstGeom>
          <a:noFill/>
        </p:spPr>
        <p:txBody>
          <a:bodyPr wrap="square">
            <a:spAutoFit/>
          </a:bodyPr>
          <a:lstStyle/>
          <a:p>
            <a:pPr algn="l">
              <a:defRPr sz="1100" b="0">
                <a:solidFill>
                  <a:srgbClr val="64748B"/>
                </a:solidFill>
                <a:latin typeface="Calibri"/>
              </a:defRPr>
            </a:pPr>
            <a:r>
              <a:t>Fiche client, suivi commercial, historique, import Excel</a:t>
            </a:r>
          </a:p>
        </p:txBody>
      </p:sp>
      <p:sp>
        <p:nvSpPr>
          <p:cNvPr id="30" name="Rounded Rectangle 29"/>
          <p:cNvSpPr/>
          <p:nvPr/>
        </p:nvSpPr>
        <p:spPr>
          <a:xfrm>
            <a:off x="731520" y="4754880"/>
            <a:ext cx="3383280"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4892040"/>
            <a:ext cx="457200" cy="365760"/>
          </a:xfrm>
          <a:prstGeom prst="rect">
            <a:avLst/>
          </a:prstGeom>
          <a:noFill/>
        </p:spPr>
        <p:txBody>
          <a:bodyPr wrap="square">
            <a:spAutoFit/>
          </a:bodyPr>
          <a:lstStyle/>
          <a:p>
            <a:pPr algn="l">
              <a:defRPr sz="2200" b="0">
                <a:solidFill>
                  <a:srgbClr val="1E293B"/>
                </a:solidFill>
                <a:latin typeface="Calibri"/>
              </a:defRPr>
            </a:pPr>
            <a:r>
              <a:t>💰</a:t>
            </a:r>
          </a:p>
        </p:txBody>
      </p:sp>
      <p:sp>
        <p:nvSpPr>
          <p:cNvPr id="32" name="TextBox 31"/>
          <p:cNvSpPr txBox="1"/>
          <p:nvPr/>
        </p:nvSpPr>
        <p:spPr>
          <a:xfrm>
            <a:off x="914400" y="5257800"/>
            <a:ext cx="3017520" cy="320040"/>
          </a:xfrm>
          <a:prstGeom prst="rect">
            <a:avLst/>
          </a:prstGeom>
          <a:noFill/>
        </p:spPr>
        <p:txBody>
          <a:bodyPr wrap="square">
            <a:spAutoFit/>
          </a:bodyPr>
          <a:lstStyle/>
          <a:p>
            <a:pPr algn="l">
              <a:defRPr sz="1500" b="1">
                <a:solidFill>
                  <a:srgbClr val="1E293B"/>
                </a:solidFill>
                <a:latin typeface="Calibri"/>
              </a:defRPr>
            </a:pPr>
            <a:r>
              <a:t>Caisse</a:t>
            </a:r>
          </a:p>
        </p:txBody>
      </p:sp>
      <p:sp>
        <p:nvSpPr>
          <p:cNvPr id="33" name="TextBox 32"/>
          <p:cNvSpPr txBox="1"/>
          <p:nvPr/>
        </p:nvSpPr>
        <p:spPr>
          <a:xfrm>
            <a:off x="914400" y="5577840"/>
            <a:ext cx="3017520" cy="365760"/>
          </a:xfrm>
          <a:prstGeom prst="rect">
            <a:avLst/>
          </a:prstGeom>
          <a:noFill/>
        </p:spPr>
        <p:txBody>
          <a:bodyPr wrap="square">
            <a:spAutoFit/>
          </a:bodyPr>
          <a:lstStyle/>
          <a:p>
            <a:pPr algn="l">
              <a:defRPr sz="1100" b="0">
                <a:solidFill>
                  <a:srgbClr val="64748B"/>
                </a:solidFill>
                <a:latin typeface="Calibri"/>
              </a:defRPr>
            </a:pPr>
            <a:r>
              <a:t>Journal quotidien, versements espèces/Wave/MTN/chèque, clôture</a:t>
            </a:r>
          </a:p>
        </p:txBody>
      </p:sp>
      <p:sp>
        <p:nvSpPr>
          <p:cNvPr id="34" name="Rounded Rectangle 33"/>
          <p:cNvSpPr/>
          <p:nvPr/>
        </p:nvSpPr>
        <p:spPr>
          <a:xfrm>
            <a:off x="4434840" y="4754880"/>
            <a:ext cx="3383280"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17720" y="4892040"/>
            <a:ext cx="457200" cy="365760"/>
          </a:xfrm>
          <a:prstGeom prst="rect">
            <a:avLst/>
          </a:prstGeom>
          <a:noFill/>
        </p:spPr>
        <p:txBody>
          <a:bodyPr wrap="square">
            <a:spAutoFit/>
          </a:bodyPr>
          <a:lstStyle/>
          <a:p>
            <a:pPr algn="l">
              <a:defRPr sz="2200" b="0">
                <a:solidFill>
                  <a:srgbClr val="1E293B"/>
                </a:solidFill>
                <a:latin typeface="Calibri"/>
              </a:defRPr>
            </a:pPr>
            <a:r>
              <a:t>📊</a:t>
            </a:r>
          </a:p>
        </p:txBody>
      </p:sp>
      <p:sp>
        <p:nvSpPr>
          <p:cNvPr id="36" name="TextBox 35"/>
          <p:cNvSpPr txBox="1"/>
          <p:nvPr/>
        </p:nvSpPr>
        <p:spPr>
          <a:xfrm>
            <a:off x="4617720" y="5257800"/>
            <a:ext cx="3017520" cy="320040"/>
          </a:xfrm>
          <a:prstGeom prst="rect">
            <a:avLst/>
          </a:prstGeom>
          <a:noFill/>
        </p:spPr>
        <p:txBody>
          <a:bodyPr wrap="square">
            <a:spAutoFit/>
          </a:bodyPr>
          <a:lstStyle/>
          <a:p>
            <a:pPr algn="l">
              <a:defRPr sz="1500" b="1">
                <a:solidFill>
                  <a:srgbClr val="1E293B"/>
                </a:solidFill>
                <a:latin typeface="Calibri"/>
              </a:defRPr>
            </a:pPr>
            <a:r>
              <a:t>Charges</a:t>
            </a:r>
          </a:p>
        </p:txBody>
      </p:sp>
      <p:sp>
        <p:nvSpPr>
          <p:cNvPr id="37" name="TextBox 36"/>
          <p:cNvSpPr txBox="1"/>
          <p:nvPr/>
        </p:nvSpPr>
        <p:spPr>
          <a:xfrm>
            <a:off x="4617720" y="5577840"/>
            <a:ext cx="3017520" cy="365760"/>
          </a:xfrm>
          <a:prstGeom prst="rect">
            <a:avLst/>
          </a:prstGeom>
          <a:noFill/>
        </p:spPr>
        <p:txBody>
          <a:bodyPr wrap="square">
            <a:spAutoFit/>
          </a:bodyPr>
          <a:lstStyle/>
          <a:p>
            <a:pPr algn="l">
              <a:defRPr sz="1100" b="0">
                <a:solidFill>
                  <a:srgbClr val="64748B"/>
                </a:solidFill>
                <a:latin typeface="Calibri"/>
              </a:defRPr>
            </a:pPr>
            <a:r>
              <a:t>Dépenses par catégorie, impact caisse automatique</a:t>
            </a:r>
          </a:p>
        </p:txBody>
      </p:sp>
      <p:sp>
        <p:nvSpPr>
          <p:cNvPr id="38" name="Rounded Rectangle 37"/>
          <p:cNvSpPr/>
          <p:nvPr/>
        </p:nvSpPr>
        <p:spPr>
          <a:xfrm>
            <a:off x="8138160" y="4754880"/>
            <a:ext cx="3383280"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321040" y="4892040"/>
            <a:ext cx="457200" cy="365760"/>
          </a:xfrm>
          <a:prstGeom prst="rect">
            <a:avLst/>
          </a:prstGeom>
          <a:noFill/>
        </p:spPr>
        <p:txBody>
          <a:bodyPr wrap="square">
            <a:spAutoFit/>
          </a:bodyPr>
          <a:lstStyle/>
          <a:p>
            <a:pPr algn="l">
              <a:defRPr sz="2200" b="0">
                <a:solidFill>
                  <a:srgbClr val="1E293B"/>
                </a:solidFill>
                <a:latin typeface="Calibri"/>
              </a:defRPr>
            </a:pPr>
            <a:r>
              <a:t>💧</a:t>
            </a:r>
          </a:p>
        </p:txBody>
      </p:sp>
      <p:sp>
        <p:nvSpPr>
          <p:cNvPr id="40" name="TextBox 39"/>
          <p:cNvSpPr txBox="1"/>
          <p:nvPr/>
        </p:nvSpPr>
        <p:spPr>
          <a:xfrm>
            <a:off x="8321040" y="5257800"/>
            <a:ext cx="3017520" cy="320040"/>
          </a:xfrm>
          <a:prstGeom prst="rect">
            <a:avLst/>
          </a:prstGeom>
          <a:noFill/>
        </p:spPr>
        <p:txBody>
          <a:bodyPr wrap="square">
            <a:spAutoFit/>
          </a:bodyPr>
          <a:lstStyle/>
          <a:p>
            <a:pPr algn="l">
              <a:defRPr sz="1500" b="1">
                <a:solidFill>
                  <a:srgbClr val="1E293B"/>
                </a:solidFill>
                <a:latin typeface="Calibri"/>
              </a:defRPr>
            </a:pPr>
            <a:r>
              <a:t>Eau &amp; Viande</a:t>
            </a:r>
          </a:p>
        </p:txBody>
      </p:sp>
      <p:sp>
        <p:nvSpPr>
          <p:cNvPr id="41" name="TextBox 40"/>
          <p:cNvSpPr txBox="1"/>
          <p:nvPr/>
        </p:nvSpPr>
        <p:spPr>
          <a:xfrm>
            <a:off x="8321040" y="5577840"/>
            <a:ext cx="3017520" cy="365760"/>
          </a:xfrm>
          <a:prstGeom prst="rect">
            <a:avLst/>
          </a:prstGeom>
          <a:noFill/>
        </p:spPr>
        <p:txBody>
          <a:bodyPr wrap="square">
            <a:spAutoFit/>
          </a:bodyPr>
          <a:lstStyle/>
          <a:p>
            <a:pPr algn="l">
              <a:defRPr sz="1100" b="0">
                <a:solidFill>
                  <a:srgbClr val="64748B"/>
                </a:solidFill>
                <a:latin typeface="Calibri"/>
              </a:defRPr>
            </a:pPr>
            <a:r>
              <a:t>Modules complémentaires : eau en sachets, viande bovine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3657600" cy="320040"/>
          </a:xfrm>
          <a:prstGeom prst="rect">
            <a:avLst/>
          </a:prstGeom>
          <a:noFill/>
        </p:spPr>
        <p:txBody>
          <a:bodyPr wrap="square">
            <a:spAutoFit/>
          </a:bodyPr>
          <a:lstStyle/>
          <a:p>
            <a:pPr algn="l">
              <a:defRPr sz="1100" b="1">
                <a:solidFill>
                  <a:srgbClr val="F97316"/>
                </a:solidFill>
                <a:latin typeface="Calibri"/>
              </a:defRPr>
            </a:pPr>
            <a:r>
              <a:t>TABLEAU DE BORD</a:t>
            </a:r>
          </a:p>
        </p:txBody>
      </p:sp>
      <p:sp>
        <p:nvSpPr>
          <p:cNvPr id="3" name="TextBox 2"/>
          <p:cNvSpPr txBox="1"/>
          <p:nvPr/>
        </p:nvSpPr>
        <p:spPr>
          <a:xfrm>
            <a:off x="731520" y="777240"/>
            <a:ext cx="9144000" cy="640080"/>
          </a:xfrm>
          <a:prstGeom prst="rect">
            <a:avLst/>
          </a:prstGeom>
          <a:noFill/>
        </p:spPr>
        <p:txBody>
          <a:bodyPr wrap="square">
            <a:spAutoFit/>
          </a:bodyPr>
          <a:lstStyle/>
          <a:p>
            <a:pPr algn="l">
              <a:defRPr sz="3200" b="1">
                <a:solidFill>
                  <a:srgbClr val="FFFFFF"/>
                </a:solidFill>
                <a:latin typeface="Calibri"/>
              </a:defRPr>
            </a:pPr>
            <a:r>
              <a:t>Des KPI en temps réel pour chaque profil</a:t>
            </a:r>
          </a:p>
        </p:txBody>
      </p:sp>
      <p:pic>
        <p:nvPicPr>
          <p:cNvPr id="4" name="Picture 3" descr="Logo_chapchap.jpeg"/>
          <p:cNvPicPr>
            <a:picLocks noChangeAspect="1"/>
          </p:cNvPicPr>
          <p:nvPr/>
        </p:nvPicPr>
        <p:blipFill>
          <a:blip r:embed="rId3"/>
          <a:stretch>
            <a:fillRect/>
          </a:stretch>
        </p:blipFill>
        <p:spPr>
          <a:xfrm>
            <a:off x="11094415" y="137160"/>
            <a:ext cx="548640" cy="544354"/>
          </a:xfrm>
          <a:prstGeom prst="rect">
            <a:avLst/>
          </a:prstGeom>
        </p:spPr>
      </p:pic>
      <p:sp>
        <p:nvSpPr>
          <p:cNvPr id="5" name="Rectangle 4"/>
          <p:cNvSpPr/>
          <p:nvPr/>
        </p:nvSpPr>
        <p:spPr>
          <a:xfrm>
            <a:off x="0" y="6803136"/>
            <a:ext cx="12191695"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828800"/>
            <a:ext cx="2560320" cy="347472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65960"/>
            <a:ext cx="2194560" cy="320040"/>
          </a:xfrm>
          <a:prstGeom prst="rect">
            <a:avLst/>
          </a:prstGeom>
          <a:noFill/>
        </p:spPr>
        <p:txBody>
          <a:bodyPr wrap="square">
            <a:spAutoFit/>
          </a:bodyPr>
          <a:lstStyle/>
          <a:p>
            <a:pPr algn="l">
              <a:defRPr sz="1400" b="1">
                <a:solidFill>
                  <a:srgbClr val="F97316"/>
                </a:solidFill>
                <a:latin typeface="Calibri"/>
              </a:defRPr>
            </a:pPr>
            <a:r>
              <a:t>👔 Vue Gérant</a:t>
            </a:r>
          </a:p>
        </p:txBody>
      </p:sp>
      <p:sp>
        <p:nvSpPr>
          <p:cNvPr id="8" name="TextBox 7"/>
          <p:cNvSpPr txBox="1"/>
          <p:nvPr/>
        </p:nvSpPr>
        <p:spPr>
          <a:xfrm>
            <a:off x="914400" y="2377440"/>
            <a:ext cx="2194560" cy="2743200"/>
          </a:xfrm>
          <a:prstGeom prst="rect">
            <a:avLst/>
          </a:prstGeom>
          <a:noFill/>
        </p:spPr>
        <p:txBody>
          <a:bodyPr wrap="square">
            <a:spAutoFit/>
          </a:bodyPr>
          <a:lstStyle/>
          <a:p>
            <a:pPr>
              <a:spcAft>
                <a:spcPts val="400"/>
              </a:spcAft>
              <a:defRPr sz="1100">
                <a:solidFill>
                  <a:srgbClr val="AAAACC"/>
                </a:solidFill>
                <a:latin typeface="Calibri"/>
              </a:defRPr>
            </a:pPr>
            <a:r>
              <a:t>  CA jour / semaine / mois</a:t>
            </a:r>
          </a:p>
          <a:p>
            <a:pPr>
              <a:spcAft>
                <a:spcPts val="400"/>
              </a:spcAft>
              <a:defRPr sz="1100">
                <a:solidFill>
                  <a:srgbClr val="AAAACC"/>
                </a:solidFill>
                <a:latin typeface="Calibri"/>
              </a:defRPr>
            </a:pPr>
            <a:r>
              <a:t>  Marge brute globale</a:t>
            </a:r>
          </a:p>
          <a:p>
            <a:pPr>
              <a:spcAft>
                <a:spcPts val="400"/>
              </a:spcAft>
              <a:defRPr sz="1100">
                <a:solidFill>
                  <a:srgbClr val="AAAACC"/>
                </a:solidFill>
                <a:latin typeface="Calibri"/>
              </a:defRPr>
            </a:pPr>
            <a:r>
              <a:t>  Évolution CA 30 jours</a:t>
            </a:r>
          </a:p>
          <a:p>
            <a:pPr>
              <a:spcAft>
                <a:spcPts val="400"/>
              </a:spcAft>
              <a:defRPr sz="1100">
                <a:solidFill>
                  <a:srgbClr val="AAAACC"/>
                </a:solidFill>
                <a:latin typeface="Calibri"/>
              </a:defRPr>
            </a:pPr>
            <a:r>
              <a:t>  Top 5 clients par CA</a:t>
            </a:r>
          </a:p>
          <a:p>
            <a:pPr>
              <a:spcAft>
                <a:spcPts val="400"/>
              </a:spcAft>
              <a:defRPr sz="1100">
                <a:solidFill>
                  <a:srgbClr val="AAAACC"/>
                </a:solidFill>
                <a:latin typeface="Calibri"/>
              </a:defRPr>
            </a:pPr>
            <a:r>
              <a:t>  Top 5 produits vendus</a:t>
            </a:r>
          </a:p>
          <a:p>
            <a:pPr>
              <a:spcAft>
                <a:spcPts val="400"/>
              </a:spcAft>
              <a:defRPr sz="1100">
                <a:solidFill>
                  <a:srgbClr val="AAAACC"/>
                </a:solidFill>
                <a:latin typeface="Calibri"/>
              </a:defRPr>
            </a:pPr>
            <a:r>
              <a:t>  Impayés et ancienneté</a:t>
            </a:r>
          </a:p>
          <a:p>
            <a:pPr>
              <a:spcAft>
                <a:spcPts val="400"/>
              </a:spcAft>
              <a:defRPr sz="1100">
                <a:solidFill>
                  <a:srgbClr val="AAAACC"/>
                </a:solidFill>
                <a:latin typeface="Calibri"/>
              </a:defRPr>
            </a:pPr>
            <a:r>
              <a:t>  Trésorerie 7 jours</a:t>
            </a:r>
          </a:p>
        </p:txBody>
      </p:sp>
      <p:sp>
        <p:nvSpPr>
          <p:cNvPr id="9" name="Rounded Rectangle 8"/>
          <p:cNvSpPr/>
          <p:nvPr/>
        </p:nvSpPr>
        <p:spPr>
          <a:xfrm>
            <a:off x="3611880" y="1828800"/>
            <a:ext cx="2560320" cy="347472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794760" y="1965960"/>
            <a:ext cx="2194560" cy="320040"/>
          </a:xfrm>
          <a:prstGeom prst="rect">
            <a:avLst/>
          </a:prstGeom>
          <a:noFill/>
        </p:spPr>
        <p:txBody>
          <a:bodyPr wrap="square">
            <a:spAutoFit/>
          </a:bodyPr>
          <a:lstStyle/>
          <a:p>
            <a:pPr algn="l">
              <a:defRPr sz="1400" b="1">
                <a:solidFill>
                  <a:srgbClr val="F97316"/>
                </a:solidFill>
                <a:latin typeface="Calibri"/>
              </a:defRPr>
            </a:pPr>
            <a:r>
              <a:t>📦 Vue Stock</a:t>
            </a:r>
          </a:p>
        </p:txBody>
      </p:sp>
      <p:sp>
        <p:nvSpPr>
          <p:cNvPr id="11" name="TextBox 10"/>
          <p:cNvSpPr txBox="1"/>
          <p:nvPr/>
        </p:nvSpPr>
        <p:spPr>
          <a:xfrm>
            <a:off x="3794760" y="2377440"/>
            <a:ext cx="2194560" cy="2743200"/>
          </a:xfrm>
          <a:prstGeom prst="rect">
            <a:avLst/>
          </a:prstGeom>
          <a:noFill/>
        </p:spPr>
        <p:txBody>
          <a:bodyPr wrap="square">
            <a:spAutoFit/>
          </a:bodyPr>
          <a:lstStyle/>
          <a:p>
            <a:pPr>
              <a:spcAft>
                <a:spcPts val="400"/>
              </a:spcAft>
              <a:defRPr sz="1100">
                <a:solidFill>
                  <a:srgbClr val="AAAACC"/>
                </a:solidFill>
                <a:latin typeface="Calibri"/>
              </a:defRPr>
            </a:pPr>
            <a:r>
              <a:t>  Stock total valorisé</a:t>
            </a:r>
          </a:p>
          <a:p>
            <a:pPr>
              <a:spcAft>
                <a:spcPts val="400"/>
              </a:spcAft>
              <a:defRPr sz="1100">
                <a:solidFill>
                  <a:srgbClr val="AAAACC"/>
                </a:solidFill>
                <a:latin typeface="Calibri"/>
              </a:defRPr>
            </a:pPr>
            <a:r>
              <a:t>  Alertes de stock bas</a:t>
            </a:r>
          </a:p>
          <a:p>
            <a:pPr>
              <a:spcAft>
                <a:spcPts val="400"/>
              </a:spcAft>
              <a:defRPr sz="1100">
                <a:solidFill>
                  <a:srgbClr val="AAAACC"/>
                </a:solidFill>
                <a:latin typeface="Calibri"/>
              </a:defRPr>
            </a:pPr>
            <a:r>
              <a:t>  Répartition par catégorie</a:t>
            </a:r>
          </a:p>
        </p:txBody>
      </p:sp>
      <p:sp>
        <p:nvSpPr>
          <p:cNvPr id="12" name="Rounded Rectangle 11"/>
          <p:cNvSpPr/>
          <p:nvPr/>
        </p:nvSpPr>
        <p:spPr>
          <a:xfrm>
            <a:off x="6492240" y="1828800"/>
            <a:ext cx="2560320" cy="347472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1965960"/>
            <a:ext cx="2194560" cy="320040"/>
          </a:xfrm>
          <a:prstGeom prst="rect">
            <a:avLst/>
          </a:prstGeom>
          <a:noFill/>
        </p:spPr>
        <p:txBody>
          <a:bodyPr wrap="square">
            <a:spAutoFit/>
          </a:bodyPr>
          <a:lstStyle/>
          <a:p>
            <a:pPr algn="l">
              <a:defRPr sz="1400" b="1">
                <a:solidFill>
                  <a:srgbClr val="F97316"/>
                </a:solidFill>
                <a:latin typeface="Calibri"/>
              </a:defRPr>
            </a:pPr>
            <a:r>
              <a:t>🏭 Vue Production</a:t>
            </a:r>
          </a:p>
        </p:txBody>
      </p:sp>
      <p:sp>
        <p:nvSpPr>
          <p:cNvPr id="14" name="TextBox 13"/>
          <p:cNvSpPr txBox="1"/>
          <p:nvPr/>
        </p:nvSpPr>
        <p:spPr>
          <a:xfrm>
            <a:off x="6675120" y="2377440"/>
            <a:ext cx="2194560" cy="2743200"/>
          </a:xfrm>
          <a:prstGeom prst="rect">
            <a:avLst/>
          </a:prstGeom>
          <a:noFill/>
        </p:spPr>
        <p:txBody>
          <a:bodyPr wrap="square">
            <a:spAutoFit/>
          </a:bodyPr>
          <a:lstStyle/>
          <a:p>
            <a:pPr>
              <a:spcAft>
                <a:spcPts val="400"/>
              </a:spcAft>
              <a:defRPr sz="1100">
                <a:solidFill>
                  <a:srgbClr val="AAAACC"/>
                </a:solidFill>
                <a:latin typeface="Calibri"/>
              </a:defRPr>
            </a:pPr>
            <a:r>
              <a:t>  Poulets traités (sem/mois)</a:t>
            </a:r>
          </a:p>
          <a:p>
            <a:pPr>
              <a:spcAft>
                <a:spcPts val="400"/>
              </a:spcAft>
              <a:defRPr sz="1100">
                <a:solidFill>
                  <a:srgbClr val="AAAACC"/>
                </a:solidFill>
                <a:latin typeface="Calibri"/>
              </a:defRPr>
            </a:pPr>
            <a:r>
              <a:t>  Rendement moyen</a:t>
            </a:r>
          </a:p>
          <a:p>
            <a:pPr>
              <a:spcAft>
                <a:spcPts val="400"/>
              </a:spcAft>
              <a:defRPr sz="1100">
                <a:solidFill>
                  <a:srgbClr val="AAAACC"/>
                </a:solidFill>
                <a:latin typeface="Calibri"/>
              </a:defRPr>
            </a:pPr>
            <a:r>
              <a:t>  Pertes et casse (kg)</a:t>
            </a:r>
          </a:p>
        </p:txBody>
      </p:sp>
      <p:sp>
        <p:nvSpPr>
          <p:cNvPr id="15" name="Rounded Rectangle 14"/>
          <p:cNvSpPr/>
          <p:nvPr/>
        </p:nvSpPr>
        <p:spPr>
          <a:xfrm>
            <a:off x="9372600" y="1828800"/>
            <a:ext cx="2560320" cy="347472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555480" y="1965960"/>
            <a:ext cx="2194560" cy="320040"/>
          </a:xfrm>
          <a:prstGeom prst="rect">
            <a:avLst/>
          </a:prstGeom>
          <a:noFill/>
        </p:spPr>
        <p:txBody>
          <a:bodyPr wrap="square">
            <a:spAutoFit/>
          </a:bodyPr>
          <a:lstStyle/>
          <a:p>
            <a:pPr algn="l">
              <a:defRPr sz="1400" b="1">
                <a:solidFill>
                  <a:srgbClr val="F97316"/>
                </a:solidFill>
                <a:latin typeface="Calibri"/>
              </a:defRPr>
            </a:pPr>
            <a:r>
              <a:t>🛒 Vue Commercial</a:t>
            </a:r>
          </a:p>
        </p:txBody>
      </p:sp>
      <p:sp>
        <p:nvSpPr>
          <p:cNvPr id="17" name="TextBox 16"/>
          <p:cNvSpPr txBox="1"/>
          <p:nvPr/>
        </p:nvSpPr>
        <p:spPr>
          <a:xfrm>
            <a:off x="9555480" y="2377440"/>
            <a:ext cx="2194560" cy="2743200"/>
          </a:xfrm>
          <a:prstGeom prst="rect">
            <a:avLst/>
          </a:prstGeom>
          <a:noFill/>
        </p:spPr>
        <p:txBody>
          <a:bodyPr wrap="square">
            <a:spAutoFit/>
          </a:bodyPr>
          <a:lstStyle/>
          <a:p>
            <a:pPr>
              <a:spcAft>
                <a:spcPts val="400"/>
              </a:spcAft>
              <a:defRPr sz="1100">
                <a:solidFill>
                  <a:srgbClr val="AAAACC"/>
                </a:solidFill>
                <a:latin typeface="Calibri"/>
              </a:defRPr>
            </a:pPr>
            <a:r>
              <a:t>  CA par commercial</a:t>
            </a:r>
          </a:p>
          <a:p>
            <a:pPr>
              <a:spcAft>
                <a:spcPts val="400"/>
              </a:spcAft>
              <a:defRPr sz="1100">
                <a:solidFill>
                  <a:srgbClr val="AAAACC"/>
                </a:solidFill>
                <a:latin typeface="Calibri"/>
              </a:defRPr>
            </a:pPr>
            <a:r>
              <a:t>  Nb ventes et clients actifs</a:t>
            </a:r>
          </a:p>
          <a:p>
            <a:pPr>
              <a:spcAft>
                <a:spcPts val="400"/>
              </a:spcAft>
              <a:defRPr sz="1100">
                <a:solidFill>
                  <a:srgbClr val="AAAACC"/>
                </a:solidFill>
                <a:latin typeface="Calibri"/>
              </a:defRPr>
            </a:pPr>
            <a:r>
              <a:t>  Impayés par commercial</a:t>
            </a:r>
          </a:p>
          <a:p>
            <a:pPr>
              <a:spcAft>
                <a:spcPts val="400"/>
              </a:spcAft>
              <a:defRPr sz="1100">
                <a:solidFill>
                  <a:srgbClr val="AAAACC"/>
                </a:solidFill>
                <a:latin typeface="Calibri"/>
              </a:defRPr>
            </a:pPr>
            <a:r>
              <a:t>  Classement performance</a:t>
            </a:r>
          </a:p>
        </p:txBody>
      </p:sp>
      <p:sp>
        <p:nvSpPr>
          <p:cNvPr id="18" name="TextBox 17"/>
          <p:cNvSpPr txBox="1"/>
          <p:nvPr/>
        </p:nvSpPr>
        <p:spPr>
          <a:xfrm>
            <a:off x="0" y="5669280"/>
            <a:ext cx="12191695" cy="320040"/>
          </a:xfrm>
          <a:prstGeom prst="rect">
            <a:avLst/>
          </a:prstGeom>
          <a:noFill/>
        </p:spPr>
        <p:txBody>
          <a:bodyPr wrap="square">
            <a:spAutoFit/>
          </a:bodyPr>
          <a:lstStyle/>
          <a:p>
            <a:pPr algn="ctr">
              <a:defRPr sz="1200" b="0">
                <a:solidFill>
                  <a:srgbClr val="64748B"/>
                </a:solidFill>
                <a:latin typeface="Calibri"/>
              </a:defRPr>
            </a:pPr>
            <a:r>
              <a:t>10 widgets au total — chaque profil ne voit que les données qui le concernent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3657600" cy="320040"/>
          </a:xfrm>
          <a:prstGeom prst="rect">
            <a:avLst/>
          </a:prstGeom>
          <a:noFill/>
        </p:spPr>
        <p:txBody>
          <a:bodyPr wrap="square">
            <a:spAutoFit/>
          </a:bodyPr>
          <a:lstStyle/>
          <a:p>
            <a:pPr algn="l">
              <a:defRPr sz="1100" b="1">
                <a:solidFill>
                  <a:srgbClr val="F97316"/>
                </a:solidFill>
                <a:latin typeface="Calibri"/>
              </a:defRPr>
            </a:pPr>
            <a:r>
              <a:t>CATALOGUE</a:t>
            </a:r>
          </a:p>
        </p:txBody>
      </p:sp>
      <p:sp>
        <p:nvSpPr>
          <p:cNvPr id="3" name="TextBox 2"/>
          <p:cNvSpPr txBox="1"/>
          <p:nvPr/>
        </p:nvSpPr>
        <p:spPr>
          <a:xfrm>
            <a:off x="731520" y="777240"/>
            <a:ext cx="9144000" cy="640080"/>
          </a:xfrm>
          <a:prstGeom prst="rect">
            <a:avLst/>
          </a:prstGeom>
          <a:noFill/>
        </p:spPr>
        <p:txBody>
          <a:bodyPr wrap="square">
            <a:spAutoFit/>
          </a:bodyPr>
          <a:lstStyle/>
          <a:p>
            <a:pPr algn="l">
              <a:defRPr sz="3200" b="1">
                <a:solidFill>
                  <a:srgbClr val="1E293B"/>
                </a:solidFill>
                <a:latin typeface="Calibri"/>
              </a:defRPr>
            </a:pPr>
            <a:r>
              <a:t>Les 17 produits gérés</a:t>
            </a:r>
          </a:p>
        </p:txBody>
      </p:sp>
      <p:sp>
        <p:nvSpPr>
          <p:cNvPr id="4" name="Rectangle 3"/>
          <p:cNvSpPr/>
          <p:nvPr/>
        </p:nvSpPr>
        <p:spPr>
          <a:xfrm>
            <a:off x="0" y="6784848"/>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ogo_chapchap.jpeg"/>
          <p:cNvPicPr>
            <a:picLocks noChangeAspect="1"/>
          </p:cNvPicPr>
          <p:nvPr/>
        </p:nvPicPr>
        <p:blipFill>
          <a:blip r:embed="rId3"/>
          <a:stretch>
            <a:fillRect/>
          </a:stretch>
        </p:blipFill>
        <p:spPr>
          <a:xfrm>
            <a:off x="11094415" y="228600"/>
            <a:ext cx="548640" cy="544354"/>
          </a:xfrm>
          <a:prstGeom prst="rect">
            <a:avLst/>
          </a:prstGeom>
        </p:spPr>
      </p:pic>
      <p:sp>
        <p:nvSpPr>
          <p:cNvPr id="6" name="Rounded Rectangle 5"/>
          <p:cNvSpPr/>
          <p:nvPr/>
        </p:nvSpPr>
        <p:spPr>
          <a:xfrm>
            <a:off x="731520" y="1645920"/>
            <a:ext cx="5120640" cy="109728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737360"/>
            <a:ext cx="2743200" cy="274320"/>
          </a:xfrm>
          <a:prstGeom prst="rect">
            <a:avLst/>
          </a:prstGeom>
          <a:noFill/>
        </p:spPr>
        <p:txBody>
          <a:bodyPr wrap="square">
            <a:spAutoFit/>
          </a:bodyPr>
          <a:lstStyle/>
          <a:p>
            <a:pPr algn="l">
              <a:defRPr sz="1400" b="1">
                <a:solidFill>
                  <a:srgbClr val="1E293B"/>
                </a:solidFill>
                <a:latin typeface="Calibri"/>
              </a:defRPr>
            </a:pPr>
            <a:r>
              <a:t>🐔 Volaille entière</a:t>
            </a:r>
          </a:p>
        </p:txBody>
      </p:sp>
      <p:sp>
        <p:nvSpPr>
          <p:cNvPr id="8" name="TextBox 7"/>
          <p:cNvSpPr txBox="1"/>
          <p:nvPr/>
        </p:nvSpPr>
        <p:spPr>
          <a:xfrm>
            <a:off x="1005840" y="2057400"/>
            <a:ext cx="4572000" cy="365760"/>
          </a:xfrm>
          <a:prstGeom prst="rect">
            <a:avLst/>
          </a:prstGeom>
          <a:noFill/>
        </p:spPr>
        <p:txBody>
          <a:bodyPr wrap="square">
            <a:spAutoFit/>
          </a:bodyPr>
          <a:lstStyle/>
          <a:p>
            <a:pPr algn="l">
              <a:defRPr sz="1200" b="0">
                <a:solidFill>
                  <a:srgbClr val="64748B"/>
                </a:solidFill>
                <a:latin typeface="Calibri"/>
              </a:defRPr>
            </a:pPr>
            <a:r>
              <a:t>Poulet effilé  •  Poulet PAC  •  Coquelets  •  Poulets Morts</a:t>
            </a:r>
          </a:p>
        </p:txBody>
      </p:sp>
      <p:sp>
        <p:nvSpPr>
          <p:cNvPr id="9" name="Rounded Rectangle 8"/>
          <p:cNvSpPr/>
          <p:nvPr/>
        </p:nvSpPr>
        <p:spPr>
          <a:xfrm>
            <a:off x="731520" y="2880360"/>
            <a:ext cx="5120640" cy="128016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971800"/>
            <a:ext cx="2743200" cy="274320"/>
          </a:xfrm>
          <a:prstGeom prst="rect">
            <a:avLst/>
          </a:prstGeom>
          <a:noFill/>
        </p:spPr>
        <p:txBody>
          <a:bodyPr wrap="square">
            <a:spAutoFit/>
          </a:bodyPr>
          <a:lstStyle/>
          <a:p>
            <a:pPr algn="l">
              <a:defRPr sz="1400" b="1">
                <a:solidFill>
                  <a:srgbClr val="1E293B"/>
                </a:solidFill>
                <a:latin typeface="Calibri"/>
              </a:defRPr>
            </a:pPr>
            <a:r>
              <a:t>🍗 Découpes</a:t>
            </a:r>
          </a:p>
        </p:txBody>
      </p:sp>
      <p:sp>
        <p:nvSpPr>
          <p:cNvPr id="11" name="TextBox 10"/>
          <p:cNvSpPr txBox="1"/>
          <p:nvPr/>
        </p:nvSpPr>
        <p:spPr>
          <a:xfrm>
            <a:off x="1005840" y="3291840"/>
            <a:ext cx="4572000" cy="640080"/>
          </a:xfrm>
          <a:prstGeom prst="rect">
            <a:avLst/>
          </a:prstGeom>
          <a:noFill/>
        </p:spPr>
        <p:txBody>
          <a:bodyPr wrap="square">
            <a:spAutoFit/>
          </a:bodyPr>
          <a:lstStyle/>
          <a:p>
            <a:pPr algn="l">
              <a:defRPr sz="1200" b="0">
                <a:solidFill>
                  <a:srgbClr val="64748B"/>
                </a:solidFill>
                <a:latin typeface="Calibri"/>
              </a:defRPr>
            </a:pPr>
            <a:r>
              <a:t>Escalopes (3 800 F/kg)  •  Cuisses (2 500 F/kg)  •  Ailes (2 000 F/kg)</a:t>
            </a:r>
            <a:br/>
            <a:r>
              <a:t>Carcasses (1 000 F/kg)  •  Brochettes  •  Assortiment</a:t>
            </a:r>
          </a:p>
        </p:txBody>
      </p:sp>
      <p:sp>
        <p:nvSpPr>
          <p:cNvPr id="12" name="Rounded Rectangle 11"/>
          <p:cNvSpPr/>
          <p:nvPr/>
        </p:nvSpPr>
        <p:spPr>
          <a:xfrm>
            <a:off x="731520" y="4297680"/>
            <a:ext cx="5120640" cy="109728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4389120"/>
            <a:ext cx="2743200" cy="274320"/>
          </a:xfrm>
          <a:prstGeom prst="rect">
            <a:avLst/>
          </a:prstGeom>
          <a:noFill/>
        </p:spPr>
        <p:txBody>
          <a:bodyPr wrap="square">
            <a:spAutoFit/>
          </a:bodyPr>
          <a:lstStyle/>
          <a:p>
            <a:pPr algn="l">
              <a:defRPr sz="1400" b="1">
                <a:solidFill>
                  <a:srgbClr val="1E293B"/>
                </a:solidFill>
                <a:latin typeface="Calibri"/>
              </a:defRPr>
            </a:pPr>
            <a:r>
              <a:t>🫀 Abats</a:t>
            </a:r>
          </a:p>
        </p:txBody>
      </p:sp>
      <p:sp>
        <p:nvSpPr>
          <p:cNvPr id="14" name="TextBox 13"/>
          <p:cNvSpPr txBox="1"/>
          <p:nvPr/>
        </p:nvSpPr>
        <p:spPr>
          <a:xfrm>
            <a:off x="1005840" y="4709160"/>
            <a:ext cx="4572000" cy="365760"/>
          </a:xfrm>
          <a:prstGeom prst="rect">
            <a:avLst/>
          </a:prstGeom>
          <a:noFill/>
        </p:spPr>
        <p:txBody>
          <a:bodyPr wrap="square">
            <a:spAutoFit/>
          </a:bodyPr>
          <a:lstStyle/>
          <a:p>
            <a:pPr algn="l">
              <a:defRPr sz="1200" b="0">
                <a:solidFill>
                  <a:srgbClr val="64748B"/>
                </a:solidFill>
                <a:latin typeface="Calibri"/>
              </a:defRPr>
            </a:pPr>
            <a:r>
              <a:t>Gésiers  •  Foies  •  Pattes  •  Cous  •  Intestins  •  Peaux</a:t>
            </a:r>
          </a:p>
        </p:txBody>
      </p:sp>
      <p:sp>
        <p:nvSpPr>
          <p:cNvPr id="15" name="Rounded Rectangle 14"/>
          <p:cNvSpPr/>
          <p:nvPr/>
        </p:nvSpPr>
        <p:spPr>
          <a:xfrm>
            <a:off x="6217920" y="1645920"/>
            <a:ext cx="5212080" cy="228600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1737360"/>
            <a:ext cx="4572000" cy="274320"/>
          </a:xfrm>
          <a:prstGeom prst="rect">
            <a:avLst/>
          </a:prstGeom>
          <a:noFill/>
        </p:spPr>
        <p:txBody>
          <a:bodyPr wrap="square">
            <a:spAutoFit/>
          </a:bodyPr>
          <a:lstStyle/>
          <a:p>
            <a:pPr algn="l">
              <a:defRPr sz="1400" b="1">
                <a:solidFill>
                  <a:srgbClr val="1E293B"/>
                </a:solidFill>
                <a:latin typeface="Calibri"/>
              </a:defRPr>
            </a:pPr>
            <a:r>
              <a:t>📏 Grille de rendement intégrée</a:t>
            </a:r>
          </a:p>
        </p:txBody>
      </p:sp>
      <p:sp>
        <p:nvSpPr>
          <p:cNvPr id="17" name="TextBox 16"/>
          <p:cNvSpPr txBox="1"/>
          <p:nvPr/>
        </p:nvSpPr>
        <p:spPr>
          <a:xfrm>
            <a:off x="6675120" y="2148840"/>
            <a:ext cx="4572000" cy="1463040"/>
          </a:xfrm>
          <a:prstGeom prst="rect">
            <a:avLst/>
          </a:prstGeom>
          <a:noFill/>
        </p:spPr>
        <p:txBody>
          <a:bodyPr wrap="square">
            <a:spAutoFit/>
          </a:bodyPr>
          <a:lstStyle/>
          <a:p>
            <a:pPr>
              <a:spcAft>
                <a:spcPts val="400"/>
              </a:spcAft>
            </a:pPr>
            <a:r>
              <a:rPr sz="1300" b="1">
                <a:solidFill>
                  <a:srgbClr val="1E293B"/>
                </a:solidFill>
                <a:latin typeface="Consolas"/>
              </a:rPr>
              <a:t>  Poids poulet        Valorisation</a:t>
            </a:r>
          </a:p>
          <a:p>
            <a:pPr>
              <a:spcAft>
                <a:spcPts val="400"/>
              </a:spcAft>
            </a:pPr>
            <a:r>
              <a:rPr sz="1300" b="0">
                <a:solidFill>
                  <a:srgbClr val="64748B"/>
                </a:solidFill>
                <a:latin typeface="Consolas"/>
              </a:rPr>
              <a:t>  1,8 kg              </a:t>
            </a:r>
            <a:r>
              <a:rPr sz="1300" b="1">
                <a:solidFill>
                  <a:srgbClr val="F97316"/>
                </a:solidFill>
                <a:latin typeface="Consolas"/>
              </a:rPr>
              <a:t>4 149 FCFA</a:t>
            </a:r>
          </a:p>
          <a:p>
            <a:pPr>
              <a:spcAft>
                <a:spcPts val="400"/>
              </a:spcAft>
            </a:pPr>
            <a:r>
              <a:rPr sz="1300" b="0">
                <a:solidFill>
                  <a:srgbClr val="64748B"/>
                </a:solidFill>
                <a:latin typeface="Consolas"/>
              </a:rPr>
              <a:t>  2,0 kg              </a:t>
            </a:r>
            <a:r>
              <a:rPr sz="1300" b="1">
                <a:solidFill>
                  <a:srgbClr val="F97316"/>
                </a:solidFill>
                <a:latin typeface="Consolas"/>
              </a:rPr>
              <a:t>4 311 FCFA</a:t>
            </a:r>
          </a:p>
          <a:p>
            <a:pPr>
              <a:spcAft>
                <a:spcPts val="400"/>
              </a:spcAft>
            </a:pPr>
            <a:r>
              <a:rPr sz="1300" b="0">
                <a:solidFill>
                  <a:srgbClr val="64748B"/>
                </a:solidFill>
                <a:latin typeface="Consolas"/>
              </a:rPr>
              <a:t>  2,3 kg              </a:t>
            </a:r>
            <a:r>
              <a:rPr sz="1300" b="1">
                <a:solidFill>
                  <a:srgbClr val="F97316"/>
                </a:solidFill>
                <a:latin typeface="Consolas"/>
              </a:rPr>
              <a:t>5 075 FCFA</a:t>
            </a:r>
          </a:p>
        </p:txBody>
      </p:sp>
      <p:sp>
        <p:nvSpPr>
          <p:cNvPr id="18" name="TextBox 17"/>
          <p:cNvSpPr txBox="1"/>
          <p:nvPr/>
        </p:nvSpPr>
        <p:spPr>
          <a:xfrm>
            <a:off x="6492240" y="3291840"/>
            <a:ext cx="4663440" cy="365760"/>
          </a:xfrm>
          <a:prstGeom prst="rect">
            <a:avLst/>
          </a:prstGeom>
          <a:noFill/>
        </p:spPr>
        <p:txBody>
          <a:bodyPr wrap="square">
            <a:spAutoFit/>
          </a:bodyPr>
          <a:lstStyle/>
          <a:p>
            <a:pPr algn="l">
              <a:defRPr sz="1000" b="0">
                <a:solidFill>
                  <a:srgbClr val="64748B"/>
                </a:solidFill>
                <a:latin typeface="Calibri"/>
              </a:defRPr>
            </a:pPr>
            <a:r>
              <a:t>Calcule la valeur théorique de chaque poulet selon son poids</a:t>
            </a:r>
          </a:p>
        </p:txBody>
      </p:sp>
      <p:sp>
        <p:nvSpPr>
          <p:cNvPr id="19" name="Rounded Rectangle 18"/>
          <p:cNvSpPr/>
          <p:nvPr/>
        </p:nvSpPr>
        <p:spPr>
          <a:xfrm>
            <a:off x="6217920" y="4114800"/>
            <a:ext cx="5212080" cy="173736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4206240"/>
            <a:ext cx="4572000" cy="274320"/>
          </a:xfrm>
          <a:prstGeom prst="rect">
            <a:avLst/>
          </a:prstGeom>
          <a:noFill/>
        </p:spPr>
        <p:txBody>
          <a:bodyPr wrap="square">
            <a:spAutoFit/>
          </a:bodyPr>
          <a:lstStyle/>
          <a:p>
            <a:pPr algn="l">
              <a:defRPr sz="1400" b="1">
                <a:solidFill>
                  <a:srgbClr val="1E293B"/>
                </a:solidFill>
                <a:latin typeface="Calibri"/>
              </a:defRPr>
            </a:pPr>
            <a:r>
              <a:t>👥 Clients types gérés</a:t>
            </a:r>
          </a:p>
        </p:txBody>
      </p:sp>
      <p:sp>
        <p:nvSpPr>
          <p:cNvPr id="21" name="TextBox 20"/>
          <p:cNvSpPr txBox="1"/>
          <p:nvPr/>
        </p:nvSpPr>
        <p:spPr>
          <a:xfrm>
            <a:off x="6492240" y="4526280"/>
            <a:ext cx="4663440" cy="1097280"/>
          </a:xfrm>
          <a:prstGeom prst="rect">
            <a:avLst/>
          </a:prstGeom>
          <a:noFill/>
        </p:spPr>
        <p:txBody>
          <a:bodyPr wrap="square">
            <a:spAutoFit/>
          </a:bodyPr>
          <a:lstStyle/>
          <a:p>
            <a:pPr algn="l">
              <a:defRPr sz="1200" b="0">
                <a:solidFill>
                  <a:srgbClr val="64748B"/>
                </a:solidFill>
                <a:latin typeface="Calibri"/>
              </a:defRPr>
            </a:pPr>
            <a:r>
              <a:t>Restaurants  •  Maquis  •  Hôtels  •  Supermarchés  •  Écoles</a:t>
            </a:r>
            <a:br/>
            <a:br/>
            <a:r>
              <a:t>Clients B2B : SITA, Casino Prima, Hyper Hayat, NORAL, PROSUMA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3657600" cy="320040"/>
          </a:xfrm>
          <a:prstGeom prst="rect">
            <a:avLst/>
          </a:prstGeom>
          <a:noFill/>
        </p:spPr>
        <p:txBody>
          <a:bodyPr wrap="square">
            <a:spAutoFit/>
          </a:bodyPr>
          <a:lstStyle/>
          <a:p>
            <a:pPr algn="l">
              <a:defRPr sz="1100" b="1">
                <a:solidFill>
                  <a:srgbClr val="F97316"/>
                </a:solidFill>
                <a:latin typeface="Calibri"/>
              </a:defRPr>
            </a:pPr>
            <a:r>
              <a:t>SÉCURITÉ</a:t>
            </a:r>
          </a:p>
        </p:txBody>
      </p:sp>
      <p:sp>
        <p:nvSpPr>
          <p:cNvPr id="3" name="TextBox 2"/>
          <p:cNvSpPr txBox="1"/>
          <p:nvPr/>
        </p:nvSpPr>
        <p:spPr>
          <a:xfrm>
            <a:off x="731520" y="777240"/>
            <a:ext cx="9144000" cy="640080"/>
          </a:xfrm>
          <a:prstGeom prst="rect">
            <a:avLst/>
          </a:prstGeom>
          <a:noFill/>
        </p:spPr>
        <p:txBody>
          <a:bodyPr wrap="square">
            <a:spAutoFit/>
          </a:bodyPr>
          <a:lstStyle/>
          <a:p>
            <a:pPr algn="l">
              <a:defRPr sz="3200" b="1">
                <a:solidFill>
                  <a:srgbClr val="1E293B"/>
                </a:solidFill>
                <a:latin typeface="Calibri"/>
              </a:defRPr>
            </a:pPr>
            <a:r>
              <a:t>5 profils avec droits différenciés</a:t>
            </a:r>
          </a:p>
        </p:txBody>
      </p:sp>
      <p:sp>
        <p:nvSpPr>
          <p:cNvPr id="4" name="Rectangle 3"/>
          <p:cNvSpPr/>
          <p:nvPr/>
        </p:nvSpPr>
        <p:spPr>
          <a:xfrm>
            <a:off x="0" y="6784848"/>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ogo_chapchap.jpeg"/>
          <p:cNvPicPr>
            <a:picLocks noChangeAspect="1"/>
          </p:cNvPicPr>
          <p:nvPr/>
        </p:nvPicPr>
        <p:blipFill>
          <a:blip r:embed="rId3"/>
          <a:stretch>
            <a:fillRect/>
          </a:stretch>
        </p:blipFill>
        <p:spPr>
          <a:xfrm>
            <a:off x="11094415" y="228600"/>
            <a:ext cx="548640" cy="544354"/>
          </a:xfrm>
          <a:prstGeom prst="rect">
            <a:avLst/>
          </a:prstGeom>
        </p:spPr>
      </p:pic>
      <p:sp>
        <p:nvSpPr>
          <p:cNvPr id="6" name="Rounded Rectangle 5"/>
          <p:cNvSpPr/>
          <p:nvPr/>
        </p:nvSpPr>
        <p:spPr>
          <a:xfrm>
            <a:off x="731520" y="1645920"/>
            <a:ext cx="10698480" cy="50292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737360"/>
            <a:ext cx="2286000" cy="274320"/>
          </a:xfrm>
          <a:prstGeom prst="rect">
            <a:avLst/>
          </a:prstGeom>
          <a:noFill/>
        </p:spPr>
        <p:txBody>
          <a:bodyPr wrap="square">
            <a:spAutoFit/>
          </a:bodyPr>
          <a:lstStyle/>
          <a:p>
            <a:pPr algn="l">
              <a:defRPr sz="1100" b="1">
                <a:solidFill>
                  <a:srgbClr val="64748B"/>
                </a:solidFill>
                <a:latin typeface="Calibri"/>
              </a:defRPr>
            </a:pPr>
            <a:r>
              <a:t>PROFIL</a:t>
            </a:r>
          </a:p>
        </p:txBody>
      </p:sp>
      <p:sp>
        <p:nvSpPr>
          <p:cNvPr id="8" name="TextBox 7"/>
          <p:cNvSpPr txBox="1"/>
          <p:nvPr/>
        </p:nvSpPr>
        <p:spPr>
          <a:xfrm>
            <a:off x="3474720" y="1737360"/>
            <a:ext cx="1371600" cy="274320"/>
          </a:xfrm>
          <a:prstGeom prst="rect">
            <a:avLst/>
          </a:prstGeom>
          <a:noFill/>
        </p:spPr>
        <p:txBody>
          <a:bodyPr wrap="square">
            <a:spAutoFit/>
          </a:bodyPr>
          <a:lstStyle/>
          <a:p>
            <a:pPr algn="l">
              <a:defRPr sz="1100" b="1">
                <a:solidFill>
                  <a:srgbClr val="64748B"/>
                </a:solidFill>
                <a:latin typeface="Calibri"/>
              </a:defRPr>
            </a:pPr>
            <a:r>
              <a:t>PÉRIMÈTRE</a:t>
            </a:r>
          </a:p>
        </p:txBody>
      </p:sp>
      <p:sp>
        <p:nvSpPr>
          <p:cNvPr id="9" name="TextBox 8"/>
          <p:cNvSpPr txBox="1"/>
          <p:nvPr/>
        </p:nvSpPr>
        <p:spPr>
          <a:xfrm>
            <a:off x="5120640" y="1737360"/>
            <a:ext cx="5943600" cy="274320"/>
          </a:xfrm>
          <a:prstGeom prst="rect">
            <a:avLst/>
          </a:prstGeom>
          <a:noFill/>
        </p:spPr>
        <p:txBody>
          <a:bodyPr wrap="square">
            <a:spAutoFit/>
          </a:bodyPr>
          <a:lstStyle/>
          <a:p>
            <a:pPr algn="l">
              <a:defRPr sz="1100" b="1">
                <a:solidFill>
                  <a:srgbClr val="64748B"/>
                </a:solidFill>
                <a:latin typeface="Calibri"/>
              </a:defRPr>
            </a:pPr>
            <a:r>
              <a:t>ACCÈS</a:t>
            </a:r>
          </a:p>
        </p:txBody>
      </p:sp>
      <p:sp>
        <p:nvSpPr>
          <p:cNvPr id="10" name="Rounded Rectangle 9"/>
          <p:cNvSpPr/>
          <p:nvPr/>
        </p:nvSpPr>
        <p:spPr>
          <a:xfrm>
            <a:off x="731520" y="2148840"/>
            <a:ext cx="10698480" cy="5029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240280"/>
            <a:ext cx="2286000" cy="274320"/>
          </a:xfrm>
          <a:prstGeom prst="rect">
            <a:avLst/>
          </a:prstGeom>
          <a:noFill/>
        </p:spPr>
        <p:txBody>
          <a:bodyPr wrap="square">
            <a:spAutoFit/>
          </a:bodyPr>
          <a:lstStyle/>
          <a:p>
            <a:pPr algn="l">
              <a:defRPr sz="1300" b="1">
                <a:solidFill>
                  <a:srgbClr val="1E293B"/>
                </a:solidFill>
                <a:latin typeface="Calibri"/>
              </a:defRPr>
            </a:pPr>
            <a:r>
              <a:t>👔 Gérant</a:t>
            </a:r>
          </a:p>
        </p:txBody>
      </p:sp>
      <p:sp>
        <p:nvSpPr>
          <p:cNvPr id="12" name="TextBox 11"/>
          <p:cNvSpPr txBox="1"/>
          <p:nvPr/>
        </p:nvSpPr>
        <p:spPr>
          <a:xfrm>
            <a:off x="3474720" y="2240280"/>
            <a:ext cx="1371600" cy="274320"/>
          </a:xfrm>
          <a:prstGeom prst="rect">
            <a:avLst/>
          </a:prstGeom>
          <a:noFill/>
        </p:spPr>
        <p:txBody>
          <a:bodyPr wrap="square">
            <a:spAutoFit/>
          </a:bodyPr>
          <a:lstStyle/>
          <a:p>
            <a:pPr algn="l">
              <a:defRPr sz="1200" b="1">
                <a:solidFill>
                  <a:srgbClr val="F97316"/>
                </a:solidFill>
                <a:latin typeface="Calibri"/>
              </a:defRPr>
            </a:pPr>
            <a:r>
              <a:t>Global</a:t>
            </a:r>
          </a:p>
        </p:txBody>
      </p:sp>
      <p:sp>
        <p:nvSpPr>
          <p:cNvPr id="13" name="TextBox 12"/>
          <p:cNvSpPr txBox="1"/>
          <p:nvPr/>
        </p:nvSpPr>
        <p:spPr>
          <a:xfrm>
            <a:off x="5120640" y="2240280"/>
            <a:ext cx="5943600" cy="274320"/>
          </a:xfrm>
          <a:prstGeom prst="rect">
            <a:avLst/>
          </a:prstGeom>
          <a:noFill/>
        </p:spPr>
        <p:txBody>
          <a:bodyPr wrap="square">
            <a:spAutoFit/>
          </a:bodyPr>
          <a:lstStyle/>
          <a:p>
            <a:pPr algn="l">
              <a:defRPr sz="1200" b="0">
                <a:solidFill>
                  <a:srgbClr val="64748B"/>
                </a:solidFill>
                <a:latin typeface="Calibri"/>
              </a:defRPr>
            </a:pPr>
            <a:r>
              <a:t>Vision complète, KPI, validation, exports, tous les modules</a:t>
            </a:r>
          </a:p>
        </p:txBody>
      </p:sp>
      <p:sp>
        <p:nvSpPr>
          <p:cNvPr id="14" name="TextBox 13"/>
          <p:cNvSpPr txBox="1"/>
          <p:nvPr/>
        </p:nvSpPr>
        <p:spPr>
          <a:xfrm>
            <a:off x="914400" y="2743200"/>
            <a:ext cx="2286000" cy="274320"/>
          </a:xfrm>
          <a:prstGeom prst="rect">
            <a:avLst/>
          </a:prstGeom>
          <a:noFill/>
        </p:spPr>
        <p:txBody>
          <a:bodyPr wrap="square">
            <a:spAutoFit/>
          </a:bodyPr>
          <a:lstStyle/>
          <a:p>
            <a:pPr algn="l">
              <a:defRPr sz="1300" b="1">
                <a:solidFill>
                  <a:srgbClr val="1E293B"/>
                </a:solidFill>
                <a:latin typeface="Calibri"/>
              </a:defRPr>
            </a:pPr>
            <a:r>
              <a:t>⚙️ Resp. Opérations</a:t>
            </a:r>
          </a:p>
        </p:txBody>
      </p:sp>
      <p:sp>
        <p:nvSpPr>
          <p:cNvPr id="15" name="TextBox 14"/>
          <p:cNvSpPr txBox="1"/>
          <p:nvPr/>
        </p:nvSpPr>
        <p:spPr>
          <a:xfrm>
            <a:off x="3474720" y="2743200"/>
            <a:ext cx="1371600" cy="274320"/>
          </a:xfrm>
          <a:prstGeom prst="rect">
            <a:avLst/>
          </a:prstGeom>
          <a:noFill/>
        </p:spPr>
        <p:txBody>
          <a:bodyPr wrap="square">
            <a:spAutoFit/>
          </a:bodyPr>
          <a:lstStyle/>
          <a:p>
            <a:pPr algn="l">
              <a:defRPr sz="1200" b="1">
                <a:solidFill>
                  <a:srgbClr val="F97316"/>
                </a:solidFill>
                <a:latin typeface="Calibri"/>
              </a:defRPr>
            </a:pPr>
            <a:r>
              <a:t>Global</a:t>
            </a:r>
          </a:p>
        </p:txBody>
      </p:sp>
      <p:sp>
        <p:nvSpPr>
          <p:cNvPr id="16" name="TextBox 15"/>
          <p:cNvSpPr txBox="1"/>
          <p:nvPr/>
        </p:nvSpPr>
        <p:spPr>
          <a:xfrm>
            <a:off x="5120640" y="2743200"/>
            <a:ext cx="5943600" cy="274320"/>
          </a:xfrm>
          <a:prstGeom prst="rect">
            <a:avLst/>
          </a:prstGeom>
          <a:noFill/>
        </p:spPr>
        <p:txBody>
          <a:bodyPr wrap="square">
            <a:spAutoFit/>
          </a:bodyPr>
          <a:lstStyle/>
          <a:p>
            <a:pPr algn="l">
              <a:defRPr sz="1200" b="0">
                <a:solidFill>
                  <a:srgbClr val="64748B"/>
                </a:solidFill>
                <a:latin typeface="Calibri"/>
              </a:defRPr>
            </a:pPr>
            <a:r>
              <a:t>Pilotage quotidien, paramétrage, contrôle, validation</a:t>
            </a:r>
          </a:p>
        </p:txBody>
      </p:sp>
      <p:sp>
        <p:nvSpPr>
          <p:cNvPr id="17" name="Rounded Rectangle 16"/>
          <p:cNvSpPr/>
          <p:nvPr/>
        </p:nvSpPr>
        <p:spPr>
          <a:xfrm>
            <a:off x="731520" y="3154680"/>
            <a:ext cx="10698480" cy="5029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246120"/>
            <a:ext cx="2286000" cy="274320"/>
          </a:xfrm>
          <a:prstGeom prst="rect">
            <a:avLst/>
          </a:prstGeom>
          <a:noFill/>
        </p:spPr>
        <p:txBody>
          <a:bodyPr wrap="square">
            <a:spAutoFit/>
          </a:bodyPr>
          <a:lstStyle/>
          <a:p>
            <a:pPr algn="l">
              <a:defRPr sz="1300" b="1">
                <a:solidFill>
                  <a:srgbClr val="1E293B"/>
                </a:solidFill>
                <a:latin typeface="Calibri"/>
              </a:defRPr>
            </a:pPr>
            <a:r>
              <a:t>📦 Gest. Stock</a:t>
            </a:r>
          </a:p>
        </p:txBody>
      </p:sp>
      <p:sp>
        <p:nvSpPr>
          <p:cNvPr id="19" name="TextBox 18"/>
          <p:cNvSpPr txBox="1"/>
          <p:nvPr/>
        </p:nvSpPr>
        <p:spPr>
          <a:xfrm>
            <a:off x="3474720" y="3246120"/>
            <a:ext cx="1371600" cy="274320"/>
          </a:xfrm>
          <a:prstGeom prst="rect">
            <a:avLst/>
          </a:prstGeom>
          <a:noFill/>
        </p:spPr>
        <p:txBody>
          <a:bodyPr wrap="square">
            <a:spAutoFit/>
          </a:bodyPr>
          <a:lstStyle/>
          <a:p>
            <a:pPr algn="l">
              <a:defRPr sz="1200" b="1">
                <a:solidFill>
                  <a:srgbClr val="F97316"/>
                </a:solidFill>
                <a:latin typeface="Calibri"/>
              </a:defRPr>
            </a:pPr>
            <a:r>
              <a:t>Stock / Lots</a:t>
            </a:r>
          </a:p>
        </p:txBody>
      </p:sp>
      <p:sp>
        <p:nvSpPr>
          <p:cNvPr id="20" name="TextBox 19"/>
          <p:cNvSpPr txBox="1"/>
          <p:nvPr/>
        </p:nvSpPr>
        <p:spPr>
          <a:xfrm>
            <a:off x="5120640" y="3246120"/>
            <a:ext cx="5943600" cy="274320"/>
          </a:xfrm>
          <a:prstGeom prst="rect">
            <a:avLst/>
          </a:prstGeom>
          <a:noFill/>
        </p:spPr>
        <p:txBody>
          <a:bodyPr wrap="square">
            <a:spAutoFit/>
          </a:bodyPr>
          <a:lstStyle/>
          <a:p>
            <a:pPr algn="l">
              <a:defRPr sz="1200" b="0">
                <a:solidFill>
                  <a:srgbClr val="64748B"/>
                </a:solidFill>
                <a:latin typeface="Calibri"/>
              </a:defRPr>
            </a:pPr>
            <a:r>
              <a:t>Mouvements stock, inventaires, lots, contrôle caisse</a:t>
            </a:r>
          </a:p>
        </p:txBody>
      </p:sp>
      <p:sp>
        <p:nvSpPr>
          <p:cNvPr id="21" name="TextBox 20"/>
          <p:cNvSpPr txBox="1"/>
          <p:nvPr/>
        </p:nvSpPr>
        <p:spPr>
          <a:xfrm>
            <a:off x="914400" y="3749040"/>
            <a:ext cx="2286000" cy="274320"/>
          </a:xfrm>
          <a:prstGeom prst="rect">
            <a:avLst/>
          </a:prstGeom>
          <a:noFill/>
        </p:spPr>
        <p:txBody>
          <a:bodyPr wrap="square">
            <a:spAutoFit/>
          </a:bodyPr>
          <a:lstStyle/>
          <a:p>
            <a:pPr algn="l">
              <a:defRPr sz="1300" b="1">
                <a:solidFill>
                  <a:srgbClr val="1E293B"/>
                </a:solidFill>
                <a:latin typeface="Calibri"/>
              </a:defRPr>
            </a:pPr>
            <a:r>
              <a:t>🔪 Agent Production</a:t>
            </a:r>
          </a:p>
        </p:txBody>
      </p:sp>
      <p:sp>
        <p:nvSpPr>
          <p:cNvPr id="22" name="TextBox 21"/>
          <p:cNvSpPr txBox="1"/>
          <p:nvPr/>
        </p:nvSpPr>
        <p:spPr>
          <a:xfrm>
            <a:off x="3474720" y="3749040"/>
            <a:ext cx="1371600" cy="274320"/>
          </a:xfrm>
          <a:prstGeom prst="rect">
            <a:avLst/>
          </a:prstGeom>
          <a:noFill/>
        </p:spPr>
        <p:txBody>
          <a:bodyPr wrap="square">
            <a:spAutoFit/>
          </a:bodyPr>
          <a:lstStyle/>
          <a:p>
            <a:pPr algn="l">
              <a:defRPr sz="1200" b="1">
                <a:solidFill>
                  <a:srgbClr val="F97316"/>
                </a:solidFill>
                <a:latin typeface="Calibri"/>
              </a:defRPr>
            </a:pPr>
            <a:r>
              <a:t>Production</a:t>
            </a:r>
          </a:p>
        </p:txBody>
      </p:sp>
      <p:sp>
        <p:nvSpPr>
          <p:cNvPr id="23" name="TextBox 22"/>
          <p:cNvSpPr txBox="1"/>
          <p:nvPr/>
        </p:nvSpPr>
        <p:spPr>
          <a:xfrm>
            <a:off x="5120640" y="3749040"/>
            <a:ext cx="5943600" cy="274320"/>
          </a:xfrm>
          <a:prstGeom prst="rect">
            <a:avLst/>
          </a:prstGeom>
          <a:noFill/>
        </p:spPr>
        <p:txBody>
          <a:bodyPr wrap="square">
            <a:spAutoFit/>
          </a:bodyPr>
          <a:lstStyle/>
          <a:p>
            <a:pPr algn="l">
              <a:defRPr sz="1200" b="0">
                <a:solidFill>
                  <a:srgbClr val="64748B"/>
                </a:solidFill>
                <a:latin typeface="Calibri"/>
              </a:defRPr>
            </a:pPr>
            <a:r>
              <a:t>Saisie production, observations, suivi rendement</a:t>
            </a:r>
          </a:p>
        </p:txBody>
      </p:sp>
      <p:sp>
        <p:nvSpPr>
          <p:cNvPr id="24" name="Rounded Rectangle 23"/>
          <p:cNvSpPr/>
          <p:nvPr/>
        </p:nvSpPr>
        <p:spPr>
          <a:xfrm>
            <a:off x="731520" y="4160520"/>
            <a:ext cx="10698480" cy="5029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4251960"/>
            <a:ext cx="2286000" cy="274320"/>
          </a:xfrm>
          <a:prstGeom prst="rect">
            <a:avLst/>
          </a:prstGeom>
          <a:noFill/>
        </p:spPr>
        <p:txBody>
          <a:bodyPr wrap="square">
            <a:spAutoFit/>
          </a:bodyPr>
          <a:lstStyle/>
          <a:p>
            <a:pPr algn="l">
              <a:defRPr sz="1300" b="1">
                <a:solidFill>
                  <a:srgbClr val="1E293B"/>
                </a:solidFill>
                <a:latin typeface="Calibri"/>
              </a:defRPr>
            </a:pPr>
            <a:r>
              <a:t>🛒 Commercial</a:t>
            </a:r>
          </a:p>
        </p:txBody>
      </p:sp>
      <p:sp>
        <p:nvSpPr>
          <p:cNvPr id="26" name="TextBox 25"/>
          <p:cNvSpPr txBox="1"/>
          <p:nvPr/>
        </p:nvSpPr>
        <p:spPr>
          <a:xfrm>
            <a:off x="3474720" y="4251960"/>
            <a:ext cx="1371600" cy="274320"/>
          </a:xfrm>
          <a:prstGeom prst="rect">
            <a:avLst/>
          </a:prstGeom>
          <a:noFill/>
        </p:spPr>
        <p:txBody>
          <a:bodyPr wrap="square">
            <a:spAutoFit/>
          </a:bodyPr>
          <a:lstStyle/>
          <a:p>
            <a:pPr algn="l">
              <a:defRPr sz="1200" b="1">
                <a:solidFill>
                  <a:srgbClr val="F97316"/>
                </a:solidFill>
                <a:latin typeface="Calibri"/>
              </a:defRPr>
            </a:pPr>
            <a:r>
              <a:t>Ventes</a:t>
            </a:r>
          </a:p>
        </p:txBody>
      </p:sp>
      <p:sp>
        <p:nvSpPr>
          <p:cNvPr id="27" name="TextBox 26"/>
          <p:cNvSpPr txBox="1"/>
          <p:nvPr/>
        </p:nvSpPr>
        <p:spPr>
          <a:xfrm>
            <a:off x="5120640" y="4251960"/>
            <a:ext cx="5943600" cy="274320"/>
          </a:xfrm>
          <a:prstGeom prst="rect">
            <a:avLst/>
          </a:prstGeom>
          <a:noFill/>
        </p:spPr>
        <p:txBody>
          <a:bodyPr wrap="square">
            <a:spAutoFit/>
          </a:bodyPr>
          <a:lstStyle/>
          <a:p>
            <a:pPr algn="l">
              <a:defRPr sz="1200" b="0">
                <a:solidFill>
                  <a:srgbClr val="64748B"/>
                </a:solidFill>
                <a:latin typeface="Calibri"/>
              </a:defRPr>
            </a:pPr>
            <a:r>
              <a:t>Saisie ventes, clients, encaissements, suivi impayés</a:t>
            </a:r>
          </a:p>
        </p:txBody>
      </p:sp>
      <p:sp>
        <p:nvSpPr>
          <p:cNvPr id="28" name="Rounded Rectangle 27"/>
          <p:cNvSpPr/>
          <p:nvPr/>
        </p:nvSpPr>
        <p:spPr>
          <a:xfrm>
            <a:off x="731520" y="4846320"/>
            <a:ext cx="3566160" cy="100584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4937760"/>
            <a:ext cx="3200400" cy="274320"/>
          </a:xfrm>
          <a:prstGeom prst="rect">
            <a:avLst/>
          </a:prstGeom>
          <a:noFill/>
        </p:spPr>
        <p:txBody>
          <a:bodyPr wrap="square">
            <a:spAutoFit/>
          </a:bodyPr>
          <a:lstStyle/>
          <a:p>
            <a:pPr algn="l">
              <a:defRPr sz="1400" b="1">
                <a:solidFill>
                  <a:srgbClr val="1E293B"/>
                </a:solidFill>
                <a:latin typeface="Calibri"/>
              </a:defRPr>
            </a:pPr>
            <a:r>
              <a:t>🔒  Mots de passe hachés</a:t>
            </a:r>
          </a:p>
        </p:txBody>
      </p:sp>
      <p:sp>
        <p:nvSpPr>
          <p:cNvPr id="30" name="TextBox 29"/>
          <p:cNvSpPr txBox="1"/>
          <p:nvPr/>
        </p:nvSpPr>
        <p:spPr>
          <a:xfrm>
            <a:off x="914400" y="5303520"/>
            <a:ext cx="3200400" cy="365760"/>
          </a:xfrm>
          <a:prstGeom prst="rect">
            <a:avLst/>
          </a:prstGeom>
          <a:noFill/>
        </p:spPr>
        <p:txBody>
          <a:bodyPr wrap="square">
            <a:spAutoFit/>
          </a:bodyPr>
          <a:lstStyle/>
          <a:p>
            <a:pPr algn="l">
              <a:defRPr sz="1200" b="0">
                <a:solidFill>
                  <a:srgbClr val="64748B"/>
                </a:solidFill>
                <a:latin typeface="Calibri"/>
              </a:defRPr>
            </a:pPr>
            <a:r>
              <a:t>Bcrypt 12 rounds — impossible à retrouver</a:t>
            </a:r>
          </a:p>
        </p:txBody>
      </p:sp>
      <p:sp>
        <p:nvSpPr>
          <p:cNvPr id="31" name="Rounded Rectangle 30"/>
          <p:cNvSpPr/>
          <p:nvPr/>
        </p:nvSpPr>
        <p:spPr>
          <a:xfrm>
            <a:off x="4434840" y="4846320"/>
            <a:ext cx="3566160" cy="100584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17720" y="4937760"/>
            <a:ext cx="3200400" cy="274320"/>
          </a:xfrm>
          <a:prstGeom prst="rect">
            <a:avLst/>
          </a:prstGeom>
          <a:noFill/>
        </p:spPr>
        <p:txBody>
          <a:bodyPr wrap="square">
            <a:spAutoFit/>
          </a:bodyPr>
          <a:lstStyle/>
          <a:p>
            <a:pPr algn="l">
              <a:defRPr sz="1400" b="1">
                <a:solidFill>
                  <a:srgbClr val="1E293B"/>
                </a:solidFill>
                <a:latin typeface="Calibri"/>
              </a:defRPr>
            </a:pPr>
            <a:r>
              <a:t>📝  Journal d'audit complet</a:t>
            </a:r>
          </a:p>
        </p:txBody>
      </p:sp>
      <p:sp>
        <p:nvSpPr>
          <p:cNvPr id="33" name="TextBox 32"/>
          <p:cNvSpPr txBox="1"/>
          <p:nvPr/>
        </p:nvSpPr>
        <p:spPr>
          <a:xfrm>
            <a:off x="4617720" y="5303520"/>
            <a:ext cx="3200400" cy="365760"/>
          </a:xfrm>
          <a:prstGeom prst="rect">
            <a:avLst/>
          </a:prstGeom>
          <a:noFill/>
        </p:spPr>
        <p:txBody>
          <a:bodyPr wrap="square">
            <a:spAutoFit/>
          </a:bodyPr>
          <a:lstStyle/>
          <a:p>
            <a:pPr algn="l">
              <a:defRPr sz="1200" b="0">
                <a:solidFill>
                  <a:srgbClr val="64748B"/>
                </a:solidFill>
                <a:latin typeface="Calibri"/>
              </a:defRPr>
            </a:pPr>
            <a:r>
              <a:t>Qui a fait quoi, quand, depuis quelle IP</a:t>
            </a:r>
          </a:p>
        </p:txBody>
      </p:sp>
      <p:sp>
        <p:nvSpPr>
          <p:cNvPr id="34" name="Rounded Rectangle 33"/>
          <p:cNvSpPr/>
          <p:nvPr/>
        </p:nvSpPr>
        <p:spPr>
          <a:xfrm>
            <a:off x="8138160" y="4846320"/>
            <a:ext cx="3566160" cy="100584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321040" y="4937760"/>
            <a:ext cx="3200400" cy="274320"/>
          </a:xfrm>
          <a:prstGeom prst="rect">
            <a:avLst/>
          </a:prstGeom>
          <a:noFill/>
        </p:spPr>
        <p:txBody>
          <a:bodyPr wrap="square">
            <a:spAutoFit/>
          </a:bodyPr>
          <a:lstStyle/>
          <a:p>
            <a:pPr algn="l">
              <a:defRPr sz="1400" b="1">
                <a:solidFill>
                  <a:srgbClr val="1E293B"/>
                </a:solidFill>
                <a:latin typeface="Calibri"/>
              </a:defRPr>
            </a:pPr>
            <a:r>
              <a:t>🔐  Sessions chiffrées</a:t>
            </a:r>
          </a:p>
        </p:txBody>
      </p:sp>
      <p:sp>
        <p:nvSpPr>
          <p:cNvPr id="36" name="TextBox 35"/>
          <p:cNvSpPr txBox="1"/>
          <p:nvPr/>
        </p:nvSpPr>
        <p:spPr>
          <a:xfrm>
            <a:off x="8321040" y="5303520"/>
            <a:ext cx="3200400" cy="365760"/>
          </a:xfrm>
          <a:prstGeom prst="rect">
            <a:avLst/>
          </a:prstGeom>
          <a:noFill/>
        </p:spPr>
        <p:txBody>
          <a:bodyPr wrap="square">
            <a:spAutoFit/>
          </a:bodyPr>
          <a:lstStyle/>
          <a:p>
            <a:pPr algn="l">
              <a:defRPr sz="1200" b="0">
                <a:solidFill>
                  <a:srgbClr val="64748B"/>
                </a:solidFill>
                <a:latin typeface="Calibri"/>
              </a:defRPr>
            </a:pPr>
            <a:r>
              <a:t>HTTPS obligatoire, protection CSRF &amp; XSS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3657600" cy="320040"/>
          </a:xfrm>
          <a:prstGeom prst="rect">
            <a:avLst/>
          </a:prstGeom>
          <a:noFill/>
        </p:spPr>
        <p:txBody>
          <a:bodyPr wrap="square">
            <a:spAutoFit/>
          </a:bodyPr>
          <a:lstStyle/>
          <a:p>
            <a:pPr algn="l">
              <a:defRPr sz="1100" b="1">
                <a:solidFill>
                  <a:srgbClr val="F97316"/>
                </a:solidFill>
                <a:latin typeface="Calibri"/>
              </a:defRPr>
            </a:pPr>
            <a:r>
              <a:t>RAPPORTS</a:t>
            </a:r>
          </a:p>
        </p:txBody>
      </p:sp>
      <p:sp>
        <p:nvSpPr>
          <p:cNvPr id="3" name="TextBox 2"/>
          <p:cNvSpPr txBox="1"/>
          <p:nvPr/>
        </p:nvSpPr>
        <p:spPr>
          <a:xfrm>
            <a:off x="731520" y="777240"/>
            <a:ext cx="9144000" cy="640080"/>
          </a:xfrm>
          <a:prstGeom prst="rect">
            <a:avLst/>
          </a:prstGeom>
          <a:noFill/>
        </p:spPr>
        <p:txBody>
          <a:bodyPr wrap="square">
            <a:spAutoFit/>
          </a:bodyPr>
          <a:lstStyle/>
          <a:p>
            <a:pPr algn="l">
              <a:defRPr sz="3200" b="1">
                <a:solidFill>
                  <a:srgbClr val="FFFFFF"/>
                </a:solidFill>
                <a:latin typeface="Calibri"/>
              </a:defRPr>
            </a:pPr>
            <a:r>
              <a:t>Exports Excel et rapports PDF</a:t>
            </a:r>
          </a:p>
        </p:txBody>
      </p:sp>
      <p:pic>
        <p:nvPicPr>
          <p:cNvPr id="4" name="Picture 3" descr="Logo_chapchap.jpeg"/>
          <p:cNvPicPr>
            <a:picLocks noChangeAspect="1"/>
          </p:cNvPicPr>
          <p:nvPr/>
        </p:nvPicPr>
        <p:blipFill>
          <a:blip r:embed="rId3"/>
          <a:stretch>
            <a:fillRect/>
          </a:stretch>
        </p:blipFill>
        <p:spPr>
          <a:xfrm>
            <a:off x="11094415" y="137160"/>
            <a:ext cx="548640" cy="544354"/>
          </a:xfrm>
          <a:prstGeom prst="rect">
            <a:avLst/>
          </a:prstGeom>
        </p:spPr>
      </p:pic>
      <p:sp>
        <p:nvSpPr>
          <p:cNvPr id="5" name="Rectangle 4"/>
          <p:cNvSpPr/>
          <p:nvPr/>
        </p:nvSpPr>
        <p:spPr>
          <a:xfrm>
            <a:off x="0" y="6803136"/>
            <a:ext cx="12191695"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828800"/>
            <a:ext cx="5120640" cy="365760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65960"/>
            <a:ext cx="4572000" cy="320040"/>
          </a:xfrm>
          <a:prstGeom prst="rect">
            <a:avLst/>
          </a:prstGeom>
          <a:noFill/>
        </p:spPr>
        <p:txBody>
          <a:bodyPr wrap="square">
            <a:spAutoFit/>
          </a:bodyPr>
          <a:lstStyle/>
          <a:p>
            <a:pPr algn="l">
              <a:defRPr sz="1600" b="1">
                <a:solidFill>
                  <a:srgbClr val="22C55E"/>
                </a:solidFill>
                <a:latin typeface="Calibri"/>
              </a:defRPr>
            </a:pPr>
            <a:r>
              <a:t>📊  6 Exports Excel</a:t>
            </a:r>
          </a:p>
        </p:txBody>
      </p:sp>
      <p:sp>
        <p:nvSpPr>
          <p:cNvPr id="8" name="TextBox 7"/>
          <p:cNvSpPr txBox="1"/>
          <p:nvPr/>
        </p:nvSpPr>
        <p:spPr>
          <a:xfrm>
            <a:off x="1005840" y="2423160"/>
            <a:ext cx="4572000" cy="2286000"/>
          </a:xfrm>
          <a:prstGeom prst="rect">
            <a:avLst/>
          </a:prstGeom>
          <a:noFill/>
        </p:spPr>
        <p:txBody>
          <a:bodyPr wrap="square">
            <a:spAutoFit/>
          </a:bodyPr>
          <a:lstStyle/>
          <a:p>
            <a:pPr>
              <a:spcAft>
                <a:spcPts val="600"/>
              </a:spcAft>
            </a:pPr>
            <a:r>
              <a:rPr sz="1300" b="1">
                <a:solidFill>
                  <a:srgbClr val="FFFFFF"/>
                </a:solidFill>
                <a:latin typeface="Calibri"/>
              </a:rPr>
              <a:t>  Ventes              </a:t>
            </a:r>
            <a:r>
              <a:rPr sz="1200">
                <a:solidFill>
                  <a:srgbClr val="64748B"/>
                </a:solidFill>
                <a:latin typeface="Calibri"/>
              </a:rPr>
              <a:t>Filtrable par dates</a:t>
            </a:r>
          </a:p>
          <a:p>
            <a:pPr>
              <a:spcAft>
                <a:spcPts val="600"/>
              </a:spcAft>
            </a:pPr>
            <a:r>
              <a:rPr sz="1300" b="1">
                <a:solidFill>
                  <a:srgbClr val="FFFFFF"/>
                </a:solidFill>
                <a:latin typeface="Calibri"/>
              </a:rPr>
              <a:t>  Lots / Achats       </a:t>
            </a:r>
            <a:r>
              <a:rPr sz="1200">
                <a:solidFill>
                  <a:srgbClr val="64748B"/>
                </a:solidFill>
                <a:latin typeface="Calibri"/>
              </a:rPr>
              <a:t>Filtrable par dates</a:t>
            </a:r>
          </a:p>
          <a:p>
            <a:pPr>
              <a:spcAft>
                <a:spcPts val="600"/>
              </a:spcAft>
            </a:pPr>
            <a:r>
              <a:rPr sz="1300" b="1">
                <a:solidFill>
                  <a:srgbClr val="FFFFFF"/>
                </a:solidFill>
                <a:latin typeface="Calibri"/>
              </a:rPr>
              <a:t>  Clients             </a:t>
            </a:r>
            <a:r>
              <a:rPr sz="1200">
                <a:solidFill>
                  <a:srgbClr val="64748B"/>
                </a:solidFill>
                <a:latin typeface="Calibri"/>
              </a:rPr>
              <a:t>Tous les clients actifs</a:t>
            </a:r>
          </a:p>
          <a:p>
            <a:pPr>
              <a:spcAft>
                <a:spcPts val="600"/>
              </a:spcAft>
            </a:pPr>
            <a:r>
              <a:rPr sz="1300" b="1">
                <a:solidFill>
                  <a:srgbClr val="FFFFFF"/>
                </a:solidFill>
                <a:latin typeface="Calibri"/>
              </a:rPr>
              <a:t>  Charges             </a:t>
            </a:r>
            <a:r>
              <a:rPr sz="1200">
                <a:solidFill>
                  <a:srgbClr val="64748B"/>
                </a:solidFill>
                <a:latin typeface="Calibri"/>
              </a:rPr>
              <a:t>Filtrable par dates</a:t>
            </a:r>
          </a:p>
          <a:p>
            <a:pPr>
              <a:spcAft>
                <a:spcPts val="600"/>
              </a:spcAft>
            </a:pPr>
            <a:r>
              <a:rPr sz="1300" b="1">
                <a:solidFill>
                  <a:srgbClr val="FFFFFF"/>
                </a:solidFill>
                <a:latin typeface="Calibri"/>
              </a:rPr>
              <a:t>  Caisses             </a:t>
            </a:r>
            <a:r>
              <a:rPr sz="1200">
                <a:solidFill>
                  <a:srgbClr val="64748B"/>
                </a:solidFill>
                <a:latin typeface="Calibri"/>
              </a:rPr>
              <a:t>Filtrable par dates</a:t>
            </a:r>
          </a:p>
          <a:p>
            <a:pPr>
              <a:spcAft>
                <a:spcPts val="600"/>
              </a:spcAft>
            </a:pPr>
            <a:r>
              <a:rPr sz="1300" b="1">
                <a:solidFill>
                  <a:srgbClr val="FFFFFF"/>
                </a:solidFill>
                <a:latin typeface="Calibri"/>
              </a:rPr>
              <a:t>  Stock               </a:t>
            </a:r>
            <a:r>
              <a:rPr sz="1200">
                <a:solidFill>
                  <a:srgbClr val="64748B"/>
                </a:solidFill>
                <a:latin typeface="Calibri"/>
              </a:rPr>
              <a:t>Photo instantanée</a:t>
            </a:r>
          </a:p>
        </p:txBody>
      </p:sp>
      <p:sp>
        <p:nvSpPr>
          <p:cNvPr id="9" name="TextBox 8"/>
          <p:cNvSpPr txBox="1"/>
          <p:nvPr/>
        </p:nvSpPr>
        <p:spPr>
          <a:xfrm>
            <a:off x="1005840" y="4389120"/>
            <a:ext cx="4572000" cy="274320"/>
          </a:xfrm>
          <a:prstGeom prst="rect">
            <a:avLst/>
          </a:prstGeom>
          <a:noFill/>
        </p:spPr>
        <p:txBody>
          <a:bodyPr wrap="square">
            <a:spAutoFit/>
          </a:bodyPr>
          <a:lstStyle/>
          <a:p>
            <a:pPr algn="l">
              <a:defRPr sz="1400" b="1">
                <a:solidFill>
                  <a:srgbClr val="3B82F6"/>
                </a:solidFill>
                <a:latin typeface="Calibri"/>
              </a:defRPr>
            </a:pPr>
            <a:r>
              <a:t>📥  Import Excel</a:t>
            </a:r>
          </a:p>
        </p:txBody>
      </p:sp>
      <p:sp>
        <p:nvSpPr>
          <p:cNvPr id="10" name="TextBox 9"/>
          <p:cNvSpPr txBox="1"/>
          <p:nvPr/>
        </p:nvSpPr>
        <p:spPr>
          <a:xfrm>
            <a:off x="1005840" y="4709160"/>
            <a:ext cx="4572000" cy="457200"/>
          </a:xfrm>
          <a:prstGeom prst="rect">
            <a:avLst/>
          </a:prstGeom>
          <a:noFill/>
        </p:spPr>
        <p:txBody>
          <a:bodyPr wrap="square">
            <a:spAutoFit/>
          </a:bodyPr>
          <a:lstStyle/>
          <a:p>
            <a:pPr algn="l">
              <a:defRPr sz="1200" b="0">
                <a:solidFill>
                  <a:srgbClr val="64748B"/>
                </a:solidFill>
                <a:latin typeface="Calibri"/>
              </a:defRPr>
            </a:pPr>
            <a:r>
              <a:t>Import de clients depuis fichier Excel avec validation automatique</a:t>
            </a:r>
          </a:p>
        </p:txBody>
      </p:sp>
      <p:sp>
        <p:nvSpPr>
          <p:cNvPr id="11" name="Rounded Rectangle 10"/>
          <p:cNvSpPr/>
          <p:nvPr/>
        </p:nvSpPr>
        <p:spPr>
          <a:xfrm>
            <a:off x="6217920" y="1828800"/>
            <a:ext cx="5212080" cy="365760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1965960"/>
            <a:ext cx="4572000" cy="320040"/>
          </a:xfrm>
          <a:prstGeom prst="rect">
            <a:avLst/>
          </a:prstGeom>
          <a:noFill/>
        </p:spPr>
        <p:txBody>
          <a:bodyPr wrap="square">
            <a:spAutoFit/>
          </a:bodyPr>
          <a:lstStyle/>
          <a:p>
            <a:pPr algn="l">
              <a:defRPr sz="1600" b="1">
                <a:solidFill>
                  <a:srgbClr val="EF4444"/>
                </a:solidFill>
                <a:latin typeface="Calibri"/>
              </a:defRPr>
            </a:pPr>
            <a:r>
              <a:t>📄  2 Rapports PDF</a:t>
            </a:r>
          </a:p>
        </p:txBody>
      </p:sp>
      <p:sp>
        <p:nvSpPr>
          <p:cNvPr id="13" name="Rounded Rectangle 12"/>
          <p:cNvSpPr/>
          <p:nvPr/>
        </p:nvSpPr>
        <p:spPr>
          <a:xfrm>
            <a:off x="6492240" y="2468880"/>
            <a:ext cx="4663440" cy="1097280"/>
          </a:xfrm>
          <a:prstGeom prst="roundRect">
            <a:avLst/>
          </a:prstGeom>
          <a:solidFill>
            <a:srgbClr val="22223A"/>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0" y="2560320"/>
            <a:ext cx="4297680" cy="274320"/>
          </a:xfrm>
          <a:prstGeom prst="rect">
            <a:avLst/>
          </a:prstGeom>
          <a:noFill/>
        </p:spPr>
        <p:txBody>
          <a:bodyPr wrap="square">
            <a:spAutoFit/>
          </a:bodyPr>
          <a:lstStyle/>
          <a:p>
            <a:pPr algn="l">
              <a:defRPr sz="1400" b="1">
                <a:solidFill>
                  <a:srgbClr val="FFFFFF"/>
                </a:solidFill>
                <a:latin typeface="Calibri"/>
              </a:defRPr>
            </a:pPr>
            <a:r>
              <a:t>Reçu de vente</a:t>
            </a:r>
          </a:p>
        </p:txBody>
      </p:sp>
      <p:sp>
        <p:nvSpPr>
          <p:cNvPr id="15" name="TextBox 14"/>
          <p:cNvSpPr txBox="1"/>
          <p:nvPr/>
        </p:nvSpPr>
        <p:spPr>
          <a:xfrm>
            <a:off x="6675120" y="2880360"/>
            <a:ext cx="4297680" cy="457200"/>
          </a:xfrm>
          <a:prstGeom prst="rect">
            <a:avLst/>
          </a:prstGeom>
          <a:noFill/>
        </p:spPr>
        <p:txBody>
          <a:bodyPr wrap="square">
            <a:spAutoFit/>
          </a:bodyPr>
          <a:lstStyle/>
          <a:p>
            <a:pPr algn="l">
              <a:defRPr sz="1100" b="0">
                <a:solidFill>
                  <a:srgbClr val="64748B"/>
                </a:solidFill>
                <a:latin typeface="Calibri"/>
              </a:defRPr>
            </a:pPr>
            <a:r>
              <a:t>En-tête CHAPCHAP, client, produits, totaux, statut paiement</a:t>
            </a:r>
          </a:p>
        </p:txBody>
      </p:sp>
      <p:sp>
        <p:nvSpPr>
          <p:cNvPr id="16" name="Rounded Rectangle 15"/>
          <p:cNvSpPr/>
          <p:nvPr/>
        </p:nvSpPr>
        <p:spPr>
          <a:xfrm>
            <a:off x="6492240" y="3749039"/>
            <a:ext cx="4663440" cy="1097280"/>
          </a:xfrm>
          <a:prstGeom prst="roundRect">
            <a:avLst/>
          </a:prstGeom>
          <a:solidFill>
            <a:srgbClr val="22223A"/>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0" y="3840480"/>
            <a:ext cx="4297680" cy="274320"/>
          </a:xfrm>
          <a:prstGeom prst="rect">
            <a:avLst/>
          </a:prstGeom>
          <a:noFill/>
        </p:spPr>
        <p:txBody>
          <a:bodyPr wrap="square">
            <a:spAutoFit/>
          </a:bodyPr>
          <a:lstStyle/>
          <a:p>
            <a:pPr algn="l">
              <a:defRPr sz="1400" b="1">
                <a:solidFill>
                  <a:srgbClr val="FFFFFF"/>
                </a:solidFill>
                <a:latin typeface="Calibri"/>
              </a:defRPr>
            </a:pPr>
            <a:r>
              <a:t>Rapport de caisse</a:t>
            </a:r>
          </a:p>
        </p:txBody>
      </p:sp>
      <p:sp>
        <p:nvSpPr>
          <p:cNvPr id="18" name="TextBox 17"/>
          <p:cNvSpPr txBox="1"/>
          <p:nvPr/>
        </p:nvSpPr>
        <p:spPr>
          <a:xfrm>
            <a:off x="6675120" y="4160520"/>
            <a:ext cx="4297680" cy="457200"/>
          </a:xfrm>
          <a:prstGeom prst="rect">
            <a:avLst/>
          </a:prstGeom>
          <a:noFill/>
        </p:spPr>
        <p:txBody>
          <a:bodyPr wrap="square">
            <a:spAutoFit/>
          </a:bodyPr>
          <a:lstStyle/>
          <a:p>
            <a:pPr algn="l">
              <a:defRPr sz="1100" b="0">
                <a:solidFill>
                  <a:srgbClr val="64748B"/>
                </a:solidFill>
                <a:latin typeface="Calibri"/>
              </a:defRPr>
            </a:pPr>
            <a:r>
              <a:t>Résumé journalier : encaissements, décaissements, charges, solde, signatures</a:t>
            </a:r>
          </a:p>
        </p:txBody>
      </p:sp>
      <p:sp>
        <p:nvSpPr>
          <p:cNvPr id="19" name="Rounded Rectangle 18"/>
          <p:cNvSpPr/>
          <p:nvPr/>
        </p:nvSpPr>
        <p:spPr>
          <a:xfrm>
            <a:off x="6492240" y="5029200"/>
            <a:ext cx="4663440" cy="457200"/>
          </a:xfrm>
          <a:prstGeom prst="roundRect">
            <a:avLst/>
          </a:prstGeom>
          <a:solidFill>
            <a:srgbClr val="1A1A2E"/>
          </a:solidFill>
          <a:ln w="1905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5074920"/>
            <a:ext cx="4663440" cy="320040"/>
          </a:xfrm>
          <a:prstGeom prst="rect">
            <a:avLst/>
          </a:prstGeom>
          <a:noFill/>
        </p:spPr>
        <p:txBody>
          <a:bodyPr wrap="square">
            <a:spAutoFit/>
          </a:bodyPr>
          <a:lstStyle/>
          <a:p>
            <a:pPr algn="ctr">
              <a:defRPr sz="1300" b="1">
                <a:solidFill>
                  <a:srgbClr val="F97316"/>
                </a:solidFill>
                <a:latin typeface="Calibri"/>
              </a:defRPr>
            </a:pPr>
            <a:r>
              <a:t>Tous les exports en 1 clic depuis l'interface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3657600" cy="320040"/>
          </a:xfrm>
          <a:prstGeom prst="rect">
            <a:avLst/>
          </a:prstGeom>
          <a:noFill/>
        </p:spPr>
        <p:txBody>
          <a:bodyPr wrap="square">
            <a:spAutoFit/>
          </a:bodyPr>
          <a:lstStyle/>
          <a:p>
            <a:pPr algn="l">
              <a:defRPr sz="1100" b="1">
                <a:solidFill>
                  <a:srgbClr val="F97316"/>
                </a:solidFill>
                <a:latin typeface="Calibri"/>
              </a:defRPr>
            </a:pPr>
            <a:r>
              <a:t>FIABILITÉ</a:t>
            </a:r>
          </a:p>
        </p:txBody>
      </p:sp>
      <p:sp>
        <p:nvSpPr>
          <p:cNvPr id="3" name="TextBox 2"/>
          <p:cNvSpPr txBox="1"/>
          <p:nvPr/>
        </p:nvSpPr>
        <p:spPr>
          <a:xfrm>
            <a:off x="731520" y="777240"/>
            <a:ext cx="9144000" cy="640080"/>
          </a:xfrm>
          <a:prstGeom prst="rect">
            <a:avLst/>
          </a:prstGeom>
          <a:noFill/>
        </p:spPr>
        <p:txBody>
          <a:bodyPr wrap="square">
            <a:spAutoFit/>
          </a:bodyPr>
          <a:lstStyle/>
          <a:p>
            <a:pPr algn="l">
              <a:defRPr sz="3200" b="1">
                <a:solidFill>
                  <a:srgbClr val="1E293B"/>
                </a:solidFill>
                <a:latin typeface="Calibri"/>
              </a:defRPr>
            </a:pPr>
            <a:r>
              <a:t>Backups et continuité</a:t>
            </a:r>
          </a:p>
        </p:txBody>
      </p:sp>
      <p:sp>
        <p:nvSpPr>
          <p:cNvPr id="4" name="Rectangle 3"/>
          <p:cNvSpPr/>
          <p:nvPr/>
        </p:nvSpPr>
        <p:spPr>
          <a:xfrm>
            <a:off x="0" y="6784848"/>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ogo_chapchap.jpeg"/>
          <p:cNvPicPr>
            <a:picLocks noChangeAspect="1"/>
          </p:cNvPicPr>
          <p:nvPr/>
        </p:nvPicPr>
        <p:blipFill>
          <a:blip r:embed="rId3"/>
          <a:stretch>
            <a:fillRect/>
          </a:stretch>
        </p:blipFill>
        <p:spPr>
          <a:xfrm>
            <a:off x="11094415" y="228600"/>
            <a:ext cx="548640" cy="544354"/>
          </a:xfrm>
          <a:prstGeom prst="rect">
            <a:avLst/>
          </a:prstGeom>
        </p:spPr>
      </p:pic>
      <p:sp>
        <p:nvSpPr>
          <p:cNvPr id="6" name="Rounded Rectangle 5"/>
          <p:cNvSpPr/>
          <p:nvPr/>
        </p:nvSpPr>
        <p:spPr>
          <a:xfrm>
            <a:off x="731520" y="1645920"/>
            <a:ext cx="5120640" cy="201168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645920"/>
            <a:ext cx="54864" cy="20116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737360"/>
            <a:ext cx="4572000" cy="274320"/>
          </a:xfrm>
          <a:prstGeom prst="rect">
            <a:avLst/>
          </a:prstGeom>
          <a:noFill/>
        </p:spPr>
        <p:txBody>
          <a:bodyPr wrap="square">
            <a:spAutoFit/>
          </a:bodyPr>
          <a:lstStyle/>
          <a:p>
            <a:pPr algn="l">
              <a:defRPr sz="1500" b="1">
                <a:solidFill>
                  <a:srgbClr val="1E293B"/>
                </a:solidFill>
                <a:latin typeface="Calibri"/>
              </a:defRPr>
            </a:pPr>
            <a:r>
              <a:t>Sauvegardes automatiques</a:t>
            </a:r>
          </a:p>
        </p:txBody>
      </p:sp>
      <p:sp>
        <p:nvSpPr>
          <p:cNvPr id="9" name="TextBox 8"/>
          <p:cNvSpPr txBox="1"/>
          <p:nvPr/>
        </p:nvSpPr>
        <p:spPr>
          <a:xfrm>
            <a:off x="1188720" y="2103120"/>
            <a:ext cx="4389120" cy="1371600"/>
          </a:xfrm>
          <a:prstGeom prst="rect">
            <a:avLst/>
          </a:prstGeom>
          <a:noFill/>
        </p:spPr>
        <p:txBody>
          <a:bodyPr wrap="square">
            <a:spAutoFit/>
          </a:bodyPr>
          <a:lstStyle/>
          <a:p>
            <a:pPr>
              <a:spcAft>
                <a:spcPts val="300"/>
              </a:spcAft>
              <a:defRPr sz="1200">
                <a:solidFill>
                  <a:srgbClr val="64748B"/>
                </a:solidFill>
                <a:latin typeface="Consolas"/>
              </a:defRPr>
            </a:pPr>
            <a:r>
              <a:t>Backup BDD .................. Tous les jours à 2h</a:t>
            </a:r>
          </a:p>
          <a:p>
            <a:pPr>
              <a:spcAft>
                <a:spcPts val="300"/>
              </a:spcAft>
              <a:defRPr sz="1200">
                <a:solidFill>
                  <a:srgbClr val="64748B"/>
                </a:solidFill>
                <a:latin typeface="Consolas"/>
              </a:defRPr>
            </a:pPr>
            <a:r>
              <a:t>Backup complet ............. Chaque dimanche à 4h</a:t>
            </a:r>
          </a:p>
          <a:p>
            <a:pPr>
              <a:spcAft>
                <a:spcPts val="300"/>
              </a:spcAft>
              <a:defRPr sz="1200">
                <a:solidFill>
                  <a:srgbClr val="64748B"/>
                </a:solidFill>
                <a:latin typeface="Consolas"/>
              </a:defRPr>
            </a:pPr>
            <a:r>
              <a:t>Nettoyage auto .............. Rétention 30 jours</a:t>
            </a:r>
          </a:p>
          <a:p>
            <a:pPr>
              <a:spcAft>
                <a:spcPts val="300"/>
              </a:spcAft>
              <a:defRPr sz="1200">
                <a:solidFill>
                  <a:srgbClr val="64748B"/>
                </a:solidFill>
                <a:latin typeface="Consolas"/>
              </a:defRPr>
            </a:pPr>
            <a:r>
              <a:t>Monitoring ..................... Alerte si backup manquant</a:t>
            </a:r>
          </a:p>
        </p:txBody>
      </p:sp>
      <p:sp>
        <p:nvSpPr>
          <p:cNvPr id="10" name="Rounded Rectangle 9"/>
          <p:cNvSpPr/>
          <p:nvPr/>
        </p:nvSpPr>
        <p:spPr>
          <a:xfrm>
            <a:off x="731520" y="3840480"/>
            <a:ext cx="5120640" cy="219456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840480"/>
            <a:ext cx="54864" cy="21945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3931920"/>
            <a:ext cx="4572000" cy="274320"/>
          </a:xfrm>
          <a:prstGeom prst="rect">
            <a:avLst/>
          </a:prstGeom>
          <a:noFill/>
        </p:spPr>
        <p:txBody>
          <a:bodyPr wrap="square">
            <a:spAutoFit/>
          </a:bodyPr>
          <a:lstStyle/>
          <a:p>
            <a:pPr algn="l">
              <a:defRPr sz="1500" b="1">
                <a:solidFill>
                  <a:srgbClr val="1E293B"/>
                </a:solidFill>
                <a:latin typeface="Calibri"/>
              </a:defRPr>
            </a:pPr>
            <a:r>
              <a:t>Tests automatisés — Garantie qualité</a:t>
            </a:r>
          </a:p>
        </p:txBody>
      </p:sp>
      <p:sp>
        <p:nvSpPr>
          <p:cNvPr id="13" name="TextBox 12"/>
          <p:cNvSpPr txBox="1"/>
          <p:nvPr/>
        </p:nvSpPr>
        <p:spPr>
          <a:xfrm>
            <a:off x="1005840" y="4251960"/>
            <a:ext cx="3657600" cy="320040"/>
          </a:xfrm>
          <a:prstGeom prst="rect">
            <a:avLst/>
          </a:prstGeom>
          <a:noFill/>
        </p:spPr>
        <p:txBody>
          <a:bodyPr wrap="square">
            <a:spAutoFit/>
          </a:bodyPr>
          <a:lstStyle/>
          <a:p>
            <a:pPr algn="l">
              <a:defRPr sz="1400" b="1">
                <a:solidFill>
                  <a:srgbClr val="22C55E"/>
                </a:solidFill>
                <a:latin typeface="Calibri"/>
              </a:defRPr>
            </a:pPr>
            <a:r>
              <a:t>27 tests — 72 vérifications — 100% OK</a:t>
            </a:r>
          </a:p>
        </p:txBody>
      </p:sp>
      <p:sp>
        <p:nvSpPr>
          <p:cNvPr id="14" name="TextBox 13"/>
          <p:cNvSpPr txBox="1"/>
          <p:nvPr/>
        </p:nvSpPr>
        <p:spPr>
          <a:xfrm>
            <a:off x="1005840" y="4572000"/>
            <a:ext cx="4572000" cy="1280160"/>
          </a:xfrm>
          <a:prstGeom prst="rect">
            <a:avLst/>
          </a:prstGeom>
          <a:noFill/>
        </p:spPr>
        <p:txBody>
          <a:bodyPr wrap="square">
            <a:spAutoFit/>
          </a:bodyPr>
          <a:lstStyle/>
          <a:p>
            <a:pPr>
              <a:spcAft>
                <a:spcPts val="300"/>
              </a:spcAft>
            </a:pPr>
            <a:r>
              <a:rPr sz="1100" b="1">
                <a:solidFill>
                  <a:srgbClr val="F97316"/>
                </a:solidFill>
                <a:latin typeface="Calibri"/>
              </a:rPr>
              <a:t>→ </a:t>
            </a:r>
            <a:r>
              <a:rPr sz="1100">
                <a:solidFill>
                  <a:srgbClr val="64748B"/>
                </a:solidFill>
                <a:latin typeface="Calibri"/>
              </a:rPr>
              <a:t>Calculs stock et CMP vérifiés</a:t>
            </a:r>
          </a:p>
          <a:p>
            <a:pPr>
              <a:spcAft>
                <a:spcPts val="300"/>
              </a:spcAft>
            </a:pPr>
            <a:r>
              <a:rPr sz="1100" b="1">
                <a:solidFill>
                  <a:srgbClr val="F97316"/>
                </a:solidFill>
                <a:latin typeface="Calibri"/>
              </a:rPr>
              <a:t>→ </a:t>
            </a:r>
            <a:r>
              <a:rPr sz="1100">
                <a:solidFill>
                  <a:srgbClr val="64748B"/>
                </a:solidFill>
                <a:latin typeface="Calibri"/>
              </a:rPr>
              <a:t>Flux de vente complet simulé</a:t>
            </a:r>
          </a:p>
          <a:p>
            <a:pPr>
              <a:spcAft>
                <a:spcPts val="300"/>
              </a:spcAft>
            </a:pPr>
            <a:r>
              <a:rPr sz="1100" b="1">
                <a:solidFill>
                  <a:srgbClr val="F97316"/>
                </a:solidFill>
                <a:latin typeface="Calibri"/>
              </a:rPr>
              <a:t>→ </a:t>
            </a:r>
            <a:r>
              <a:rPr sz="1100">
                <a:solidFill>
                  <a:srgbClr val="64748B"/>
                </a:solidFill>
                <a:latin typeface="Calibri"/>
              </a:rPr>
              <a:t>Paiements partiels et crédits testés</a:t>
            </a:r>
          </a:p>
          <a:p>
            <a:pPr>
              <a:spcAft>
                <a:spcPts val="300"/>
              </a:spcAft>
            </a:pPr>
            <a:r>
              <a:rPr sz="1100" b="1">
                <a:solidFill>
                  <a:srgbClr val="F97316"/>
                </a:solidFill>
                <a:latin typeface="Calibri"/>
              </a:rPr>
              <a:t>→ </a:t>
            </a:r>
            <a:r>
              <a:rPr sz="1100">
                <a:solidFill>
                  <a:srgbClr val="64748B"/>
                </a:solidFill>
                <a:latin typeface="Calibri"/>
              </a:rPr>
              <a:t>Annulations avec reconstitution stock</a:t>
            </a:r>
          </a:p>
          <a:p>
            <a:pPr>
              <a:spcAft>
                <a:spcPts val="300"/>
              </a:spcAft>
            </a:pPr>
            <a:r>
              <a:rPr sz="1100" b="1">
                <a:solidFill>
                  <a:srgbClr val="F97316"/>
                </a:solidFill>
                <a:latin typeface="Calibri"/>
              </a:rPr>
              <a:t>→ </a:t>
            </a:r>
            <a:r>
              <a:rPr sz="1100">
                <a:solidFill>
                  <a:srgbClr val="64748B"/>
                </a:solidFill>
                <a:latin typeface="Calibri"/>
              </a:rPr>
              <a:t>Calculs lots et factures fournisseur</a:t>
            </a:r>
          </a:p>
        </p:txBody>
      </p:sp>
      <p:sp>
        <p:nvSpPr>
          <p:cNvPr id="15" name="Rounded Rectangle 14"/>
          <p:cNvSpPr/>
          <p:nvPr/>
        </p:nvSpPr>
        <p:spPr>
          <a:xfrm>
            <a:off x="6217920" y="1645920"/>
            <a:ext cx="5212080" cy="201168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645920"/>
            <a:ext cx="54864" cy="201168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1737360"/>
            <a:ext cx="4572000" cy="274320"/>
          </a:xfrm>
          <a:prstGeom prst="rect">
            <a:avLst/>
          </a:prstGeom>
          <a:noFill/>
        </p:spPr>
        <p:txBody>
          <a:bodyPr wrap="square">
            <a:spAutoFit/>
          </a:bodyPr>
          <a:lstStyle/>
          <a:p>
            <a:pPr algn="l">
              <a:defRPr sz="1500" b="1">
                <a:solidFill>
                  <a:srgbClr val="1E293B"/>
                </a:solidFill>
                <a:latin typeface="Calibri"/>
              </a:defRPr>
            </a:pPr>
            <a:r>
              <a:t>Hébergement recommandé</a:t>
            </a:r>
          </a:p>
        </p:txBody>
      </p:sp>
      <p:sp>
        <p:nvSpPr>
          <p:cNvPr id="18" name="TextBox 17"/>
          <p:cNvSpPr txBox="1"/>
          <p:nvPr/>
        </p:nvSpPr>
        <p:spPr>
          <a:xfrm>
            <a:off x="6492240" y="2103120"/>
            <a:ext cx="4663440" cy="1371600"/>
          </a:xfrm>
          <a:prstGeom prst="rect">
            <a:avLst/>
          </a:prstGeom>
          <a:noFill/>
        </p:spPr>
        <p:txBody>
          <a:bodyPr wrap="square">
            <a:spAutoFit/>
          </a:bodyPr>
          <a:lstStyle/>
          <a:p>
            <a:pPr>
              <a:spcAft>
                <a:spcPts val="300"/>
              </a:spcAft>
            </a:pPr>
            <a:r>
              <a:rPr sz="1200" b="1">
                <a:solidFill>
                  <a:srgbClr val="F97316"/>
                </a:solidFill>
                <a:latin typeface="Calibri"/>
              </a:rPr>
              <a:t>→ </a:t>
            </a:r>
            <a:r>
              <a:rPr sz="1200">
                <a:solidFill>
                  <a:srgbClr val="64748B"/>
                </a:solidFill>
                <a:latin typeface="Calibri"/>
              </a:rPr>
              <a:t>VPS : DigitalOcean ou Hetzner</a:t>
            </a:r>
          </a:p>
          <a:p>
            <a:pPr>
              <a:spcAft>
                <a:spcPts val="300"/>
              </a:spcAft>
            </a:pPr>
            <a:r>
              <a:rPr sz="1200" b="1">
                <a:solidFill>
                  <a:srgbClr val="F97316"/>
                </a:solidFill>
                <a:latin typeface="Calibri"/>
              </a:rPr>
              <a:t>→ </a:t>
            </a:r>
            <a:r>
              <a:rPr sz="1200">
                <a:solidFill>
                  <a:srgbClr val="64748B"/>
                </a:solidFill>
                <a:latin typeface="Calibri"/>
              </a:rPr>
              <a:t>Déploiement : Laravel Forge (automatisé)</a:t>
            </a:r>
          </a:p>
          <a:p>
            <a:pPr>
              <a:spcAft>
                <a:spcPts val="300"/>
              </a:spcAft>
            </a:pPr>
            <a:r>
              <a:rPr sz="1200" b="1">
                <a:solidFill>
                  <a:srgbClr val="F97316"/>
                </a:solidFill>
                <a:latin typeface="Calibri"/>
              </a:rPr>
              <a:t>→ </a:t>
            </a:r>
            <a:r>
              <a:rPr sz="1200">
                <a:solidFill>
                  <a:srgbClr val="64748B"/>
                </a:solidFill>
                <a:latin typeface="Calibri"/>
              </a:rPr>
              <a:t>SSL : Let's Encrypt (HTTPS gratuit)</a:t>
            </a:r>
          </a:p>
          <a:p>
            <a:pPr>
              <a:spcAft>
                <a:spcPts val="300"/>
              </a:spcAft>
            </a:pPr>
            <a:r>
              <a:rPr sz="1200" b="1">
                <a:solidFill>
                  <a:srgbClr val="F97316"/>
                </a:solidFill>
                <a:latin typeface="Calibri"/>
              </a:rPr>
              <a:t>→ </a:t>
            </a:r>
            <a:r>
              <a:rPr sz="1200">
                <a:solidFill>
                  <a:srgbClr val="64748B"/>
                </a:solidFill>
                <a:latin typeface="Calibri"/>
              </a:rPr>
              <a:t>Coût estimé : ~15 000 FCFA / mois</a:t>
            </a:r>
          </a:p>
        </p:txBody>
      </p:sp>
      <p:sp>
        <p:nvSpPr>
          <p:cNvPr id="19" name="Rounded Rectangle 18"/>
          <p:cNvSpPr/>
          <p:nvPr/>
        </p:nvSpPr>
        <p:spPr>
          <a:xfrm>
            <a:off x="6217920" y="3840480"/>
            <a:ext cx="5212080" cy="219456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3840480"/>
            <a:ext cx="54864" cy="2194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3931920"/>
            <a:ext cx="4572000" cy="274320"/>
          </a:xfrm>
          <a:prstGeom prst="rect">
            <a:avLst/>
          </a:prstGeom>
          <a:noFill/>
        </p:spPr>
        <p:txBody>
          <a:bodyPr wrap="square">
            <a:spAutoFit/>
          </a:bodyPr>
          <a:lstStyle/>
          <a:p>
            <a:pPr algn="l">
              <a:defRPr sz="1500" b="1">
                <a:solidFill>
                  <a:srgbClr val="1E293B"/>
                </a:solidFill>
                <a:latin typeface="Calibri"/>
              </a:defRPr>
            </a:pPr>
            <a:r>
              <a:t>Optimisations intégrées</a:t>
            </a:r>
          </a:p>
        </p:txBody>
      </p:sp>
      <p:sp>
        <p:nvSpPr>
          <p:cNvPr id="22" name="TextBox 21"/>
          <p:cNvSpPr txBox="1"/>
          <p:nvPr/>
        </p:nvSpPr>
        <p:spPr>
          <a:xfrm>
            <a:off x="6492240" y="4251960"/>
            <a:ext cx="4663440" cy="1554480"/>
          </a:xfrm>
          <a:prstGeom prst="rect">
            <a:avLst/>
          </a:prstGeom>
          <a:noFill/>
        </p:spPr>
        <p:txBody>
          <a:bodyPr wrap="square">
            <a:spAutoFit/>
          </a:bodyPr>
          <a:lstStyle/>
          <a:p>
            <a:pPr>
              <a:spcAft>
                <a:spcPts val="300"/>
              </a:spcAft>
            </a:pPr>
            <a:r>
              <a:rPr sz="1200" b="1">
                <a:solidFill>
                  <a:srgbClr val="F97316"/>
                </a:solidFill>
                <a:latin typeface="Calibri"/>
              </a:rPr>
              <a:t>→ </a:t>
            </a:r>
            <a:r>
              <a:rPr sz="1200">
                <a:solidFill>
                  <a:srgbClr val="64748B"/>
                </a:solidFill>
                <a:latin typeface="Calibri"/>
              </a:rPr>
              <a:t>Mise en cache des configurations</a:t>
            </a:r>
          </a:p>
          <a:p>
            <a:pPr>
              <a:spcAft>
                <a:spcPts val="300"/>
              </a:spcAft>
            </a:pPr>
            <a:r>
              <a:rPr sz="1200" b="1">
                <a:solidFill>
                  <a:srgbClr val="F97316"/>
                </a:solidFill>
                <a:latin typeface="Calibri"/>
              </a:rPr>
              <a:t>→ </a:t>
            </a:r>
            <a:r>
              <a:rPr sz="1200">
                <a:solidFill>
                  <a:srgbClr val="64748B"/>
                </a:solidFill>
                <a:latin typeface="Calibri"/>
              </a:rPr>
              <a:t>Requêtes optimisées (pas de N+1)</a:t>
            </a:r>
          </a:p>
          <a:p>
            <a:pPr>
              <a:spcAft>
                <a:spcPts val="300"/>
              </a:spcAft>
            </a:pPr>
            <a:r>
              <a:rPr sz="1200" b="1">
                <a:solidFill>
                  <a:srgbClr val="F97316"/>
                </a:solidFill>
                <a:latin typeface="Calibri"/>
              </a:rPr>
              <a:t>→ </a:t>
            </a:r>
            <a:r>
              <a:rPr sz="1200">
                <a:solidFill>
                  <a:srgbClr val="64748B"/>
                </a:solidFill>
                <a:latin typeface="Calibri"/>
              </a:rPr>
              <a:t>Dashboard en 2-3 requêtes au lieu de 60+</a:t>
            </a:r>
          </a:p>
          <a:p>
            <a:pPr>
              <a:spcAft>
                <a:spcPts val="300"/>
              </a:spcAft>
            </a:pPr>
            <a:r>
              <a:rPr sz="1200" b="1">
                <a:solidFill>
                  <a:srgbClr val="F97316"/>
                </a:solidFill>
                <a:latin typeface="Calibri"/>
              </a:rPr>
              <a:t>→ </a:t>
            </a:r>
            <a:r>
              <a:rPr sz="1200">
                <a:solidFill>
                  <a:srgbClr val="64748B"/>
                </a:solidFill>
                <a:latin typeface="Calibri"/>
              </a:rPr>
              <a:t>Compression des backups (gzip)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3657600" cy="320040"/>
          </a:xfrm>
          <a:prstGeom prst="rect">
            <a:avLst/>
          </a:prstGeom>
          <a:noFill/>
        </p:spPr>
        <p:txBody>
          <a:bodyPr wrap="square">
            <a:spAutoFit/>
          </a:bodyPr>
          <a:lstStyle/>
          <a:p>
            <a:pPr algn="l">
              <a:defRPr sz="1100" b="1">
                <a:solidFill>
                  <a:srgbClr val="F97316"/>
                </a:solidFill>
                <a:latin typeface="Calibri"/>
              </a:defRPr>
            </a:pPr>
            <a:r>
              <a:t>PLANNING</a:t>
            </a:r>
          </a:p>
        </p:txBody>
      </p:sp>
      <p:sp>
        <p:nvSpPr>
          <p:cNvPr id="3" name="TextBox 2"/>
          <p:cNvSpPr txBox="1"/>
          <p:nvPr/>
        </p:nvSpPr>
        <p:spPr>
          <a:xfrm>
            <a:off x="731520" y="777240"/>
            <a:ext cx="9144000" cy="640080"/>
          </a:xfrm>
          <a:prstGeom prst="rect">
            <a:avLst/>
          </a:prstGeom>
          <a:noFill/>
        </p:spPr>
        <p:txBody>
          <a:bodyPr wrap="square">
            <a:spAutoFit/>
          </a:bodyPr>
          <a:lstStyle/>
          <a:p>
            <a:pPr algn="l">
              <a:defRPr sz="3200" b="1">
                <a:solidFill>
                  <a:srgbClr val="FFFFFF"/>
                </a:solidFill>
                <a:latin typeface="Calibri"/>
              </a:defRPr>
            </a:pPr>
            <a:r>
              <a:t>Avancement du projet</a:t>
            </a:r>
          </a:p>
        </p:txBody>
      </p:sp>
      <p:pic>
        <p:nvPicPr>
          <p:cNvPr id="4" name="Picture 3" descr="Logo_chapchap.jpeg"/>
          <p:cNvPicPr>
            <a:picLocks noChangeAspect="1"/>
          </p:cNvPicPr>
          <p:nvPr/>
        </p:nvPicPr>
        <p:blipFill>
          <a:blip r:embed="rId3"/>
          <a:stretch>
            <a:fillRect/>
          </a:stretch>
        </p:blipFill>
        <p:spPr>
          <a:xfrm>
            <a:off x="11094415" y="137160"/>
            <a:ext cx="548640" cy="544354"/>
          </a:xfrm>
          <a:prstGeom prst="rect">
            <a:avLst/>
          </a:prstGeom>
        </p:spPr>
      </p:pic>
      <p:sp>
        <p:nvSpPr>
          <p:cNvPr id="5" name="Rectangle 4"/>
          <p:cNvSpPr/>
          <p:nvPr/>
        </p:nvSpPr>
        <p:spPr>
          <a:xfrm>
            <a:off x="0" y="6803136"/>
            <a:ext cx="12191695"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828800"/>
            <a:ext cx="5486400" cy="438912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20240"/>
            <a:ext cx="4937760" cy="320040"/>
          </a:xfrm>
          <a:prstGeom prst="rect">
            <a:avLst/>
          </a:prstGeom>
          <a:noFill/>
        </p:spPr>
        <p:txBody>
          <a:bodyPr wrap="square">
            <a:spAutoFit/>
          </a:bodyPr>
          <a:lstStyle/>
          <a:p>
            <a:pPr algn="l">
              <a:defRPr sz="1600" b="1">
                <a:solidFill>
                  <a:srgbClr val="22C55E"/>
                </a:solidFill>
                <a:latin typeface="Calibri"/>
              </a:defRPr>
            </a:pPr>
            <a:r>
              <a:t>✅  12 phases terminées</a:t>
            </a:r>
          </a:p>
        </p:txBody>
      </p:sp>
      <p:sp>
        <p:nvSpPr>
          <p:cNvPr id="8" name="TextBox 7"/>
          <p:cNvSpPr txBox="1"/>
          <p:nvPr/>
        </p:nvSpPr>
        <p:spPr>
          <a:xfrm>
            <a:off x="1005840" y="2331720"/>
            <a:ext cx="4937760" cy="3657600"/>
          </a:xfrm>
          <a:prstGeom prst="rect">
            <a:avLst/>
          </a:prstGeom>
          <a:noFill/>
        </p:spPr>
        <p:txBody>
          <a:bodyPr wrap="square">
            <a:spAutoFit/>
          </a:bodyPr>
          <a:lstStyle/>
          <a:p>
            <a:pPr>
              <a:spcAft>
                <a:spcPts val="200"/>
              </a:spcAft>
            </a:pPr>
            <a:r>
              <a:rPr sz="1200" b="1">
                <a:solidFill>
                  <a:srgbClr val="22C55E"/>
                </a:solidFill>
                <a:latin typeface="Calibri"/>
              </a:rPr>
              <a:t>  ● S1 </a:t>
            </a:r>
            <a:r>
              <a:rPr sz="1200">
                <a:solidFill>
                  <a:srgbClr val="AAAACC"/>
                </a:solidFill>
                <a:latin typeface="Calibri"/>
              </a:rPr>
              <a:t>— Setup projet &amp; architecture</a:t>
            </a:r>
          </a:p>
          <a:p>
            <a:pPr>
              <a:spcAft>
                <a:spcPts val="200"/>
              </a:spcAft>
            </a:pPr>
            <a:r>
              <a:rPr sz="1200" b="1">
                <a:solidFill>
                  <a:srgbClr val="22C55E"/>
                </a:solidFill>
                <a:latin typeface="Calibri"/>
              </a:rPr>
              <a:t>  ● S2 </a:t>
            </a:r>
            <a:r>
              <a:rPr sz="1200">
                <a:solidFill>
                  <a:srgbClr val="AAAACC"/>
                </a:solidFill>
                <a:latin typeface="Calibri"/>
              </a:rPr>
              <a:t>— BDD, migrations, models, seeders</a:t>
            </a:r>
          </a:p>
          <a:p>
            <a:pPr>
              <a:spcAft>
                <a:spcPts val="200"/>
              </a:spcAft>
            </a:pPr>
            <a:r>
              <a:rPr sz="1200" b="1">
                <a:solidFill>
                  <a:srgbClr val="22C55E"/>
                </a:solidFill>
                <a:latin typeface="Calibri"/>
              </a:rPr>
              <a:t>  ● S3 </a:t>
            </a:r>
            <a:r>
              <a:rPr sz="1200">
                <a:solidFill>
                  <a:srgbClr val="AAAACC"/>
                </a:solidFill>
                <a:latin typeface="Calibri"/>
              </a:rPr>
              <a:t>— Module Lots &amp; Achats</a:t>
            </a:r>
          </a:p>
          <a:p>
            <a:pPr>
              <a:spcAft>
                <a:spcPts val="200"/>
              </a:spcAft>
            </a:pPr>
            <a:r>
              <a:rPr sz="1200" b="1">
                <a:solidFill>
                  <a:srgbClr val="22C55E"/>
                </a:solidFill>
                <a:latin typeface="Calibri"/>
              </a:rPr>
              <a:t>  ● S4 </a:t>
            </a:r>
            <a:r>
              <a:rPr sz="1200">
                <a:solidFill>
                  <a:srgbClr val="AAAACC"/>
                </a:solidFill>
                <a:latin typeface="Calibri"/>
              </a:rPr>
              <a:t>— Module Production</a:t>
            </a:r>
          </a:p>
          <a:p>
            <a:pPr>
              <a:spcAft>
                <a:spcPts val="200"/>
              </a:spcAft>
            </a:pPr>
            <a:r>
              <a:rPr sz="1200" b="1">
                <a:solidFill>
                  <a:srgbClr val="22C55E"/>
                </a:solidFill>
                <a:latin typeface="Calibri"/>
              </a:rPr>
              <a:t>  ● S5 </a:t>
            </a:r>
            <a:r>
              <a:rPr sz="1200">
                <a:solidFill>
                  <a:srgbClr val="AAAACC"/>
                </a:solidFill>
                <a:latin typeface="Calibri"/>
              </a:rPr>
              <a:t>— Module Stock &amp; Transferts</a:t>
            </a:r>
          </a:p>
          <a:p>
            <a:pPr>
              <a:spcAft>
                <a:spcPts val="200"/>
              </a:spcAft>
            </a:pPr>
            <a:r>
              <a:rPr sz="1200" b="1">
                <a:solidFill>
                  <a:srgbClr val="22C55E"/>
                </a:solidFill>
                <a:latin typeface="Calibri"/>
              </a:rPr>
              <a:t>  ● S6 </a:t>
            </a:r>
            <a:r>
              <a:rPr sz="1200">
                <a:solidFill>
                  <a:srgbClr val="AAAACC"/>
                </a:solidFill>
                <a:latin typeface="Calibri"/>
              </a:rPr>
              <a:t>— CRM, Ventes &amp; Paiements</a:t>
            </a:r>
          </a:p>
          <a:p>
            <a:pPr>
              <a:spcAft>
                <a:spcPts val="200"/>
              </a:spcAft>
            </a:pPr>
            <a:r>
              <a:rPr sz="1200" b="1">
                <a:solidFill>
                  <a:srgbClr val="22C55E"/>
                </a:solidFill>
                <a:latin typeface="Calibri"/>
              </a:rPr>
              <a:t>  ● S7 </a:t>
            </a:r>
            <a:r>
              <a:rPr sz="1200">
                <a:solidFill>
                  <a:srgbClr val="AAAACC"/>
                </a:solidFill>
                <a:latin typeface="Calibri"/>
              </a:rPr>
              <a:t>— Caisse &amp; Charges</a:t>
            </a:r>
          </a:p>
          <a:p>
            <a:pPr>
              <a:spcAft>
                <a:spcPts val="200"/>
              </a:spcAft>
            </a:pPr>
            <a:r>
              <a:rPr sz="1200" b="1">
                <a:solidFill>
                  <a:srgbClr val="22C55E"/>
                </a:solidFill>
                <a:latin typeface="Calibri"/>
              </a:rPr>
              <a:t>  ● S8 </a:t>
            </a:r>
            <a:r>
              <a:rPr sz="1200">
                <a:solidFill>
                  <a:srgbClr val="AAAACC"/>
                </a:solidFill>
                <a:latin typeface="Calibri"/>
              </a:rPr>
              <a:t>— Modules Eau &amp; Viande</a:t>
            </a:r>
          </a:p>
          <a:p>
            <a:pPr>
              <a:spcAft>
                <a:spcPts val="200"/>
              </a:spcAft>
            </a:pPr>
            <a:r>
              <a:rPr sz="1200" b="1">
                <a:solidFill>
                  <a:srgbClr val="22C55E"/>
                </a:solidFill>
                <a:latin typeface="Calibri"/>
              </a:rPr>
              <a:t>  ● S9 </a:t>
            </a:r>
            <a:r>
              <a:rPr sz="1200">
                <a:solidFill>
                  <a:srgbClr val="AAAACC"/>
                </a:solidFill>
                <a:latin typeface="Calibri"/>
              </a:rPr>
              <a:t>— Dashboards &amp; KPI</a:t>
            </a:r>
          </a:p>
          <a:p>
            <a:pPr>
              <a:spcAft>
                <a:spcPts val="200"/>
              </a:spcAft>
            </a:pPr>
            <a:r>
              <a:rPr sz="1200" b="1">
                <a:solidFill>
                  <a:srgbClr val="22C55E"/>
                </a:solidFill>
                <a:latin typeface="Calibri"/>
              </a:rPr>
              <a:t>  ● S10 </a:t>
            </a:r>
            <a:r>
              <a:rPr sz="1200">
                <a:solidFill>
                  <a:srgbClr val="AAAACC"/>
                </a:solidFill>
                <a:latin typeface="Calibri"/>
              </a:rPr>
              <a:t>— Imports / Exports Excel &amp; PDF</a:t>
            </a:r>
          </a:p>
          <a:p>
            <a:pPr>
              <a:spcAft>
                <a:spcPts val="200"/>
              </a:spcAft>
            </a:pPr>
            <a:r>
              <a:rPr sz="1200" b="1">
                <a:solidFill>
                  <a:srgbClr val="22C55E"/>
                </a:solidFill>
                <a:latin typeface="Calibri"/>
              </a:rPr>
              <a:t>  ● S11 </a:t>
            </a:r>
            <a:r>
              <a:rPr sz="1200">
                <a:solidFill>
                  <a:srgbClr val="AAAACC"/>
                </a:solidFill>
                <a:latin typeface="Calibri"/>
              </a:rPr>
              <a:t>— Tests &amp; optimisation</a:t>
            </a:r>
          </a:p>
          <a:p>
            <a:pPr>
              <a:spcAft>
                <a:spcPts val="200"/>
              </a:spcAft>
            </a:pPr>
            <a:r>
              <a:rPr sz="1200" b="1">
                <a:solidFill>
                  <a:srgbClr val="22C55E"/>
                </a:solidFill>
                <a:latin typeface="Calibri"/>
              </a:rPr>
              <a:t>  ● S12 </a:t>
            </a:r>
            <a:r>
              <a:rPr sz="1200">
                <a:solidFill>
                  <a:srgbClr val="AAAACC"/>
                </a:solidFill>
                <a:latin typeface="Calibri"/>
              </a:rPr>
              <a:t>— Déploiement &amp; documentation</a:t>
            </a:r>
          </a:p>
        </p:txBody>
      </p:sp>
      <p:sp>
        <p:nvSpPr>
          <p:cNvPr id="9" name="Rounded Rectangle 8"/>
          <p:cNvSpPr/>
          <p:nvPr/>
        </p:nvSpPr>
        <p:spPr>
          <a:xfrm>
            <a:off x="6583680" y="1828800"/>
            <a:ext cx="4846320" cy="228600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0" y="1920240"/>
            <a:ext cx="4297680" cy="320040"/>
          </a:xfrm>
          <a:prstGeom prst="rect">
            <a:avLst/>
          </a:prstGeom>
          <a:noFill/>
        </p:spPr>
        <p:txBody>
          <a:bodyPr wrap="square">
            <a:spAutoFit/>
          </a:bodyPr>
          <a:lstStyle/>
          <a:p>
            <a:pPr algn="l">
              <a:defRPr sz="1400" b="1">
                <a:solidFill>
                  <a:srgbClr val="F97316"/>
                </a:solidFill>
                <a:latin typeface="Calibri"/>
              </a:defRPr>
            </a:pPr>
            <a:r>
              <a:t>🔜  Prochaines étapes (S13-14)</a:t>
            </a:r>
          </a:p>
        </p:txBody>
      </p:sp>
      <p:sp>
        <p:nvSpPr>
          <p:cNvPr id="11" name="TextBox 10"/>
          <p:cNvSpPr txBox="1"/>
          <p:nvPr/>
        </p:nvSpPr>
        <p:spPr>
          <a:xfrm>
            <a:off x="6858000" y="2331720"/>
            <a:ext cx="4297680" cy="1645920"/>
          </a:xfrm>
          <a:prstGeom prst="rect">
            <a:avLst/>
          </a:prstGeom>
          <a:noFill/>
        </p:spPr>
        <p:txBody>
          <a:bodyPr wrap="square">
            <a:spAutoFit/>
          </a:bodyPr>
          <a:lstStyle/>
          <a:p>
            <a:pPr>
              <a:spcAft>
                <a:spcPts val="300"/>
              </a:spcAft>
            </a:pPr>
            <a:r>
              <a:rPr sz="1200">
                <a:solidFill>
                  <a:srgbClr val="AAAACC"/>
                </a:solidFill>
                <a:latin typeface="Calibri"/>
              </a:rPr>
              <a:t>  → Formation des équipes sur site</a:t>
            </a:r>
          </a:p>
          <a:p>
            <a:pPr>
              <a:spcAft>
                <a:spcPts val="300"/>
              </a:spcAft>
            </a:pPr>
            <a:r>
              <a:rPr sz="1200">
                <a:solidFill>
                  <a:srgbClr val="AAAACC"/>
                </a:solidFill>
                <a:latin typeface="Calibri"/>
              </a:rPr>
              <a:t>  → Ajustements UX selon retours terrain</a:t>
            </a:r>
          </a:p>
          <a:p>
            <a:pPr>
              <a:spcAft>
                <a:spcPts val="300"/>
              </a:spcAft>
            </a:pPr>
            <a:r>
              <a:rPr sz="1200">
                <a:solidFill>
                  <a:srgbClr val="AAAACC"/>
                </a:solidFill>
                <a:latin typeface="Calibri"/>
              </a:rPr>
              <a:t>  → Import de l'historique existant</a:t>
            </a:r>
          </a:p>
          <a:p>
            <a:pPr>
              <a:spcAft>
                <a:spcPts val="300"/>
              </a:spcAft>
            </a:pPr>
            <a:r>
              <a:rPr sz="1200">
                <a:solidFill>
                  <a:srgbClr val="AAAACC"/>
                </a:solidFill>
                <a:latin typeface="Calibri"/>
              </a:rPr>
              <a:t>  → Correction des bugs remontés</a:t>
            </a:r>
          </a:p>
          <a:p>
            <a:pPr>
              <a:spcAft>
                <a:spcPts val="300"/>
              </a:spcAft>
            </a:pPr>
            <a:r>
              <a:rPr sz="1200">
                <a:solidFill>
                  <a:srgbClr val="AAAACC"/>
                </a:solidFill>
                <a:latin typeface="Calibri"/>
              </a:rPr>
              <a:t>  → Mise en production définitive</a:t>
            </a:r>
          </a:p>
        </p:txBody>
      </p:sp>
      <p:sp>
        <p:nvSpPr>
          <p:cNvPr id="12" name="Rounded Rectangle 11"/>
          <p:cNvSpPr/>
          <p:nvPr/>
        </p:nvSpPr>
        <p:spPr>
          <a:xfrm>
            <a:off x="6583680" y="4389120"/>
            <a:ext cx="4846320" cy="1828800"/>
          </a:xfrm>
          <a:prstGeom prst="roundRect">
            <a:avLst/>
          </a:prstGeom>
          <a:solidFill>
            <a:srgbClr val="1A1A2E"/>
          </a:solidFill>
          <a:ln w="1905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0" y="4526280"/>
            <a:ext cx="4846320" cy="640080"/>
          </a:xfrm>
          <a:prstGeom prst="rect">
            <a:avLst/>
          </a:prstGeom>
          <a:noFill/>
        </p:spPr>
        <p:txBody>
          <a:bodyPr wrap="square">
            <a:spAutoFit/>
          </a:bodyPr>
          <a:lstStyle/>
          <a:p>
            <a:pPr algn="ctr">
              <a:defRPr sz="4800" b="1">
                <a:solidFill>
                  <a:srgbClr val="F97316"/>
                </a:solidFill>
                <a:latin typeface="Calibri"/>
              </a:defRPr>
            </a:pPr>
            <a:r>
              <a:t>12 / 14</a:t>
            </a:r>
          </a:p>
        </p:txBody>
      </p:sp>
      <p:sp>
        <p:nvSpPr>
          <p:cNvPr id="14" name="TextBox 13"/>
          <p:cNvSpPr txBox="1"/>
          <p:nvPr/>
        </p:nvSpPr>
        <p:spPr>
          <a:xfrm>
            <a:off x="6583680" y="5120640"/>
            <a:ext cx="4846320" cy="274320"/>
          </a:xfrm>
          <a:prstGeom prst="rect">
            <a:avLst/>
          </a:prstGeom>
          <a:noFill/>
        </p:spPr>
        <p:txBody>
          <a:bodyPr wrap="square">
            <a:spAutoFit/>
          </a:bodyPr>
          <a:lstStyle/>
          <a:p>
            <a:pPr algn="ctr">
              <a:defRPr sz="1200" b="0">
                <a:solidFill>
                  <a:srgbClr val="64748B"/>
                </a:solidFill>
                <a:latin typeface="Calibri"/>
              </a:defRPr>
            </a:pPr>
            <a:r>
              <a:t>semaines complétées</a:t>
            </a:r>
          </a:p>
        </p:txBody>
      </p:sp>
      <p:sp>
        <p:nvSpPr>
          <p:cNvPr id="15" name="Rounded Rectangle 14"/>
          <p:cNvSpPr/>
          <p:nvPr/>
        </p:nvSpPr>
        <p:spPr>
          <a:xfrm>
            <a:off x="7132320" y="5532120"/>
            <a:ext cx="3749039" cy="182880"/>
          </a:xfrm>
          <a:prstGeom prst="roundRect">
            <a:avLst/>
          </a:prstGeom>
          <a:solidFill>
            <a:srgbClr val="33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132320" y="5532120"/>
            <a:ext cx="3200400" cy="18288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0" y="5760720"/>
            <a:ext cx="4846320" cy="274320"/>
          </a:xfrm>
          <a:prstGeom prst="rect">
            <a:avLst/>
          </a:prstGeom>
          <a:noFill/>
        </p:spPr>
        <p:txBody>
          <a:bodyPr wrap="square">
            <a:spAutoFit/>
          </a:bodyPr>
          <a:lstStyle/>
          <a:p>
            <a:pPr algn="ctr">
              <a:defRPr sz="1400" b="1">
                <a:solidFill>
                  <a:srgbClr val="F97316"/>
                </a:solidFill>
                <a:latin typeface="Calibri"/>
              </a:defRPr>
            </a:pPr>
            <a:r>
              <a:t>86% du projet réalisé</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3657600" cy="320040"/>
          </a:xfrm>
          <a:prstGeom prst="rect">
            <a:avLst/>
          </a:prstGeom>
          <a:noFill/>
        </p:spPr>
        <p:txBody>
          <a:bodyPr wrap="square">
            <a:spAutoFit/>
          </a:bodyPr>
          <a:lstStyle/>
          <a:p>
            <a:pPr algn="l">
              <a:defRPr sz="1100" b="1">
                <a:solidFill>
                  <a:srgbClr val="F97316"/>
                </a:solidFill>
                <a:latin typeface="Calibri"/>
              </a:defRPr>
            </a:pPr>
            <a:r>
              <a:t>MISE EN SERVICE</a:t>
            </a:r>
          </a:p>
        </p:txBody>
      </p:sp>
      <p:sp>
        <p:nvSpPr>
          <p:cNvPr id="3" name="TextBox 2"/>
          <p:cNvSpPr txBox="1"/>
          <p:nvPr/>
        </p:nvSpPr>
        <p:spPr>
          <a:xfrm>
            <a:off x="731520" y="777240"/>
            <a:ext cx="9144000" cy="640080"/>
          </a:xfrm>
          <a:prstGeom prst="rect">
            <a:avLst/>
          </a:prstGeom>
          <a:noFill/>
        </p:spPr>
        <p:txBody>
          <a:bodyPr wrap="square">
            <a:spAutoFit/>
          </a:bodyPr>
          <a:lstStyle/>
          <a:p>
            <a:pPr algn="l">
              <a:defRPr sz="3200" b="1">
                <a:solidFill>
                  <a:srgbClr val="1E293B"/>
                </a:solidFill>
                <a:latin typeface="Calibri"/>
              </a:defRPr>
            </a:pPr>
            <a:r>
              <a:t>Plan de formation</a:t>
            </a:r>
          </a:p>
        </p:txBody>
      </p:sp>
      <p:sp>
        <p:nvSpPr>
          <p:cNvPr id="4" name="Rectangle 3"/>
          <p:cNvSpPr/>
          <p:nvPr/>
        </p:nvSpPr>
        <p:spPr>
          <a:xfrm>
            <a:off x="0" y="6784848"/>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ogo_chapchap.jpeg"/>
          <p:cNvPicPr>
            <a:picLocks noChangeAspect="1"/>
          </p:cNvPicPr>
          <p:nvPr/>
        </p:nvPicPr>
        <p:blipFill>
          <a:blip r:embed="rId3"/>
          <a:stretch>
            <a:fillRect/>
          </a:stretch>
        </p:blipFill>
        <p:spPr>
          <a:xfrm>
            <a:off x="11094415" y="228600"/>
            <a:ext cx="548640" cy="544354"/>
          </a:xfrm>
          <a:prstGeom prst="rect">
            <a:avLst/>
          </a:prstGeom>
        </p:spPr>
      </p:pic>
      <p:sp>
        <p:nvSpPr>
          <p:cNvPr id="6" name="Rounded Rectangle 5"/>
          <p:cNvSpPr/>
          <p:nvPr/>
        </p:nvSpPr>
        <p:spPr>
          <a:xfrm>
            <a:off x="731520" y="1645920"/>
            <a:ext cx="5120640" cy="164592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737360"/>
            <a:ext cx="4572000" cy="274320"/>
          </a:xfrm>
          <a:prstGeom prst="rect">
            <a:avLst/>
          </a:prstGeom>
          <a:noFill/>
        </p:spPr>
        <p:txBody>
          <a:bodyPr wrap="square">
            <a:spAutoFit/>
          </a:bodyPr>
          <a:lstStyle/>
          <a:p>
            <a:pPr algn="l">
              <a:defRPr sz="1500" b="1">
                <a:solidFill>
                  <a:srgbClr val="1E293B"/>
                </a:solidFill>
                <a:latin typeface="Calibri"/>
              </a:defRPr>
            </a:pPr>
            <a:r>
              <a:t>📚  Documentation livrée</a:t>
            </a:r>
          </a:p>
        </p:txBody>
      </p:sp>
      <p:sp>
        <p:nvSpPr>
          <p:cNvPr id="8" name="TextBox 7"/>
          <p:cNvSpPr txBox="1"/>
          <p:nvPr/>
        </p:nvSpPr>
        <p:spPr>
          <a:xfrm>
            <a:off x="1005840" y="2057400"/>
            <a:ext cx="4572000" cy="914400"/>
          </a:xfrm>
          <a:prstGeom prst="rect">
            <a:avLst/>
          </a:prstGeom>
          <a:noFill/>
        </p:spPr>
        <p:txBody>
          <a:bodyPr wrap="square">
            <a:spAutoFit/>
          </a:bodyPr>
          <a:lstStyle/>
          <a:p>
            <a:pPr>
              <a:spcAft>
                <a:spcPts val="300"/>
              </a:spcAft>
            </a:pPr>
            <a:r>
              <a:rPr sz="1200" b="1">
                <a:solidFill>
                  <a:srgbClr val="F97316"/>
                </a:solidFill>
                <a:latin typeface="Calibri"/>
              </a:rPr>
              <a:t>→ </a:t>
            </a:r>
            <a:r>
              <a:rPr sz="1200">
                <a:solidFill>
                  <a:srgbClr val="64748B"/>
                </a:solidFill>
                <a:latin typeface="Calibri"/>
              </a:rPr>
              <a:t>Guide utilisateur complet (toutes les fonctions)</a:t>
            </a:r>
          </a:p>
          <a:p>
            <a:pPr>
              <a:spcAft>
                <a:spcPts val="300"/>
              </a:spcAft>
            </a:pPr>
            <a:r>
              <a:rPr sz="1200" b="1">
                <a:solidFill>
                  <a:srgbClr val="F97316"/>
                </a:solidFill>
                <a:latin typeface="Calibri"/>
              </a:rPr>
              <a:t>→ </a:t>
            </a:r>
            <a:r>
              <a:rPr sz="1200">
                <a:solidFill>
                  <a:srgbClr val="64748B"/>
                </a:solidFill>
                <a:latin typeface="Calibri"/>
              </a:rPr>
              <a:t>Guide de déploiement serveur (installation, config, backups)</a:t>
            </a:r>
          </a:p>
          <a:p>
            <a:pPr>
              <a:spcAft>
                <a:spcPts val="300"/>
              </a:spcAft>
            </a:pPr>
            <a:r>
              <a:rPr sz="1200" b="1">
                <a:solidFill>
                  <a:srgbClr val="F97316"/>
                </a:solidFill>
                <a:latin typeface="Calibri"/>
              </a:rPr>
              <a:t>→ </a:t>
            </a:r>
            <a:r>
              <a:rPr sz="1200">
                <a:solidFill>
                  <a:srgbClr val="64748B"/>
                </a:solidFill>
                <a:latin typeface="Calibri"/>
              </a:rPr>
              <a:t>Cahier des charges technique détaillé</a:t>
            </a:r>
          </a:p>
        </p:txBody>
      </p:sp>
      <p:sp>
        <p:nvSpPr>
          <p:cNvPr id="9" name="Rounded Rectangle 8"/>
          <p:cNvSpPr/>
          <p:nvPr/>
        </p:nvSpPr>
        <p:spPr>
          <a:xfrm>
            <a:off x="731520" y="3474720"/>
            <a:ext cx="5120640" cy="256032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3566160"/>
            <a:ext cx="4572000" cy="274320"/>
          </a:xfrm>
          <a:prstGeom prst="rect">
            <a:avLst/>
          </a:prstGeom>
          <a:noFill/>
        </p:spPr>
        <p:txBody>
          <a:bodyPr wrap="square">
            <a:spAutoFit/>
          </a:bodyPr>
          <a:lstStyle/>
          <a:p>
            <a:pPr algn="l">
              <a:defRPr sz="1500" b="1">
                <a:solidFill>
                  <a:srgbClr val="1E293B"/>
                </a:solidFill>
                <a:latin typeface="Calibri"/>
              </a:defRPr>
            </a:pPr>
            <a:r>
              <a:t>🎯  Sessions de formation recommandées</a:t>
            </a:r>
          </a:p>
        </p:txBody>
      </p:sp>
      <p:sp>
        <p:nvSpPr>
          <p:cNvPr id="11" name="TextBox 10"/>
          <p:cNvSpPr txBox="1"/>
          <p:nvPr/>
        </p:nvSpPr>
        <p:spPr>
          <a:xfrm>
            <a:off x="1005840" y="3931920"/>
            <a:ext cx="4572000" cy="1828800"/>
          </a:xfrm>
          <a:prstGeom prst="rect">
            <a:avLst/>
          </a:prstGeom>
          <a:noFill/>
        </p:spPr>
        <p:txBody>
          <a:bodyPr wrap="square">
            <a:spAutoFit/>
          </a:bodyPr>
          <a:lstStyle/>
          <a:p>
            <a:pPr>
              <a:spcAft>
                <a:spcPts val="600"/>
              </a:spcAft>
            </a:pPr>
            <a:r>
              <a:rPr sz="1200" b="1">
                <a:solidFill>
                  <a:srgbClr val="F97316"/>
                </a:solidFill>
                <a:latin typeface="Calibri"/>
              </a:rPr>
              <a:t>  Session 1  </a:t>
            </a:r>
            <a:r>
              <a:rPr sz="1200" b="1">
                <a:solidFill>
                  <a:srgbClr val="1E293B"/>
                </a:solidFill>
                <a:latin typeface="Calibri"/>
              </a:rPr>
              <a:t>Gérant + Resp. Opérations  —  </a:t>
            </a:r>
            <a:r>
              <a:rPr sz="1100">
                <a:solidFill>
                  <a:srgbClr val="64748B"/>
                </a:solidFill>
                <a:latin typeface="Calibri"/>
              </a:rPr>
              <a:t>Dashboard, KPI, validation, exports</a:t>
            </a:r>
          </a:p>
          <a:p>
            <a:pPr>
              <a:spcAft>
                <a:spcPts val="600"/>
              </a:spcAft>
            </a:pPr>
            <a:r>
              <a:rPr sz="1200" b="1">
                <a:solidFill>
                  <a:srgbClr val="F97316"/>
                </a:solidFill>
                <a:latin typeface="Calibri"/>
              </a:rPr>
              <a:t>  Session 2  </a:t>
            </a:r>
            <a:r>
              <a:rPr sz="1200" b="1">
                <a:solidFill>
                  <a:srgbClr val="1E293B"/>
                </a:solidFill>
                <a:latin typeface="Calibri"/>
              </a:rPr>
              <a:t>Gestionnaire Stock  —  </a:t>
            </a:r>
            <a:r>
              <a:rPr sz="1100">
                <a:solidFill>
                  <a:srgbClr val="64748B"/>
                </a:solidFill>
                <a:latin typeface="Calibri"/>
              </a:rPr>
              <a:t>Lots, stock, transferts, inventaire</a:t>
            </a:r>
          </a:p>
          <a:p>
            <a:pPr>
              <a:spcAft>
                <a:spcPts val="600"/>
              </a:spcAft>
            </a:pPr>
            <a:r>
              <a:rPr sz="1200" b="1">
                <a:solidFill>
                  <a:srgbClr val="F97316"/>
                </a:solidFill>
                <a:latin typeface="Calibri"/>
              </a:rPr>
              <a:t>  Session 3  </a:t>
            </a:r>
            <a:r>
              <a:rPr sz="1200" b="1">
                <a:solidFill>
                  <a:srgbClr val="1E293B"/>
                </a:solidFill>
                <a:latin typeface="Calibri"/>
              </a:rPr>
              <a:t>Agent Production  —  </a:t>
            </a:r>
            <a:r>
              <a:rPr sz="1100">
                <a:solidFill>
                  <a:srgbClr val="64748B"/>
                </a:solidFill>
                <a:latin typeface="Calibri"/>
              </a:rPr>
              <a:t>Saisie production, rendement</a:t>
            </a:r>
          </a:p>
          <a:p>
            <a:pPr>
              <a:spcAft>
                <a:spcPts val="600"/>
              </a:spcAft>
            </a:pPr>
            <a:r>
              <a:rPr sz="1200" b="1">
                <a:solidFill>
                  <a:srgbClr val="F97316"/>
                </a:solidFill>
                <a:latin typeface="Calibri"/>
              </a:rPr>
              <a:t>  Session 4  </a:t>
            </a:r>
            <a:r>
              <a:rPr sz="1200" b="1">
                <a:solidFill>
                  <a:srgbClr val="1E293B"/>
                </a:solidFill>
                <a:latin typeface="Calibri"/>
              </a:rPr>
              <a:t>Commerciaux  —  </a:t>
            </a:r>
            <a:r>
              <a:rPr sz="1100">
                <a:solidFill>
                  <a:srgbClr val="64748B"/>
                </a:solidFill>
                <a:latin typeface="Calibri"/>
              </a:rPr>
              <a:t>Ventes, clients, encaissements, caisse</a:t>
            </a:r>
          </a:p>
        </p:txBody>
      </p:sp>
      <p:sp>
        <p:nvSpPr>
          <p:cNvPr id="12" name="Rounded Rectangle 11"/>
          <p:cNvSpPr/>
          <p:nvPr/>
        </p:nvSpPr>
        <p:spPr>
          <a:xfrm>
            <a:off x="6217920" y="1645920"/>
            <a:ext cx="5212080" cy="228600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1737360"/>
            <a:ext cx="4572000" cy="274320"/>
          </a:xfrm>
          <a:prstGeom prst="rect">
            <a:avLst/>
          </a:prstGeom>
          <a:noFill/>
        </p:spPr>
        <p:txBody>
          <a:bodyPr wrap="square">
            <a:spAutoFit/>
          </a:bodyPr>
          <a:lstStyle/>
          <a:p>
            <a:pPr algn="l">
              <a:defRPr sz="1500" b="1">
                <a:solidFill>
                  <a:srgbClr val="1E293B"/>
                </a:solidFill>
                <a:latin typeface="Calibri"/>
              </a:defRPr>
            </a:pPr>
            <a:r>
              <a:t>📱  Accessibilité</a:t>
            </a:r>
          </a:p>
        </p:txBody>
      </p:sp>
      <p:sp>
        <p:nvSpPr>
          <p:cNvPr id="14" name="TextBox 13"/>
          <p:cNvSpPr txBox="1"/>
          <p:nvPr/>
        </p:nvSpPr>
        <p:spPr>
          <a:xfrm>
            <a:off x="6492240" y="2057400"/>
            <a:ext cx="4663440" cy="1645920"/>
          </a:xfrm>
          <a:prstGeom prst="rect">
            <a:avLst/>
          </a:prstGeom>
          <a:noFill/>
        </p:spPr>
        <p:txBody>
          <a:bodyPr wrap="square">
            <a:spAutoFit/>
          </a:bodyPr>
          <a:lstStyle/>
          <a:p>
            <a:pPr>
              <a:spcAft>
                <a:spcPts val="300"/>
              </a:spcAft>
            </a:pPr>
            <a:r>
              <a:rPr sz="1200" b="1">
                <a:solidFill>
                  <a:srgbClr val="F97316"/>
                </a:solidFill>
                <a:latin typeface="Calibri"/>
              </a:rPr>
              <a:t>→ </a:t>
            </a:r>
            <a:r>
              <a:rPr sz="1200">
                <a:solidFill>
                  <a:srgbClr val="64748B"/>
                </a:solidFill>
                <a:latin typeface="Calibri"/>
              </a:rPr>
              <a:t>100% web — rien à installer sur les postes</a:t>
            </a:r>
          </a:p>
          <a:p>
            <a:pPr>
              <a:spcAft>
                <a:spcPts val="300"/>
              </a:spcAft>
            </a:pPr>
            <a:r>
              <a:rPr sz="1200" b="1">
                <a:solidFill>
                  <a:srgbClr val="F97316"/>
                </a:solidFill>
                <a:latin typeface="Calibri"/>
              </a:rPr>
              <a:t>→ </a:t>
            </a:r>
            <a:r>
              <a:rPr sz="1200">
                <a:solidFill>
                  <a:srgbClr val="64748B"/>
                </a:solidFill>
                <a:latin typeface="Calibri"/>
              </a:rPr>
              <a:t>Mobile-friendly — utilisable sur téléphone</a:t>
            </a:r>
          </a:p>
          <a:p>
            <a:pPr>
              <a:spcAft>
                <a:spcPts val="300"/>
              </a:spcAft>
            </a:pPr>
            <a:r>
              <a:rPr sz="1200" b="1">
                <a:solidFill>
                  <a:srgbClr val="F97316"/>
                </a:solidFill>
                <a:latin typeface="Calibri"/>
              </a:rPr>
              <a:t>→ </a:t>
            </a:r>
            <a:r>
              <a:rPr sz="1200">
                <a:solidFill>
                  <a:srgbClr val="64748B"/>
                </a:solidFill>
                <a:latin typeface="Calibri"/>
              </a:rPr>
              <a:t>Multi-utilisateurs — accès simultané</a:t>
            </a:r>
          </a:p>
          <a:p>
            <a:pPr>
              <a:spcAft>
                <a:spcPts val="300"/>
              </a:spcAft>
            </a:pPr>
            <a:r>
              <a:rPr sz="1200" b="1">
                <a:solidFill>
                  <a:srgbClr val="F97316"/>
                </a:solidFill>
                <a:latin typeface="Calibri"/>
              </a:rPr>
              <a:t>→ </a:t>
            </a:r>
            <a:r>
              <a:rPr sz="1200">
                <a:solidFill>
                  <a:srgbClr val="64748B"/>
                </a:solidFill>
                <a:latin typeface="Calibri"/>
              </a:rPr>
              <a:t>Interface légère — pas besoin de haut débit</a:t>
            </a:r>
          </a:p>
        </p:txBody>
      </p:sp>
      <p:sp>
        <p:nvSpPr>
          <p:cNvPr id="15" name="Rounded Rectangle 14"/>
          <p:cNvSpPr/>
          <p:nvPr/>
        </p:nvSpPr>
        <p:spPr>
          <a:xfrm>
            <a:off x="6217920" y="4114800"/>
            <a:ext cx="5212080" cy="137160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4251960"/>
            <a:ext cx="4663440" cy="320040"/>
          </a:xfrm>
          <a:prstGeom prst="rect">
            <a:avLst/>
          </a:prstGeom>
          <a:noFill/>
        </p:spPr>
        <p:txBody>
          <a:bodyPr wrap="square">
            <a:spAutoFit/>
          </a:bodyPr>
          <a:lstStyle/>
          <a:p>
            <a:pPr algn="l">
              <a:defRPr sz="1800" b="1">
                <a:solidFill>
                  <a:srgbClr val="FFFFFF"/>
                </a:solidFill>
                <a:latin typeface="Calibri"/>
              </a:defRPr>
            </a:pPr>
            <a:r>
              <a:t>Commerciaux terrain</a:t>
            </a:r>
          </a:p>
        </p:txBody>
      </p:sp>
      <p:sp>
        <p:nvSpPr>
          <p:cNvPr id="17" name="TextBox 16"/>
          <p:cNvSpPr txBox="1"/>
          <p:nvPr/>
        </p:nvSpPr>
        <p:spPr>
          <a:xfrm>
            <a:off x="6492240" y="4663440"/>
            <a:ext cx="4663440" cy="640080"/>
          </a:xfrm>
          <a:prstGeom prst="rect">
            <a:avLst/>
          </a:prstGeom>
          <a:noFill/>
        </p:spPr>
        <p:txBody>
          <a:bodyPr wrap="square">
            <a:spAutoFit/>
          </a:bodyPr>
          <a:lstStyle/>
          <a:p>
            <a:pPr algn="l">
              <a:defRPr sz="1300" b="0">
                <a:solidFill>
                  <a:srgbClr val="FFFFFF"/>
                </a:solidFill>
                <a:latin typeface="Calibri"/>
              </a:defRPr>
            </a:pPr>
            <a:r>
              <a:t>Hector, Niamke, Jessy, Yves et Evelyne peuvent saisir</a:t>
            </a:r>
            <a:br/>
            <a:r>
              <a:t>les ventes directement depuis leur téléphone</a:t>
            </a:r>
          </a:p>
        </p:txBody>
      </p:sp>
      <p:sp>
        <p:nvSpPr>
          <p:cNvPr id="18" name="Rounded Rectangle 17"/>
          <p:cNvSpPr/>
          <p:nvPr/>
        </p:nvSpPr>
        <p:spPr>
          <a:xfrm>
            <a:off x="6217920" y="5669280"/>
            <a:ext cx="5212080" cy="457200"/>
          </a:xfrm>
          <a:prstGeom prst="roundRect">
            <a:avLst/>
          </a:prstGeom>
          <a:solidFill>
            <a:srgbClr val="FFFFFF"/>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92240" y="5715000"/>
            <a:ext cx="4663440" cy="320040"/>
          </a:xfrm>
          <a:prstGeom prst="rect">
            <a:avLst/>
          </a:prstGeom>
          <a:noFill/>
        </p:spPr>
        <p:txBody>
          <a:bodyPr wrap="square">
            <a:spAutoFit/>
          </a:bodyPr>
          <a:lstStyle/>
          <a:p>
            <a:pPr algn="l">
              <a:defRPr sz="1100" b="0">
                <a:solidFill>
                  <a:srgbClr val="64748B"/>
                </a:solidFill>
                <a:latin typeface="Calibri"/>
              </a:defRPr>
            </a:pPr>
            <a:r>
              <a:t>🛠  Support et maintenance assurés par Patrick TETCHI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chapchap.jpeg"/>
          <p:cNvPicPr>
            <a:picLocks noChangeAspect="1"/>
          </p:cNvPicPr>
          <p:nvPr/>
        </p:nvPicPr>
        <p:blipFill>
          <a:blip r:embed="rId3"/>
          <a:stretch>
            <a:fillRect/>
          </a:stretch>
        </p:blipFill>
        <p:spPr>
          <a:xfrm>
            <a:off x="5181447" y="457200"/>
            <a:ext cx="1828800" cy="1814512"/>
          </a:xfrm>
          <a:prstGeom prst="roundRect">
            <a:avLst/>
          </a:prstGeom>
        </p:spPr>
      </p:pic>
      <p:sp>
        <p:nvSpPr>
          <p:cNvPr id="4" name="TextBox 3"/>
          <p:cNvSpPr txBox="1"/>
          <p:nvPr/>
        </p:nvSpPr>
        <p:spPr>
          <a:xfrm>
            <a:off x="1828800" y="2468880"/>
            <a:ext cx="8534095" cy="731520"/>
          </a:xfrm>
          <a:prstGeom prst="rect">
            <a:avLst/>
          </a:prstGeom>
          <a:noFill/>
        </p:spPr>
        <p:txBody>
          <a:bodyPr wrap="square">
            <a:spAutoFit/>
          </a:bodyPr>
          <a:lstStyle/>
          <a:p>
            <a:pPr algn="ctr">
              <a:defRPr sz="2200" b="0">
                <a:solidFill>
                  <a:srgbClr val="FFFFFF"/>
                </a:solidFill>
                <a:latin typeface="Calibri"/>
              </a:defRPr>
            </a:pPr>
            <a:r>
              <a:t>Une application complète, fiable et simple</a:t>
            </a:r>
            <a:br/>
            <a:r>
              <a:t>pour piloter toute l'activité au quotidien.</a:t>
            </a:r>
          </a:p>
        </p:txBody>
      </p:sp>
      <p:sp>
        <p:nvSpPr>
          <p:cNvPr id="5" name="Rounded Rectangle 4"/>
          <p:cNvSpPr/>
          <p:nvPr/>
        </p:nvSpPr>
        <p:spPr>
          <a:xfrm>
            <a:off x="2026767" y="3474720"/>
            <a:ext cx="1188720" cy="118872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26767" y="3657600"/>
            <a:ext cx="1188720" cy="365760"/>
          </a:xfrm>
          <a:prstGeom prst="rect">
            <a:avLst/>
          </a:prstGeom>
          <a:noFill/>
        </p:spPr>
        <p:txBody>
          <a:bodyPr wrap="square">
            <a:spAutoFit/>
          </a:bodyPr>
          <a:lstStyle/>
          <a:p>
            <a:pPr algn="ctr">
              <a:defRPr sz="2800" b="0">
                <a:solidFill>
                  <a:srgbClr val="FFFFFF"/>
                </a:solidFill>
                <a:latin typeface="Calibri"/>
              </a:defRPr>
            </a:pPr>
            <a:r>
              <a:t>🐔</a:t>
            </a:r>
          </a:p>
        </p:txBody>
      </p:sp>
      <p:sp>
        <p:nvSpPr>
          <p:cNvPr id="7" name="TextBox 6"/>
          <p:cNvSpPr txBox="1"/>
          <p:nvPr/>
        </p:nvSpPr>
        <p:spPr>
          <a:xfrm>
            <a:off x="2026767" y="4114800"/>
            <a:ext cx="1188720" cy="274320"/>
          </a:xfrm>
          <a:prstGeom prst="rect">
            <a:avLst/>
          </a:prstGeom>
          <a:noFill/>
        </p:spPr>
        <p:txBody>
          <a:bodyPr wrap="square">
            <a:spAutoFit/>
          </a:bodyPr>
          <a:lstStyle/>
          <a:p>
            <a:pPr algn="ctr">
              <a:defRPr sz="1100" b="0">
                <a:solidFill>
                  <a:srgbClr val="64748B"/>
                </a:solidFill>
                <a:latin typeface="Calibri"/>
              </a:defRPr>
            </a:pPr>
            <a:r>
              <a:t>Achat</a:t>
            </a:r>
          </a:p>
        </p:txBody>
      </p:sp>
      <p:sp>
        <p:nvSpPr>
          <p:cNvPr id="8" name="TextBox 7"/>
          <p:cNvSpPr txBox="1"/>
          <p:nvPr/>
        </p:nvSpPr>
        <p:spPr>
          <a:xfrm>
            <a:off x="3352647" y="3794760"/>
            <a:ext cx="274320" cy="365760"/>
          </a:xfrm>
          <a:prstGeom prst="rect">
            <a:avLst/>
          </a:prstGeom>
          <a:noFill/>
        </p:spPr>
        <p:txBody>
          <a:bodyPr wrap="square">
            <a:spAutoFit/>
          </a:bodyPr>
          <a:lstStyle/>
          <a:p>
            <a:pPr algn="ctr">
              <a:defRPr sz="2000" b="1">
                <a:solidFill>
                  <a:srgbClr val="F97316"/>
                </a:solidFill>
                <a:latin typeface="Calibri"/>
              </a:defRPr>
            </a:pPr>
            <a:r>
              <a:t>→</a:t>
            </a:r>
          </a:p>
        </p:txBody>
      </p:sp>
      <p:sp>
        <p:nvSpPr>
          <p:cNvPr id="9" name="Rounded Rectangle 8"/>
          <p:cNvSpPr/>
          <p:nvPr/>
        </p:nvSpPr>
        <p:spPr>
          <a:xfrm>
            <a:off x="3764127" y="3474720"/>
            <a:ext cx="1188720" cy="118872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764127" y="3657600"/>
            <a:ext cx="1188720" cy="365760"/>
          </a:xfrm>
          <a:prstGeom prst="rect">
            <a:avLst/>
          </a:prstGeom>
          <a:noFill/>
        </p:spPr>
        <p:txBody>
          <a:bodyPr wrap="square">
            <a:spAutoFit/>
          </a:bodyPr>
          <a:lstStyle/>
          <a:p>
            <a:pPr algn="ctr">
              <a:defRPr sz="2800" b="0">
                <a:solidFill>
                  <a:srgbClr val="FFFFFF"/>
                </a:solidFill>
                <a:latin typeface="Calibri"/>
              </a:defRPr>
            </a:pPr>
            <a:r>
              <a:t>🔪</a:t>
            </a:r>
          </a:p>
        </p:txBody>
      </p:sp>
      <p:sp>
        <p:nvSpPr>
          <p:cNvPr id="11" name="TextBox 10"/>
          <p:cNvSpPr txBox="1"/>
          <p:nvPr/>
        </p:nvSpPr>
        <p:spPr>
          <a:xfrm>
            <a:off x="3764127" y="4114800"/>
            <a:ext cx="1188720" cy="274320"/>
          </a:xfrm>
          <a:prstGeom prst="rect">
            <a:avLst/>
          </a:prstGeom>
          <a:noFill/>
        </p:spPr>
        <p:txBody>
          <a:bodyPr wrap="square">
            <a:spAutoFit/>
          </a:bodyPr>
          <a:lstStyle/>
          <a:p>
            <a:pPr algn="ctr">
              <a:defRPr sz="1100" b="0">
                <a:solidFill>
                  <a:srgbClr val="64748B"/>
                </a:solidFill>
                <a:latin typeface="Calibri"/>
              </a:defRPr>
            </a:pPr>
            <a:r>
              <a:t>Découpe</a:t>
            </a:r>
          </a:p>
        </p:txBody>
      </p:sp>
      <p:sp>
        <p:nvSpPr>
          <p:cNvPr id="12" name="TextBox 11"/>
          <p:cNvSpPr txBox="1"/>
          <p:nvPr/>
        </p:nvSpPr>
        <p:spPr>
          <a:xfrm>
            <a:off x="5090007" y="3794760"/>
            <a:ext cx="274320" cy="365760"/>
          </a:xfrm>
          <a:prstGeom prst="rect">
            <a:avLst/>
          </a:prstGeom>
          <a:noFill/>
        </p:spPr>
        <p:txBody>
          <a:bodyPr wrap="square">
            <a:spAutoFit/>
          </a:bodyPr>
          <a:lstStyle/>
          <a:p>
            <a:pPr algn="ctr">
              <a:defRPr sz="2000" b="1">
                <a:solidFill>
                  <a:srgbClr val="F97316"/>
                </a:solidFill>
                <a:latin typeface="Calibri"/>
              </a:defRPr>
            </a:pPr>
            <a:r>
              <a:t>→</a:t>
            </a:r>
          </a:p>
        </p:txBody>
      </p:sp>
      <p:sp>
        <p:nvSpPr>
          <p:cNvPr id="13" name="Rounded Rectangle 12"/>
          <p:cNvSpPr/>
          <p:nvPr/>
        </p:nvSpPr>
        <p:spPr>
          <a:xfrm>
            <a:off x="5501487" y="3474720"/>
            <a:ext cx="1188720" cy="118872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01487" y="3657600"/>
            <a:ext cx="1188720" cy="365760"/>
          </a:xfrm>
          <a:prstGeom prst="rect">
            <a:avLst/>
          </a:prstGeom>
          <a:noFill/>
        </p:spPr>
        <p:txBody>
          <a:bodyPr wrap="square">
            <a:spAutoFit/>
          </a:bodyPr>
          <a:lstStyle/>
          <a:p>
            <a:pPr algn="ctr">
              <a:defRPr sz="2800" b="0">
                <a:solidFill>
                  <a:srgbClr val="FFFFFF"/>
                </a:solidFill>
                <a:latin typeface="Calibri"/>
              </a:defRPr>
            </a:pPr>
            <a:r>
              <a:t>📦</a:t>
            </a:r>
          </a:p>
        </p:txBody>
      </p:sp>
      <p:sp>
        <p:nvSpPr>
          <p:cNvPr id="15" name="TextBox 14"/>
          <p:cNvSpPr txBox="1"/>
          <p:nvPr/>
        </p:nvSpPr>
        <p:spPr>
          <a:xfrm>
            <a:off x="5501487" y="4114800"/>
            <a:ext cx="1188720" cy="274320"/>
          </a:xfrm>
          <a:prstGeom prst="rect">
            <a:avLst/>
          </a:prstGeom>
          <a:noFill/>
        </p:spPr>
        <p:txBody>
          <a:bodyPr wrap="square">
            <a:spAutoFit/>
          </a:bodyPr>
          <a:lstStyle/>
          <a:p>
            <a:pPr algn="ctr">
              <a:defRPr sz="1100" b="0">
                <a:solidFill>
                  <a:srgbClr val="64748B"/>
                </a:solidFill>
                <a:latin typeface="Calibri"/>
              </a:defRPr>
            </a:pPr>
            <a:r>
              <a:t>Stock</a:t>
            </a:r>
          </a:p>
        </p:txBody>
      </p:sp>
      <p:sp>
        <p:nvSpPr>
          <p:cNvPr id="16" name="TextBox 15"/>
          <p:cNvSpPr txBox="1"/>
          <p:nvPr/>
        </p:nvSpPr>
        <p:spPr>
          <a:xfrm>
            <a:off x="6827367" y="3794760"/>
            <a:ext cx="274320" cy="365760"/>
          </a:xfrm>
          <a:prstGeom prst="rect">
            <a:avLst/>
          </a:prstGeom>
          <a:noFill/>
        </p:spPr>
        <p:txBody>
          <a:bodyPr wrap="square">
            <a:spAutoFit/>
          </a:bodyPr>
          <a:lstStyle/>
          <a:p>
            <a:pPr algn="ctr">
              <a:defRPr sz="2000" b="1">
                <a:solidFill>
                  <a:srgbClr val="F97316"/>
                </a:solidFill>
                <a:latin typeface="Calibri"/>
              </a:defRPr>
            </a:pPr>
            <a:r>
              <a:t>→</a:t>
            </a:r>
          </a:p>
        </p:txBody>
      </p:sp>
      <p:sp>
        <p:nvSpPr>
          <p:cNvPr id="17" name="Rounded Rectangle 16"/>
          <p:cNvSpPr/>
          <p:nvPr/>
        </p:nvSpPr>
        <p:spPr>
          <a:xfrm>
            <a:off x="7238847" y="3474720"/>
            <a:ext cx="1188720" cy="118872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38847" y="3657600"/>
            <a:ext cx="1188720" cy="365760"/>
          </a:xfrm>
          <a:prstGeom prst="rect">
            <a:avLst/>
          </a:prstGeom>
          <a:noFill/>
        </p:spPr>
        <p:txBody>
          <a:bodyPr wrap="square">
            <a:spAutoFit/>
          </a:bodyPr>
          <a:lstStyle/>
          <a:p>
            <a:pPr algn="ctr">
              <a:defRPr sz="2800" b="0">
                <a:solidFill>
                  <a:srgbClr val="FFFFFF"/>
                </a:solidFill>
                <a:latin typeface="Calibri"/>
              </a:defRPr>
            </a:pPr>
            <a:r>
              <a:t>🛒</a:t>
            </a:r>
          </a:p>
        </p:txBody>
      </p:sp>
      <p:sp>
        <p:nvSpPr>
          <p:cNvPr id="19" name="TextBox 18"/>
          <p:cNvSpPr txBox="1"/>
          <p:nvPr/>
        </p:nvSpPr>
        <p:spPr>
          <a:xfrm>
            <a:off x="7238847" y="4114800"/>
            <a:ext cx="1188720" cy="274320"/>
          </a:xfrm>
          <a:prstGeom prst="rect">
            <a:avLst/>
          </a:prstGeom>
          <a:noFill/>
        </p:spPr>
        <p:txBody>
          <a:bodyPr wrap="square">
            <a:spAutoFit/>
          </a:bodyPr>
          <a:lstStyle/>
          <a:p>
            <a:pPr algn="ctr">
              <a:defRPr sz="1100" b="0">
                <a:solidFill>
                  <a:srgbClr val="64748B"/>
                </a:solidFill>
                <a:latin typeface="Calibri"/>
              </a:defRPr>
            </a:pPr>
            <a:r>
              <a:t>Vente</a:t>
            </a:r>
          </a:p>
        </p:txBody>
      </p:sp>
      <p:sp>
        <p:nvSpPr>
          <p:cNvPr id="20" name="TextBox 19"/>
          <p:cNvSpPr txBox="1"/>
          <p:nvPr/>
        </p:nvSpPr>
        <p:spPr>
          <a:xfrm>
            <a:off x="8564727" y="3794760"/>
            <a:ext cx="274320" cy="365760"/>
          </a:xfrm>
          <a:prstGeom prst="rect">
            <a:avLst/>
          </a:prstGeom>
          <a:noFill/>
        </p:spPr>
        <p:txBody>
          <a:bodyPr wrap="square">
            <a:spAutoFit/>
          </a:bodyPr>
          <a:lstStyle/>
          <a:p>
            <a:pPr algn="ctr">
              <a:defRPr sz="2000" b="1">
                <a:solidFill>
                  <a:srgbClr val="F97316"/>
                </a:solidFill>
                <a:latin typeface="Calibri"/>
              </a:defRPr>
            </a:pPr>
            <a:r>
              <a:t>→</a:t>
            </a:r>
          </a:p>
        </p:txBody>
      </p:sp>
      <p:sp>
        <p:nvSpPr>
          <p:cNvPr id="21" name="Rounded Rectangle 20"/>
          <p:cNvSpPr/>
          <p:nvPr/>
        </p:nvSpPr>
        <p:spPr>
          <a:xfrm>
            <a:off x="8976207" y="3474720"/>
            <a:ext cx="1188720" cy="1188720"/>
          </a:xfrm>
          <a:prstGeom prst="roundRect">
            <a:avLst/>
          </a:prstGeom>
          <a:solidFill>
            <a:srgbClr val="1A1A2E"/>
          </a:solidFill>
          <a:ln w="19050">
            <a:solidFill>
              <a:srgbClr val="33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76207" y="3657600"/>
            <a:ext cx="1188720" cy="365760"/>
          </a:xfrm>
          <a:prstGeom prst="rect">
            <a:avLst/>
          </a:prstGeom>
          <a:noFill/>
        </p:spPr>
        <p:txBody>
          <a:bodyPr wrap="square">
            <a:spAutoFit/>
          </a:bodyPr>
          <a:lstStyle/>
          <a:p>
            <a:pPr algn="ctr">
              <a:defRPr sz="2800" b="0">
                <a:solidFill>
                  <a:srgbClr val="FFFFFF"/>
                </a:solidFill>
                <a:latin typeface="Calibri"/>
              </a:defRPr>
            </a:pPr>
            <a:r>
              <a:t>💰</a:t>
            </a:r>
          </a:p>
        </p:txBody>
      </p:sp>
      <p:sp>
        <p:nvSpPr>
          <p:cNvPr id="23" name="TextBox 22"/>
          <p:cNvSpPr txBox="1"/>
          <p:nvPr/>
        </p:nvSpPr>
        <p:spPr>
          <a:xfrm>
            <a:off x="8976207" y="4114800"/>
            <a:ext cx="1188720" cy="274320"/>
          </a:xfrm>
          <a:prstGeom prst="rect">
            <a:avLst/>
          </a:prstGeom>
          <a:noFill/>
        </p:spPr>
        <p:txBody>
          <a:bodyPr wrap="square">
            <a:spAutoFit/>
          </a:bodyPr>
          <a:lstStyle/>
          <a:p>
            <a:pPr algn="ctr">
              <a:defRPr sz="1100" b="0">
                <a:solidFill>
                  <a:srgbClr val="64748B"/>
                </a:solidFill>
                <a:latin typeface="Calibri"/>
              </a:defRPr>
            </a:pPr>
            <a:r>
              <a:t>Caisse</a:t>
            </a:r>
          </a:p>
        </p:txBody>
      </p:sp>
      <p:sp>
        <p:nvSpPr>
          <p:cNvPr id="24" name="TextBox 23"/>
          <p:cNvSpPr txBox="1"/>
          <p:nvPr/>
        </p:nvSpPr>
        <p:spPr>
          <a:xfrm>
            <a:off x="0" y="5029200"/>
            <a:ext cx="12191695" cy="457200"/>
          </a:xfrm>
          <a:prstGeom prst="rect">
            <a:avLst/>
          </a:prstGeom>
          <a:noFill/>
        </p:spPr>
        <p:txBody>
          <a:bodyPr wrap="square">
            <a:spAutoFit/>
          </a:bodyPr>
          <a:lstStyle/>
          <a:p>
            <a:pPr algn="ctr">
              <a:defRPr sz="1600" b="0">
                <a:solidFill>
                  <a:srgbClr val="64748B"/>
                </a:solidFill>
                <a:latin typeface="Calibri"/>
              </a:defRPr>
            </a:pPr>
            <a:r>
              <a:t>Tout est connecté.  Tout est tracé.  Tout est automatisé.</a:t>
            </a:r>
          </a:p>
        </p:txBody>
      </p:sp>
      <p:sp>
        <p:nvSpPr>
          <p:cNvPr id="25" name="TextBox 24"/>
          <p:cNvSpPr txBox="1"/>
          <p:nvPr/>
        </p:nvSpPr>
        <p:spPr>
          <a:xfrm>
            <a:off x="0" y="5760720"/>
            <a:ext cx="12191695" cy="274320"/>
          </a:xfrm>
          <a:prstGeom prst="rect">
            <a:avLst/>
          </a:prstGeom>
          <a:noFill/>
        </p:spPr>
        <p:txBody>
          <a:bodyPr wrap="square">
            <a:spAutoFit/>
          </a:bodyPr>
          <a:lstStyle/>
          <a:p>
            <a:pPr algn="ctr">
              <a:defRPr sz="1300" b="0">
                <a:solidFill>
                  <a:srgbClr val="555577"/>
                </a:solidFill>
                <a:latin typeface="Calibri"/>
              </a:defRPr>
            </a:pPr>
            <a:r>
              <a:t>Conception, développement et déploiement : Patrick TETCHI</a:t>
            </a:r>
          </a:p>
        </p:txBody>
      </p:sp>
      <p:sp>
        <p:nvSpPr>
          <p:cNvPr id="26" name="TextBox 25"/>
          <p:cNvSpPr txBox="1"/>
          <p:nvPr/>
        </p:nvSpPr>
        <p:spPr>
          <a:xfrm>
            <a:off x="0" y="6080760"/>
            <a:ext cx="12191695" cy="274320"/>
          </a:xfrm>
          <a:prstGeom prst="rect">
            <a:avLst/>
          </a:prstGeom>
          <a:noFill/>
        </p:spPr>
        <p:txBody>
          <a:bodyPr wrap="square">
            <a:spAutoFit/>
          </a:bodyPr>
          <a:lstStyle/>
          <a:p>
            <a:pPr algn="ctr">
              <a:defRPr sz="1400" b="0">
                <a:solidFill>
                  <a:srgbClr val="444466"/>
                </a:solidFill>
                <a:latin typeface="Calibri"/>
              </a:defRPr>
            </a:pPr>
            <a:r>
              <a:t>Merci de votre attention</a:t>
            </a:r>
          </a:p>
        </p:txBody>
      </p:sp>
      <p:sp>
        <p:nvSpPr>
          <p:cNvPr id="27" name="Rectangle 26"/>
          <p:cNvSpPr/>
          <p:nvPr/>
        </p:nvSpPr>
        <p:spPr>
          <a:xfrm>
            <a:off x="0" y="6803136"/>
            <a:ext cx="12191695"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1751</TotalTime>
  <Words>3369</Words>
  <Application>Microsoft Macintosh PowerPoint</Application>
  <PresentationFormat>Grand écran</PresentationFormat>
  <Paragraphs>380</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Arial</vt:lpstr>
      <vt:lpstr>Calibri</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Patrick Tetchi</cp:lastModifiedBy>
  <cp:revision>3</cp:revision>
  <dcterms:created xsi:type="dcterms:W3CDTF">2013-01-27T09:14:16Z</dcterms:created>
  <dcterms:modified xsi:type="dcterms:W3CDTF">2026-02-27T22:33:22Z</dcterms:modified>
  <cp:category/>
</cp:coreProperties>
</file>