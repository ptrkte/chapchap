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5"/>
  </p:normalViewPr>
  <p:slideViewPr>
    <p:cSldViewPr snapToGrid="0" snapToObjects="1">
      <p:cViewPr varScale="1">
        <p:scale>
          <a:sx n="118" d="100"/>
          <a:sy n="118" d="100"/>
        </p:scale>
        <p:origin x="5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97316"/>
                </a:solidFill>
                <a:latin typeface="Calibri"/>
              </a:defRPr>
            </a:pPr>
            <a:r>
              <a:t>CHAPCHAP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Application de Gestion Intégrée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Abattage  •  Découpe  •  Stock  •  Ventes  •  Trésorerie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206240"/>
            <a:ext cx="2133295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Présentation Direction — Février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Le problème aujourd'hui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Suivi manuel et fragmenté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Cahiers et fiches papier pour les lots, ventes, caisse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Pas de visibilité temps réel sur le stock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Difficulté à suivre les impayés clients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Aucun calcul automatique des marges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54864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Risques identifiés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Écarts de caisse non détectés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Pertes de stock non tracées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Crédits clients oubliés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Pas de traçabilité des opérations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164592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L'objectif de CHAPCHAP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785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Une application unique et centralisée qui connecte toute la chaîne :</a:t>
            </a:r>
            <a:br/>
            <a:r>
              <a:t>achat → production → stock → ventes → trésorerie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20440"/>
            <a:ext cx="52120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Les bénéfices attendus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77639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Visibilité instantanée sur l'activité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Calculs automatiques (stock, CMP, marges)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Suivi des impayés et de la trésorerie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Traçabilité complète de chaque opération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Prise de décision basée sur les chiffres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CHAPCHAP en chiffres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377440" cy="1371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9731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Modules métier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377440" cy="1371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97316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Tables en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377440" cy="1371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9731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Widgets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377440" cy="1371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9731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Profils utilisateur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3291840" cy="1371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97316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Tests automatisés</a:t>
            </a:r>
            <a:br/>
            <a:r>
              <a:t>100% réussis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657600"/>
            <a:ext cx="3291840" cy="1371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3794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9731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Exports Excel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657600"/>
            <a:ext cx="3291840" cy="1371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0" y="3794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9731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Rapports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66928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Application web accessible depuis navigateur — compatible ordinateur, tablette et smartphone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ARCHITECTURE MÉTIER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Le flux complet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49527" y="2011680"/>
            <a:ext cx="1645920" cy="11887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49527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Calibri"/>
              </a:defRPr>
            </a:pPr>
            <a:r>
              <a:t>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9527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ACHATS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9527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Lots / Fournisseurs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1167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1207" y="2011680"/>
            <a:ext cx="1645920" cy="118872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61207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Calibri"/>
              </a:defRPr>
            </a:pPr>
            <a:r>
              <a:t>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1207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1207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Abattage / Découpe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847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72887" y="2011680"/>
            <a:ext cx="1645920" cy="11887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72887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2887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2887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Chambres froides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4527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4567" y="2011680"/>
            <a:ext cx="1645920" cy="11887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84567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Calibri"/>
              </a:defRPr>
            </a:pPr>
            <a:r>
              <a:t>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4567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VENTES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4567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Multi-canaux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6207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6247" y="2011680"/>
            <a:ext cx="1645920" cy="11887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96247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6247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CAISSE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6247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Trésorerie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57600"/>
            <a:ext cx="51206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Automatisations clés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1148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✅  Stock mis à jour automatiquement à chaque vente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✅  Coût Moyen Pondéré (CMP) recalculé en temps réel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✅  Marges calculées automatiquement par produit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✅  Statut factures fournisseurs auto-actualisé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✅  Journal d'audit sur chaque action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657600"/>
            <a:ext cx="52120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374903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Transferts inter-sites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4251960"/>
            <a:ext cx="1828800" cy="8229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🏭 Site principal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Abattoir + Chambre froide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Calibri"/>
              </a:defRPr>
            </a:pPr>
            <a:r>
              <a:t>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0" y="4251960"/>
            <a:ext cx="1828800" cy="8229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2688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🏪 Belleville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Point de vente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3035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Suivi des quantités envoyées vs reçues, avec gestion des écarts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Les 9 modules de l'application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Lots &amp; Achats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Réception poulets/œufs, fournisseurs, coût moyen unitaire, factures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Abattage et découpe, rendement, pertes/casse, grille de rendement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Stock temps réel par emplacement, CMP, alertes, mouvements, inventaire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0040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337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Transferts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Transfert de produits entre sites, suivi envoi/réception, écarts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20040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3337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703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Ventes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Multi-canaux, crédit, paiements partiels, reçus PDF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20040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3337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703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Clients / CRM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Fiche client, suivi commercial, historique, import Excel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5488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57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Caisse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Journal quotidien, versements espèces/Wave/MTN/chèque, clôture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75488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1772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257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Charges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5577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Dépenses par catégorie, impact caisse automatique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75488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104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257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Eau &amp; Viande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577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Modules complémentaires : eau en sachets, viande bovine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TABLEAU DE BORD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Des KPI en temps réel pour chaque profil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3474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👔 Vue Gérant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CA du jour / semaine / mois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Marge brute globale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Évolution CA 30 jours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Top 5 clients par CA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Top 5 produits vendus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Impayés et ancienneté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Trésorerie 7 jours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560320" cy="3474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9476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📦 Vue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3774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Stock total valorisé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Alertes de stock bas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Répartition par catégorie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2560320" cy="3474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🏭 Vue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Poulets traités (sem/mois)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Rendement moyen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Pertes et casse (kg)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828800"/>
            <a:ext cx="2560320" cy="3474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5548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🛒 Vue Commercial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3774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CA par commercial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Nb ventes et clients actifs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Impayés par commercial</a:t>
            </a:r>
          </a:p>
          <a:p>
            <a:pPr>
              <a:spcAft>
                <a:spcPts val="400"/>
              </a:spcAft>
              <a:defRPr sz="1100">
                <a:solidFill>
                  <a:srgbClr val="AAAACC"/>
                </a:solidFill>
                <a:latin typeface="Calibri"/>
              </a:defRPr>
            </a:pPr>
            <a:r>
              <a:t>  Classement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66928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10 widgets au total — chaque profil ne voit que les données qui le concernent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Les 17 produits gérés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🐔 Volaille entière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Poulet effilé  •  Poulet PAC  •  Coquelets  •  Poulets Morts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🍗 Découpes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Escalopes (3 800 F/kg)  •  Cuisses (2 500 F/kg)  •  Ailes (2 000 F/kg)</a:t>
            </a:r>
            <a:br/>
            <a:r>
              <a:t>Carcasses (1 000 F/kg)  •  Brochettes  •  Assortiment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51206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🫀 Abats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Gésiers  •  Foies  •  Pattes  •  Cous  •  Intestins  •  Peaux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📏 Grille de rendement intégrée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Consolas"/>
              </a:rPr>
              <a:t>  Poids poulet        Valorisation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1,8 kg              </a:t>
            </a:r>
            <a:r>
              <a:rPr sz="1300" b="1">
                <a:solidFill>
                  <a:srgbClr val="F97316"/>
                </a:solidFill>
                <a:latin typeface="Consolas"/>
              </a:rPr>
              <a:t>4 149 FCFA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2,0 kg              </a:t>
            </a:r>
            <a:r>
              <a:rPr sz="1300" b="1">
                <a:solidFill>
                  <a:srgbClr val="F97316"/>
                </a:solidFill>
                <a:latin typeface="Consolas"/>
              </a:rPr>
              <a:t>4 311 FCFA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2,3 kg              </a:t>
            </a:r>
            <a:r>
              <a:rPr sz="1300" b="1">
                <a:solidFill>
                  <a:srgbClr val="F97316"/>
                </a:solidFill>
                <a:latin typeface="Consolas"/>
              </a:rPr>
              <a:t>5 075 FCFA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La grille calcule la valeur théorique de chaque poulet selon son poids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2120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👥 Clients types gérés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262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Restaurants  •  Maquis  •  Hôtels  •  Supermarchés  •  Écoles</a:t>
            </a:r>
            <a:br/>
            <a:br/>
            <a:r>
              <a:t>Clients B2B : SITA, Casino Prima, Hyper Hayat, NORAL, PROSUMA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SÉCURITÉ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5 profils avec droits différenciés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PROFIL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PÉRIMÈTRE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737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ACCÈS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698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👔 Gérant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240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Vision complète, KPI, validation, exports, tous les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⚙️ Resp. Opérations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743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Pilotage quotidien, paramétrage, contrôle,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54680"/>
            <a:ext cx="10698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📦 Gest.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Stock / 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2461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Mouvements stock, inventaires, lots, contrôle caisse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49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🔪 Agent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749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749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Saisie production, observations, suivi rendement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698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🛒 Commercial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Ventes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251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Saisie ventes, clients, encaissements, suivi impayés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46320"/>
            <a:ext cx="35661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🔒  Mots de passe hachés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Bcrypt 12 rounds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4840" y="4846320"/>
            <a:ext cx="35661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72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📝  Journal d'audit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Qui, quoi, quand, IP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846320"/>
            <a:ext cx="35661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🔐  Sessions chiffrées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HTTPS + cryptage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RAPPORTS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Exports Excel et rapports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3657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📊  6 Exports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  Ventes              </a:t>
            </a:r>
            <a:r>
              <a:rPr sz="1200">
                <a:solidFill>
                  <a:srgbClr val="64748B"/>
                </a:solidFill>
                <a:latin typeface="Calibri"/>
              </a:rPr>
              <a:t>Filtrable par dates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  Lots / Achats       </a:t>
            </a:r>
            <a:r>
              <a:rPr sz="1200">
                <a:solidFill>
                  <a:srgbClr val="64748B"/>
                </a:solidFill>
                <a:latin typeface="Calibri"/>
              </a:rPr>
              <a:t>Filtrable par dates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  Clients             </a:t>
            </a:r>
            <a:r>
              <a:rPr sz="1200">
                <a:solidFill>
                  <a:srgbClr val="64748B"/>
                </a:solidFill>
                <a:latin typeface="Calibri"/>
              </a:rPr>
              <a:t>Tous les clients actifs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  Charges             </a:t>
            </a:r>
            <a:r>
              <a:rPr sz="1200">
                <a:solidFill>
                  <a:srgbClr val="64748B"/>
                </a:solidFill>
                <a:latin typeface="Calibri"/>
              </a:rPr>
              <a:t>Filtrable par dates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  Caisses             </a:t>
            </a:r>
            <a:r>
              <a:rPr sz="1200">
                <a:solidFill>
                  <a:srgbClr val="64748B"/>
                </a:solidFill>
                <a:latin typeface="Calibri"/>
              </a:rPr>
              <a:t>Filtrable par dates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  Stock               </a:t>
            </a:r>
            <a:r>
              <a:rPr sz="1200">
                <a:solidFill>
                  <a:srgbClr val="64748B"/>
                </a:solidFill>
                <a:latin typeface="Calibri"/>
              </a:rPr>
              <a:t>Photo instantanée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📥  Import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Import de clients depuis fichier Excel avec validation automatique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3657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📄  2 Rapports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468880"/>
            <a:ext cx="4663440" cy="10972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Reçu de vente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En-tête CHAPCHAP, client, produits, totaux, statut paiement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749039"/>
            <a:ext cx="4663440" cy="10972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38404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Rapport de caisse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605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Résumé journalier : encaissements, décaissements, charges, solde, signatures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5029200"/>
            <a:ext cx="4663440" cy="457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50749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97316"/>
                </a:solidFill>
                <a:latin typeface="Calibri"/>
              </a:defRPr>
            </a:pPr>
            <a:r>
              <a:t>Tous les exports en 1 clic depuis l'interface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FIABILITÉ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Backups et continuité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2011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Sauvegardes automatiques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Backup BDD .................. Tous les jours à 2h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Backup complet ............. Chaque dimanche à 4h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Nettoyage auto .............. Rétention 30 jours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Monitoring ..................... Alerte si backup manquant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54864" cy="2194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Tests automatisés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27 tests — 72 vérifications — 100%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97316"/>
                </a:solidFill>
                <a:latin typeface="Calibri"/>
              </a:rPr>
              <a:t>→ </a:t>
            </a:r>
            <a:r>
              <a:rPr sz="1100">
                <a:solidFill>
                  <a:srgbClr val="64748B"/>
                </a:solidFill>
                <a:latin typeface="Calibri"/>
              </a:rPr>
              <a:t>Calculs stock et CMP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F97316"/>
                </a:solidFill>
                <a:latin typeface="Calibri"/>
              </a:rPr>
              <a:t>→ </a:t>
            </a:r>
            <a:r>
              <a:rPr sz="1100">
                <a:solidFill>
                  <a:srgbClr val="64748B"/>
                </a:solidFill>
                <a:latin typeface="Calibri"/>
              </a:rPr>
              <a:t>Flux de vente complet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F97316"/>
                </a:solidFill>
                <a:latin typeface="Calibri"/>
              </a:rPr>
              <a:t>→ </a:t>
            </a:r>
            <a:r>
              <a:rPr sz="1100">
                <a:solidFill>
                  <a:srgbClr val="64748B"/>
                </a:solidFill>
                <a:latin typeface="Calibri"/>
              </a:rPr>
              <a:t>Paiements partiels et crédits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F97316"/>
                </a:solidFill>
                <a:latin typeface="Calibri"/>
              </a:rPr>
              <a:t>→ </a:t>
            </a:r>
            <a:r>
              <a:rPr sz="1100">
                <a:solidFill>
                  <a:srgbClr val="64748B"/>
                </a:solidFill>
                <a:latin typeface="Calibri"/>
              </a:rPr>
              <a:t>Annulations avec reconstitution stock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F97316"/>
                </a:solidFill>
                <a:latin typeface="Calibri"/>
              </a:rPr>
              <a:t>→ </a:t>
            </a:r>
            <a:r>
              <a:rPr sz="1100">
                <a:solidFill>
                  <a:srgbClr val="64748B"/>
                </a:solidFill>
                <a:latin typeface="Calibri"/>
              </a:rPr>
              <a:t>Calculs lots et factures fournisseur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4864" cy="2011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Hébergement recommandé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VPS : DigitalOcean ou Hetzner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Déploiement : Laravel Forge (automatisé)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SSL : Let's Encrypt (HTTPS gratuit)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Coût estimé : ~15 000 FCFA / mois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54864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Optimisations intégrées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519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Mise en cache des configurations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Requêtes optimisées (pas de N+1)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Dashboard en 2-3 requêtes au lieu de 60+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Compression des backups (gzip)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Avancement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486400" cy="43891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✅  Phases terminées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  ● S1 </a:t>
            </a:r>
            <a:r>
              <a:rPr sz="1200">
                <a:solidFill>
                  <a:srgbClr val="AAAACC"/>
                </a:solidFill>
                <a:latin typeface="Calibri"/>
              </a:rPr>
              <a:t>— Setup projet &amp; architecture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  ● S2 </a:t>
            </a:r>
            <a:r>
              <a:rPr sz="1200">
                <a:solidFill>
                  <a:srgbClr val="AAAACC"/>
                </a:solidFill>
                <a:latin typeface="Calibri"/>
              </a:rPr>
              <a:t>— BDD, migrations, models, seeders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  ● S3 </a:t>
            </a:r>
            <a:r>
              <a:rPr sz="1200">
                <a:solidFill>
                  <a:srgbClr val="AAAACC"/>
                </a:solidFill>
                <a:latin typeface="Calibri"/>
              </a:rPr>
              <a:t>— Module Lots &amp; Achats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  ● S4 </a:t>
            </a:r>
            <a:r>
              <a:rPr sz="1200">
                <a:solidFill>
                  <a:srgbClr val="AAAACC"/>
                </a:solidFill>
                <a:latin typeface="Calibri"/>
              </a:rPr>
              <a:t>— Module Production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  ● S5 </a:t>
            </a:r>
            <a:r>
              <a:rPr sz="1200">
                <a:solidFill>
                  <a:srgbClr val="AAAACC"/>
                </a:solidFill>
                <a:latin typeface="Calibri"/>
              </a:rPr>
              <a:t>— Module Stock &amp; Transferts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  ● S6 </a:t>
            </a:r>
            <a:r>
              <a:rPr sz="1200">
                <a:solidFill>
                  <a:srgbClr val="AAAACC"/>
                </a:solidFill>
                <a:latin typeface="Calibri"/>
              </a:rPr>
              <a:t>— CRM, Ventes &amp; Paiements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  ● S7 </a:t>
            </a:r>
            <a:r>
              <a:rPr sz="1200">
                <a:solidFill>
                  <a:srgbClr val="AAAACC"/>
                </a:solidFill>
                <a:latin typeface="Calibri"/>
              </a:rPr>
              <a:t>— Caisse &amp; Charges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  ● S8 </a:t>
            </a:r>
            <a:r>
              <a:rPr sz="1200">
                <a:solidFill>
                  <a:srgbClr val="AAAACC"/>
                </a:solidFill>
                <a:latin typeface="Calibri"/>
              </a:rPr>
              <a:t>— Modules Eau &amp; Viande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  ● S9 </a:t>
            </a:r>
            <a:r>
              <a:rPr sz="1200">
                <a:solidFill>
                  <a:srgbClr val="AAAACC"/>
                </a:solidFill>
                <a:latin typeface="Calibri"/>
              </a:rPr>
              <a:t>— Dashboards &amp; KPI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  ● S10 </a:t>
            </a:r>
            <a:r>
              <a:rPr sz="1200">
                <a:solidFill>
                  <a:srgbClr val="AAAACC"/>
                </a:solidFill>
                <a:latin typeface="Calibri"/>
              </a:rPr>
              <a:t>— Imports / Exports Excel &amp; PDF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  ● S11 </a:t>
            </a:r>
            <a:r>
              <a:rPr sz="1200">
                <a:solidFill>
                  <a:srgbClr val="AAAACC"/>
                </a:solidFill>
                <a:latin typeface="Calibri"/>
              </a:rPr>
              <a:t>— Tests &amp; optimisation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  ● S12 </a:t>
            </a:r>
            <a:r>
              <a:rPr sz="1200">
                <a:solidFill>
                  <a:srgbClr val="AAAACC"/>
                </a:solidFill>
                <a:latin typeface="Calibri"/>
              </a:rPr>
              <a:t>— Déploiement &amp; documentation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4846320" cy="2286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🔜  Prochaines étapes (S13-14)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3172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AAAACC"/>
                </a:solidFill>
                <a:latin typeface="Calibri"/>
              </a:rPr>
              <a:t>  → Formation des équipes sur site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AAAACC"/>
                </a:solidFill>
                <a:latin typeface="Calibri"/>
              </a:rPr>
              <a:t>  → Ajustements UX selon retours terrain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AAAACC"/>
                </a:solidFill>
                <a:latin typeface="Calibri"/>
              </a:rPr>
              <a:t>  → Import de l'historique existant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AAAACC"/>
                </a:solidFill>
                <a:latin typeface="Calibri"/>
              </a:rPr>
              <a:t>  → Correction des bugs remontés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AAAACC"/>
                </a:solidFill>
                <a:latin typeface="Calibri"/>
              </a:rPr>
              <a:t>  → Mise en production définitive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389120"/>
            <a:ext cx="484632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4526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97316"/>
                </a:solidFill>
                <a:latin typeface="Calibri"/>
              </a:defRPr>
            </a:pPr>
            <a:r>
              <a:t>12 /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120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semaines complétées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5532120"/>
            <a:ext cx="3749039" cy="182880"/>
          </a:xfrm>
          <a:prstGeom prst="roundRect">
            <a:avLst/>
          </a:prstGeom>
          <a:solidFill>
            <a:srgbClr val="33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32320" y="5532120"/>
            <a:ext cx="3200400" cy="18288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5760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Calibri"/>
              </a:defRPr>
            </a:pPr>
            <a:r>
              <a:t>86% du projet réalisé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MISE EN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Plan de 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📚  Documentation livrée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Guide utilisateur complet (toutes les fonctions)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Guide de déploiement serveur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Cahier des charges technique (CLAUDE.md)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51206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🎯  Sessions de formation recommandées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  Session 1  </a:t>
            </a:r>
            <a:r>
              <a:rPr sz="1200" b="1">
                <a:solidFill>
                  <a:srgbClr val="1E293B"/>
                </a:solidFill>
                <a:latin typeface="Calibri"/>
              </a:rPr>
              <a:t>Gérant + Resp. Opérations  —  </a:t>
            </a:r>
            <a:r>
              <a:rPr sz="1100">
                <a:solidFill>
                  <a:srgbClr val="64748B"/>
                </a:solidFill>
                <a:latin typeface="Calibri"/>
              </a:rPr>
              <a:t>Dashboard, KPI, validation, exports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  Session 2  </a:t>
            </a:r>
            <a:r>
              <a:rPr sz="1200" b="1">
                <a:solidFill>
                  <a:srgbClr val="1E293B"/>
                </a:solidFill>
                <a:latin typeface="Calibri"/>
              </a:rPr>
              <a:t>Gestionnaire Stock  —  </a:t>
            </a:r>
            <a:r>
              <a:rPr sz="1100">
                <a:solidFill>
                  <a:srgbClr val="64748B"/>
                </a:solidFill>
                <a:latin typeface="Calibri"/>
              </a:rPr>
              <a:t>Lots, stock, transferts, inventaire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  Session 3  </a:t>
            </a:r>
            <a:r>
              <a:rPr sz="1200" b="1">
                <a:solidFill>
                  <a:srgbClr val="1E293B"/>
                </a:solidFill>
                <a:latin typeface="Calibri"/>
              </a:rPr>
              <a:t>Agent Production  —  </a:t>
            </a:r>
            <a:r>
              <a:rPr sz="1100">
                <a:solidFill>
                  <a:srgbClr val="64748B"/>
                </a:solidFill>
                <a:latin typeface="Calibri"/>
              </a:rPr>
              <a:t>Saisie production, rendement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  Session 4  </a:t>
            </a:r>
            <a:r>
              <a:rPr sz="1200" b="1">
                <a:solidFill>
                  <a:srgbClr val="1E293B"/>
                </a:solidFill>
                <a:latin typeface="Calibri"/>
              </a:rPr>
              <a:t>Commerciaux  —  </a:t>
            </a:r>
            <a:r>
              <a:rPr sz="1100">
                <a:solidFill>
                  <a:srgbClr val="64748B"/>
                </a:solidFill>
                <a:latin typeface="Calibri"/>
              </a:rPr>
              <a:t>Ventes, clients, encaissements, caisse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📱  Accessibilité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100% web — rien à installer sur les postes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Mobile-friendly — utilisable sur téléphone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Multi-utilisateurs — accès simultané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→ </a:t>
            </a:r>
            <a:r>
              <a:rPr sz="1200">
                <a:solidFill>
                  <a:srgbClr val="64748B"/>
                </a:solidFill>
                <a:latin typeface="Calibri"/>
              </a:rPr>
              <a:t>Interface légère — pas besoin de haut débit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212080" cy="137160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Commerciaux terrain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Hector, Niamke, Jessy, Yves et Evelyne peuvent saisir</a:t>
            </a:r>
            <a:br/>
            <a:r>
              <a:t>les ventes directement depuis leur téléphone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97316"/>
                </a:solidFill>
                <a:latin typeface="Calibri"/>
              </a:defRPr>
            </a:pPr>
            <a:r>
              <a:t>CHAPCHAP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Une application complète, fiable et simple</a:t>
            </a:r>
            <a:br/>
            <a:r>
              <a:t>pour piloter toute l'activité au quotidien.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26767" y="3474720"/>
            <a:ext cx="118872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26767" y="3657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6767" y="4114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794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4127" y="3474720"/>
            <a:ext cx="118872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64127" y="3657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4127" y="4114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Découpe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0007" y="3794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01487" y="3474720"/>
            <a:ext cx="118872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01487" y="3657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1487" y="4114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7367" y="3794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8847" y="3474720"/>
            <a:ext cx="118872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8847" y="3657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8847" y="4114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Vente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4727" y="3794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6207" y="3474720"/>
            <a:ext cx="118872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6207" y="3657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6207" y="4114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Caisse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Tout est connecté.  Tout est tracé.  Tout est automatisé.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66"/>
                </a:solidFill>
                <a:latin typeface="Calibri"/>
              </a:defRPr>
            </a:pPr>
            <a:r>
              <a:t>Merci de votre attention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3230</TotalTime>
  <Words>1350</Words>
  <Application>Microsoft Macintosh PowerPoint</Application>
  <PresentationFormat>Grand écran</PresentationFormat>
  <Paragraphs>271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Patrick Tetchi</cp:lastModifiedBy>
  <cp:revision>2</cp:revision>
  <dcterms:created xsi:type="dcterms:W3CDTF">2013-01-27T09:14:16Z</dcterms:created>
  <dcterms:modified xsi:type="dcterms:W3CDTF">2026-02-22T16:04:54Z</dcterms:modified>
  <cp:category/>
</cp:coreProperties>
</file>